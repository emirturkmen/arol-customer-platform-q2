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4" r:id="rId16"/>
    <p:sldId id="270" r:id="rId17"/>
    <p:sldId id="271" r:id="rId18"/>
    <p:sldId id="272" r:id="rId19"/>
    <p:sldId id="273"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64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030"/>
                </a:solidFill>
                <a:latin typeface="Calibri"/>
              </a:defRPr>
            </a:pPr>
            <a:r>
              <a:rPr lang="en-US" sz="1300" b="0" i="0" u="none" strike="noStrike">
                <a:solidFill>
                  <a:srgbClr val="132030"/>
                </a:solidFill>
                <a:latin typeface="Calibri"/>
              </a:rPr>
              <a:t>Correct routings out of 6 repetitions</a:t>
            </a:r>
          </a:p>
        </c:rich>
      </c:tx>
      <c:overlay val="0"/>
    </c:title>
    <c:autoTitleDeleted val="0"/>
    <c:plotArea>
      <c:layout/>
      <c:barChart>
        <c:barDir val="col"/>
        <c:grouping val="clustered"/>
        <c:varyColors val="0"/>
        <c:ser>
          <c:idx val="0"/>
          <c:order val="0"/>
          <c:tx>
            <c:strRef>
              <c:f>Sheet1!$B$1</c:f>
              <c:strCache>
                <c:ptCount val="1"/>
                <c:pt idx="0">
                  <c:v>Before the fix</c:v>
                </c:pt>
              </c:strCache>
            </c:strRef>
          </c:tx>
          <c:spPr>
            <a:solidFill>
              <a:srgbClr val="7C8B99"/>
            </a:solidFill>
            <a:effectLst/>
          </c:spPr>
          <c:invertIfNegative val="0"/>
          <c:dLbls>
            <c:numFmt formatCode="#,##0" sourceLinked="0"/>
            <c:spPr>
              <a:noFill/>
              <a:ln>
                <a:noFill/>
              </a:ln>
              <a:effectLst/>
            </c:spPr>
            <c:txPr>
              <a:bodyPr/>
              <a:lstStyle/>
              <a:p>
                <a:pPr>
                  <a:defRPr sz="1000" b="0" i="0" u="none" strike="noStrike">
                    <a:solidFill>
                      <a:srgbClr val="132030"/>
                    </a:solidFill>
                    <a:latin typeface="Arial"/>
                  </a:defRPr>
                </a:pPr>
                <a:endParaRPr lang="en-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Q1 safety</c:v>
                </c:pt>
                <c:pt idx="1">
                  <c:v>Q2 heads &amp; rate</c:v>
                </c:pt>
                <c:pt idx="2">
                  <c:v>Q3 alarms</c:v>
                </c:pt>
                <c:pt idx="3">
                  <c:v>Q8 order cost</c:v>
                </c:pt>
                <c:pt idx="4">
                  <c:v>Q10 fleet list</c:v>
                </c:pt>
                <c:pt idx="5">
                  <c:v>Q11 cost (refusal)</c:v>
                </c:pt>
              </c:strCache>
            </c:strRef>
          </c:cat>
          <c:val>
            <c:numRef>
              <c:f>Sheet1!$B$2:$B$7</c:f>
              <c:numCache>
                <c:formatCode>General</c:formatCode>
                <c:ptCount val="6"/>
                <c:pt idx="0">
                  <c:v>5</c:v>
                </c:pt>
                <c:pt idx="1">
                  <c:v>1</c:v>
                </c:pt>
                <c:pt idx="2">
                  <c:v>6</c:v>
                </c:pt>
                <c:pt idx="3">
                  <c:v>6</c:v>
                </c:pt>
                <c:pt idx="4">
                  <c:v>3</c:v>
                </c:pt>
                <c:pt idx="5">
                  <c:v>6</c:v>
                </c:pt>
              </c:numCache>
            </c:numRef>
          </c:val>
          <c:extLst>
            <c:ext xmlns:c16="http://schemas.microsoft.com/office/drawing/2014/chart" uri="{C3380CC4-5D6E-409C-BE32-E72D297353CC}">
              <c16:uniqueId val="{00000000-689B-0F40-8298-C9E4FD38428D}"/>
            </c:ext>
          </c:extLst>
        </c:ser>
        <c:ser>
          <c:idx val="1"/>
          <c:order val="1"/>
          <c:tx>
            <c:strRef>
              <c:f>Sheet1!$C$1</c:f>
              <c:strCache>
                <c:ptCount val="1"/>
                <c:pt idx="0">
                  <c:v>After the fix</c:v>
                </c:pt>
              </c:strCache>
            </c:strRef>
          </c:tx>
          <c:spPr>
            <a:solidFill>
              <a:srgbClr val="E09A2B"/>
            </a:solidFill>
            <a:effectLst/>
          </c:spPr>
          <c:invertIfNegative val="0"/>
          <c:dLbls>
            <c:numFmt formatCode="#,##0" sourceLinked="0"/>
            <c:spPr>
              <a:noFill/>
              <a:ln>
                <a:noFill/>
              </a:ln>
              <a:effectLst/>
            </c:spPr>
            <c:txPr>
              <a:bodyPr/>
              <a:lstStyle/>
              <a:p>
                <a:pPr>
                  <a:defRPr sz="1000" b="0" i="0" u="none" strike="noStrike">
                    <a:solidFill>
                      <a:srgbClr val="132030"/>
                    </a:solidFill>
                    <a:latin typeface="Arial"/>
                  </a:defRPr>
                </a:pPr>
                <a:endParaRPr lang="en-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Q1 safety</c:v>
                </c:pt>
                <c:pt idx="1">
                  <c:v>Q2 heads &amp; rate</c:v>
                </c:pt>
                <c:pt idx="2">
                  <c:v>Q3 alarms</c:v>
                </c:pt>
                <c:pt idx="3">
                  <c:v>Q8 order cost</c:v>
                </c:pt>
                <c:pt idx="4">
                  <c:v>Q10 fleet list</c:v>
                </c:pt>
                <c:pt idx="5">
                  <c:v>Q11 cost (refusal)</c:v>
                </c:pt>
              </c:strCache>
            </c:strRef>
          </c:cat>
          <c:val>
            <c:numRef>
              <c:f>Sheet1!$C$2:$C$7</c:f>
              <c:numCache>
                <c:formatCode>General</c:formatCode>
                <c:ptCount val="6"/>
                <c:pt idx="0">
                  <c:v>6</c:v>
                </c:pt>
                <c:pt idx="1">
                  <c:v>6</c:v>
                </c:pt>
                <c:pt idx="2">
                  <c:v>6</c:v>
                </c:pt>
                <c:pt idx="3">
                  <c:v>6</c:v>
                </c:pt>
                <c:pt idx="4">
                  <c:v>6</c:v>
                </c:pt>
                <c:pt idx="5">
                  <c:v>6</c:v>
                </c:pt>
              </c:numCache>
            </c:numRef>
          </c:val>
          <c:extLst>
            <c:ext xmlns:c16="http://schemas.microsoft.com/office/drawing/2014/chart" uri="{C3380CC4-5D6E-409C-BE32-E72D297353CC}">
              <c16:uniqueId val="{00000001-689B-0F40-8298-C9E4FD38428D}"/>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A69"/>
                </a:solidFill>
                <a:latin typeface="Arial"/>
              </a:defRPr>
            </a:pPr>
            <a:endParaRPr lang="en-US"/>
          </a:p>
        </c:txPr>
        <c:crossAx val="2094734552"/>
        <c:crosses val="autoZero"/>
        <c:auto val="1"/>
        <c:lblAlgn val="ctr"/>
        <c:lblOffset val="100"/>
        <c:noMultiLvlLbl val="1"/>
      </c:catAx>
      <c:valAx>
        <c:axId val="2094734552"/>
        <c:scaling>
          <c:orientation val="minMax"/>
          <c:max val="6"/>
          <c:min val="0"/>
        </c:scaling>
        <c:delete val="0"/>
        <c:axPos val="l"/>
        <c:majorGridlines>
          <c:spPr>
            <a:ln w="12700" cap="flat">
              <a:solidFill>
                <a:srgbClr val="D6DE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A69"/>
                </a:solidFill>
                <a:latin typeface="Arial"/>
              </a:defRPr>
            </a:pPr>
            <a:endParaRPr lang="en-US"/>
          </a:p>
        </c:txPr>
        <c:crossAx val="2094734554"/>
        <c:crosses val="autoZero"/>
        <c:crossBetween val="between"/>
        <c:majorUnit val="2"/>
      </c:valAx>
      <c:spPr>
        <a:noFill/>
        <a:ln>
          <a:noFill/>
        </a:ln>
        <a:effectLst/>
      </c:spPr>
    </c:plotArea>
    <c:legend>
      <c:legendPos val="b"/>
      <c:overlay val="0"/>
      <c:txPr>
        <a:bodyPr/>
        <a:lstStyle/>
        <a:p>
          <a:pPr>
            <a:defRPr sz="1100">
              <a:solidFill>
                <a:srgbClr val="4A5A69"/>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2068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an operator standing in front of a capping machine should be able to scan a QR code and ask a question in plain language. Everything you will see is built on the synthetic AROL fleet dataset: 8 machines, their telemetry, their alarms, their commercial history and one use-and-maintenance manual per machine. Introduce yourselves and say who will present which part.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constraints shape everything: information is scattered, documents are long, and access is restricted. The last one is not a detail. The dataset defines an access model and says explicitly that a request outside a user's scope must be declined, never answered with an empty result. Keep that sentence in mind; it drives our architecture.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four layers quickly; we show one slide per layer later. Two things to flag now: the brief names frameworks (LangGraph, AutoGen, MCP) but also says the stack is free and the focus is architecture; and the deliverables include results measured on our own and on public benchmarks. All five deliverables are in the archive we uploaded.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points to make here. First, the mix is deliberate: answering 'why does this machine keep alarming and what does the manual say about it' needs a SQL query and a document search. Second, the dataset hides traps: empty foreign keys, a company with no machines, a quotation ordered after it expired, prices that must not be discounted twice. Finding them was part of the work.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Spend time here. This is what makes the project more than a chatbot over a database. Two checks: the tenant boundary, which is absolute, and visibility, which decides which of the three domains you can read. The quote at the bottom is the rule that shaped our design: a refusal must be a sentence, not an empty list. In the demo we will show the same question answered for one account and refused for another.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left to right, then top to bottom. The key line is in the dark band: the routing decision and the permission decision are the same decision, because each agent owns exactly one data domain of the access model. Note what is absent: no message broker, no vector database service, no Kubernetes. The dataset is 8 machines and 1,117 manual pages; a single process answers in milliseconds.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design-rationale slide. If the jury asks 'why not LangGraph or AutoGen', the answer is here: the graph we need is a single edge (route, check, run), about 190 lines. A framework would add an abstraction layer and a learning curve for the same behaviour. The dataset README explicitly leaves the decomposition to each team and asks us to justify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TF-IDF and not embeddings with a vector database? Alarm mnemonics and technical terms such as LOW AIR PRESSURE or closure head match literally, so lexical retrieval is strong here, and it needs no extra service and no embedding call per query. We know the limit: it does not match paraphrases. We measured that against an embedding retriever, on our manuals and on a public benchmark, slide 15.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sounds like a lot; it is the same fifteen-line shape twelve times. Point at the dark box and read the four steps. The important design decision is on the amber card: no text-to-SQL. If the model wrote queries, the access control would depend on the model behaving; with fixed parameterised queries it depends on code.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steps. The one to emphasise is step 3, in amber: the check happens before the agent runs, so a refusal costs no tool call and no data access. Each tool checks again on its own, so there are two layers, because the router can be wrong and tools may be reused by another agent later.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read all six, pick the first and the last. The first is the one the jury cares about: the refusal happens twice, because the router is a language model and can be wrong. The last one is what makes the answers checkable: numbers come from tool output, and manual answers carry page numbers the operator can open.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discipline: six questions, about four minutes. Say the account out loud before each question. If the API is slow, wait instead of retyping. If the network fails entirely, say so and walk through the same six questions on the evaluation slides, where the measured answers are written down. Questions 4, 5 and 6 are the point of the demo: the same kind of question is answered or refused depending on the account.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set first: each question has an answer we verified by hand in the dataset, and the questions come from four different accounts so the access model is part of the test. Then the portability point: the platform runs on qwen-3.8-27b, and we ran the identical set once on a second provider as a cross-check, and both answer 14 out of 14 correctly. That is the argument for the architecture: the correctness comes from fixed tools and the access model, and swapping the model is a line in a config file. What the stronger model changes is the shape of the answer: it breaks the order total into its lines and groups alarm codes by subsystem. If someone asks how the parts that do not involve the model are tested, mention the 59 functional checks in evaluation/functional_checks.py: they call the API and every tool with all three visibility levels, they need no model call, and the last run was made after rebuilding the database and the index from the dataset.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our own benchmark and it exists because a single run tells you nothing about a language-model classifier. Temperature is zero, yet the same question with the same prompt was routed differently across runs, so we repeated each question six times. One bar is missing a repetition: that call hit the free-tier limit of fifteen requests per minute.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comparison the course rules ask for, and AROL agreed it is the meaningful one for this project. Explain the ground truth first: we read the manuals and wrote down which pages actually answer each question, then ran both retrievers over the same pages. The result is a split rather than a winner, and it matches the reason we chose TF-IDF: alarm codes match literally. What we did not expect is how sharply it falls when the question is paraphrased: 0.33 against 0.67. If asked why we did not switch: a hybrid is the honest answer and it is the first thing we would build; the measurement is what lets us say that with numbers. If asked about public benchmarks: the same two retrievers were also run on BEIR / SciFact (5,183 documents, 300 queries), where TF-IDF scores nDCG@10 0.628 and the embedding model 0.645, which is exactly the published figure for that model, so the harness is verified. There the embeddings are slightly ahead; on our manuals the ordering flips, which is the point.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Tell this as a story. It is the most convincing part of the presentation, because it shows the evaluation did work rather than just confirming what we hoped. Be precise about the severity: the failure mode was a refusal, never data shown to the wrong person. And be clear that the fix is a prompt change validated by re-running the same measurement, not by trying it once.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Get ahead of the obvious questions. The brief names MCP and agent frameworks, so say plainly: we know where each belongs in the architecture, and we chose not to add a layer whose benefit appears only with several clients or a much larger graph. The dataset README explicitly leaves the decomposition to the team and asks for justification, and this slide is that justification.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 the middle column as answers, not as open problems: we asked AROL before the discussion and they told us to treat accumulated working hours as unavailable, that the hourly telemetry table is sufficient, and that permissions come before completeness. The left column is what we measured: the comparison on our own manuals and the same step on a public benchmark, plus what we would do next. The right column is the architecture's own boundary, already written up in the documentation. If someone asks where the published 0.645 comes from: it is the BEIR result reported for all-MiniLM-L6-v2 on SciFact (BEIR paper and the sentence-transformers documentation). We did not tune anything to match it; the script uses the same TF-IDF settings as backend/build_index.py.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on the three takeaways and stop talking. Likely questions and short answers: why no framework: the graph is one edge; where would a real IoT stream attach: inside the two telemetry tools, nothing above them changes; how do you know the answers are right: ground truth per question, plus page citations the operator can open; what breaks at scale: the in-memory index first, then the single process.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30"/>
        </a:solidFill>
        <a:effectLst/>
      </p:bgPr>
    </p:bg>
    <p:spTree>
      <p:nvGrpSpPr>
        <p:cNvPr id="1" name=""/>
        <p:cNvGrpSpPr/>
        <p:nvPr/>
      </p:nvGrpSpPr>
      <p:grpSpPr>
        <a:xfrm>
          <a:off x="0" y="0"/>
          <a:ext cx="0" cy="0"/>
          <a:chOff x="0" y="0"/>
          <a:chExt cx="0" cy="0"/>
        </a:xfrm>
      </p:grpSpPr>
      <p:sp>
        <p:nvSpPr>
          <p:cNvPr id="2" name="Text 0"/>
          <p:cNvSpPr txBox="1"/>
          <p:nvPr/>
        </p:nvSpPr>
        <p:spPr>
          <a:xfrm>
            <a:off x="640080" y="1417320"/>
            <a:ext cx="10908792" cy="274320"/>
          </a:xfrm>
          <a:prstGeom prst="rect">
            <a:avLst/>
          </a:prstGeom>
          <a:noFill/>
          <a:ln/>
        </p:spPr>
        <p:txBody>
          <a:bodyPr wrap="square" lIns="0" tIns="0" rIns="0" bIns="0" rtlCol="0" anchor="ctr"/>
          <a:lstStyle/>
          <a:p>
            <a:pPr marL="0" indent="0">
              <a:buNone/>
            </a:pPr>
            <a:r>
              <a:rPr lang="en-US" sz="1200" b="1" kern="0" spc="220" dirty="0">
                <a:solidFill>
                  <a:srgbClr val="E09A2B"/>
                </a:solidFill>
                <a:latin typeface="Calibri" pitchFamily="34" charset="0"/>
                <a:ea typeface="Calibri" pitchFamily="34" charset="-122"/>
                <a:cs typeface="Calibri" pitchFamily="34" charset="-120"/>
              </a:rPr>
              <a:t>SYSTEM AND DEVICE PROGRAMMING   ·   A.Y. 2025-2026</a:t>
            </a:r>
            <a:endParaRPr lang="en-US" sz="1200" dirty="0"/>
          </a:p>
        </p:txBody>
      </p:sp>
      <p:sp>
        <p:nvSpPr>
          <p:cNvPr id="3" name="Text 1"/>
          <p:cNvSpPr txBox="1"/>
          <p:nvPr/>
        </p:nvSpPr>
        <p:spPr>
          <a:xfrm>
            <a:off x="640080" y="1783080"/>
            <a:ext cx="10908792" cy="868680"/>
          </a:xfrm>
          <a:prstGeom prst="rect">
            <a:avLst/>
          </a:prstGeom>
          <a:noFill/>
          <a:ln/>
        </p:spPr>
        <p:txBody>
          <a:bodyPr wrap="square" lIns="0" tIns="0" rIns="0" bIns="0" rtlCol="0" anchor="ctr"/>
          <a:lstStyle/>
          <a:p>
            <a:pPr marL="0" indent="0">
              <a:buNone/>
            </a:pPr>
            <a:r>
              <a:rPr lang="en-US" sz="4600" b="1" dirty="0">
                <a:solidFill>
                  <a:srgbClr val="FFFFFF"/>
                </a:solidFill>
                <a:latin typeface="Arial" pitchFamily="34" charset="0"/>
                <a:ea typeface="Arial" pitchFamily="34" charset="-122"/>
                <a:cs typeface="Arial" pitchFamily="34" charset="-120"/>
              </a:rPr>
              <a:t>AROL Customer Platform</a:t>
            </a:r>
            <a:endParaRPr lang="en-US" sz="4600" dirty="0"/>
          </a:p>
        </p:txBody>
      </p:sp>
      <p:sp>
        <p:nvSpPr>
          <p:cNvPr id="4" name="Text 2"/>
          <p:cNvSpPr txBox="1"/>
          <p:nvPr/>
        </p:nvSpPr>
        <p:spPr>
          <a:xfrm>
            <a:off x="640080" y="2697480"/>
            <a:ext cx="8595360" cy="822960"/>
          </a:xfrm>
          <a:prstGeom prst="rect">
            <a:avLst/>
          </a:prstGeom>
          <a:noFill/>
          <a:ln/>
        </p:spPr>
        <p:txBody>
          <a:bodyPr wrap="square" lIns="0" tIns="0" rIns="0" bIns="0" rtlCol="0" anchor="ctr"/>
          <a:lstStyle/>
          <a:p>
            <a:pPr marL="0" indent="0">
              <a:lnSpc>
                <a:spcPts val="2600"/>
              </a:lnSpc>
              <a:buNone/>
            </a:pPr>
            <a:r>
              <a:rPr lang="en-US" sz="1800" dirty="0">
                <a:solidFill>
                  <a:srgbClr val="AEBECC"/>
                </a:solidFill>
                <a:latin typeface="Calibri" pitchFamily="34" charset="0"/>
                <a:ea typeface="Calibri" pitchFamily="34" charset="-122"/>
                <a:cs typeface="Calibri" pitchFamily="34" charset="-120"/>
              </a:rPr>
              <a:t>A multi-agent AI framework for industrial fleet management</a:t>
            </a:r>
            <a:endParaRPr lang="en-US" sz="1800" dirty="0"/>
          </a:p>
          <a:p>
            <a:pPr marL="0" indent="0">
              <a:lnSpc>
                <a:spcPts val="2600"/>
              </a:lnSpc>
              <a:buNone/>
            </a:pPr>
            <a:r>
              <a:rPr lang="en-US" sz="1800" dirty="0">
                <a:solidFill>
                  <a:srgbClr val="AEBECC"/>
                </a:solidFill>
                <a:latin typeface="Calibri" pitchFamily="34" charset="0"/>
                <a:ea typeface="Calibri" pitchFamily="34" charset="-122"/>
                <a:cs typeface="Calibri" pitchFamily="34" charset="-120"/>
              </a:rPr>
              <a:t>and autonomous troubleshooting</a:t>
            </a:r>
            <a:endParaRPr lang="en-US" sz="1800" dirty="0"/>
          </a:p>
        </p:txBody>
      </p:sp>
      <p:sp>
        <p:nvSpPr>
          <p:cNvPr id="5" name="Shape 3"/>
          <p:cNvSpPr/>
          <p:nvPr/>
        </p:nvSpPr>
        <p:spPr>
          <a:xfrm>
            <a:off x="640080" y="3886200"/>
            <a:ext cx="1600200" cy="274320"/>
          </a:xfrm>
          <a:prstGeom prst="roundRect">
            <a:avLst>
              <a:gd name="adj" fmla="val 46667"/>
            </a:avLst>
          </a:prstGeom>
          <a:solidFill>
            <a:srgbClr val="1F6FB2"/>
          </a:solidFill>
          <a:ln w="12700">
            <a:solidFill>
              <a:srgbClr val="1F6FB2"/>
            </a:solidFill>
            <a:prstDash val="solid"/>
          </a:ln>
        </p:spPr>
        <p:txBody>
          <a:bodyPr/>
          <a:lstStyle/>
          <a:p>
            <a:endParaRPr lang="en-TR"/>
          </a:p>
        </p:txBody>
      </p:sp>
      <p:sp>
        <p:nvSpPr>
          <p:cNvPr id="6" name="Text 4"/>
          <p:cNvSpPr txBox="1"/>
          <p:nvPr/>
        </p:nvSpPr>
        <p:spPr>
          <a:xfrm>
            <a:off x="640080" y="3886200"/>
            <a:ext cx="160020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 AI agents</a:t>
            </a:r>
            <a:endParaRPr lang="en-US" sz="1050" dirty="0"/>
          </a:p>
        </p:txBody>
      </p:sp>
      <p:sp>
        <p:nvSpPr>
          <p:cNvPr id="7" name="Shape 5"/>
          <p:cNvSpPr/>
          <p:nvPr/>
        </p:nvSpPr>
        <p:spPr>
          <a:xfrm>
            <a:off x="2423160" y="3886200"/>
            <a:ext cx="1600200" cy="274320"/>
          </a:xfrm>
          <a:prstGeom prst="roundRect">
            <a:avLst>
              <a:gd name="adj" fmla="val 46667"/>
            </a:avLst>
          </a:prstGeom>
          <a:solidFill>
            <a:srgbClr val="2E7D5B"/>
          </a:solidFill>
          <a:ln w="12700">
            <a:solidFill>
              <a:srgbClr val="2E7D5B"/>
            </a:solidFill>
            <a:prstDash val="solid"/>
          </a:ln>
        </p:spPr>
        <p:txBody>
          <a:bodyPr/>
          <a:lstStyle/>
          <a:p>
            <a:endParaRPr lang="en-TR"/>
          </a:p>
        </p:txBody>
      </p:sp>
      <p:sp>
        <p:nvSpPr>
          <p:cNvPr id="8" name="Text 6"/>
          <p:cNvSpPr txBox="1"/>
          <p:nvPr/>
        </p:nvSpPr>
        <p:spPr>
          <a:xfrm>
            <a:off x="2423160" y="3886200"/>
            <a:ext cx="160020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12 tools</a:t>
            </a:r>
            <a:endParaRPr lang="en-US" sz="1050" dirty="0"/>
          </a:p>
        </p:txBody>
      </p:sp>
      <p:sp>
        <p:nvSpPr>
          <p:cNvPr id="9" name="Shape 7"/>
          <p:cNvSpPr/>
          <p:nvPr/>
        </p:nvSpPr>
        <p:spPr>
          <a:xfrm>
            <a:off x="4206240" y="3886200"/>
            <a:ext cx="2148840" cy="274320"/>
          </a:xfrm>
          <a:prstGeom prst="roundRect">
            <a:avLst>
              <a:gd name="adj" fmla="val 46667"/>
            </a:avLst>
          </a:prstGeom>
          <a:solidFill>
            <a:srgbClr val="E09A2B"/>
          </a:solidFill>
          <a:ln w="12700">
            <a:solidFill>
              <a:srgbClr val="E09A2B"/>
            </a:solidFill>
            <a:prstDash val="solid"/>
          </a:ln>
        </p:spPr>
        <p:txBody>
          <a:bodyPr/>
          <a:lstStyle/>
          <a:p>
            <a:endParaRPr lang="en-TR"/>
          </a:p>
        </p:txBody>
      </p:sp>
      <p:sp>
        <p:nvSpPr>
          <p:cNvPr id="10" name="Text 8"/>
          <p:cNvSpPr txBox="1"/>
          <p:nvPr/>
        </p:nvSpPr>
        <p:spPr>
          <a:xfrm>
            <a:off x="4206240" y="3886200"/>
            <a:ext cx="214884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14-question evaluation</a:t>
            </a:r>
            <a:endParaRPr lang="en-US" sz="1050" dirty="0"/>
          </a:p>
        </p:txBody>
      </p:sp>
      <p:sp>
        <p:nvSpPr>
          <p:cNvPr id="11" name="Text 9"/>
          <p:cNvSpPr txBox="1"/>
          <p:nvPr/>
        </p:nvSpPr>
        <p:spPr>
          <a:xfrm>
            <a:off x="640080" y="5074920"/>
            <a:ext cx="10908792" cy="274320"/>
          </a:xfrm>
          <a:prstGeom prst="rect">
            <a:avLst/>
          </a:prstGeom>
          <a:noFill/>
          <a:ln/>
        </p:spPr>
        <p:txBody>
          <a:bodyPr wrap="square" lIns="0" tIns="0" rIns="0" bIns="0" rtlCol="0" anchor="ctr"/>
          <a:lstStyle/>
          <a:p>
            <a:pPr marL="0" indent="0">
              <a:buNone/>
            </a:pPr>
            <a:r>
              <a:rPr lang="en-US" sz="1300" dirty="0">
                <a:solidFill>
                  <a:srgbClr val="8FA0AF"/>
                </a:solidFill>
                <a:latin typeface="Calibri" pitchFamily="34" charset="0"/>
                <a:ea typeface="Calibri" pitchFamily="34" charset="-122"/>
                <a:cs typeface="Calibri" pitchFamily="34" charset="-120"/>
              </a:rPr>
              <a:t>Project Q2  ·  Politecnico di Torino  ·  AROL S.p.A., Canelli (AT)</a:t>
            </a:r>
            <a:endParaRPr lang="en-US" sz="1300" dirty="0"/>
          </a:p>
        </p:txBody>
      </p:sp>
      <p:sp>
        <p:nvSpPr>
          <p:cNvPr id="12" name="Text 10"/>
          <p:cNvSpPr txBox="1"/>
          <p:nvPr/>
        </p:nvSpPr>
        <p:spPr>
          <a:xfrm>
            <a:off x="640080" y="5394960"/>
            <a:ext cx="10908792"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Emir Turkmen (s353921)   ·   Misra Nur Ozdemir (s358966)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566928"/>
          </a:xfrm>
          <a:prstGeom prst="rect">
            <a:avLst/>
          </a:prstGeom>
          <a:noFill/>
          <a:ln/>
        </p:spPr>
        <p:txBody>
          <a:bodyPr wrap="square" lIns="0" tIns="0" rIns="0" bIns="0" rtlCol="0" anchor="t"/>
          <a:lstStyle/>
          <a:p>
            <a:pPr marL="0" indent="0">
              <a:buNone/>
            </a:pPr>
            <a:r>
              <a:rPr lang="en-US" sz="3200" b="1" dirty="0">
                <a:solidFill>
                  <a:srgbClr val="132030"/>
                </a:solidFill>
                <a:latin typeface="Arial" pitchFamily="34" charset="0"/>
                <a:ea typeface="Arial" pitchFamily="34" charset="-122"/>
                <a:cs typeface="Arial" pitchFamily="34" charset="-120"/>
              </a:rPr>
              <a:t>The problem on the plant floor</a:t>
            </a:r>
            <a:endParaRPr lang="en-US" sz="3200" dirty="0"/>
          </a:p>
        </p:txBody>
      </p:sp>
      <p:sp>
        <p:nvSpPr>
          <p:cNvPr id="3" name="Text 1"/>
          <p:cNvSpPr txBox="1"/>
          <p:nvPr/>
        </p:nvSpPr>
        <p:spPr>
          <a:xfrm>
            <a:off x="640080" y="969264"/>
            <a:ext cx="10908792" cy="310896"/>
          </a:xfrm>
          <a:prstGeom prst="rect">
            <a:avLst/>
          </a:prstGeom>
          <a:noFill/>
          <a:ln/>
        </p:spPr>
        <p:txBody>
          <a:bodyPr wrap="square" lIns="0" tIns="0" rIns="0" bIns="0" rtlCol="0" anchor="t"/>
          <a:lstStyle/>
          <a:p>
            <a:pPr marL="0" indent="0">
              <a:buNone/>
            </a:pPr>
            <a:r>
              <a:rPr lang="en-US" sz="1400" dirty="0">
                <a:solidFill>
                  <a:srgbClr val="4A5A69"/>
                </a:solidFill>
                <a:latin typeface="Calibri" pitchFamily="34" charset="0"/>
                <a:ea typeface="Calibri" pitchFamily="34" charset="-122"/>
                <a:cs typeface="Calibri" pitchFamily="34" charset="-120"/>
              </a:rPr>
              <a:t>A machine stops. The person in front of it needs an answer now, and is not allowed to see everything.</a:t>
            </a:r>
            <a:endParaRPr lang="en-US" sz="1400" dirty="0"/>
          </a:p>
        </p:txBody>
      </p:sp>
      <p:sp>
        <p:nvSpPr>
          <p:cNvPr id="4" name="Shape 2"/>
          <p:cNvSpPr/>
          <p:nvPr/>
        </p:nvSpPr>
        <p:spPr>
          <a:xfrm>
            <a:off x="640080" y="1463040"/>
            <a:ext cx="3566160" cy="1783080"/>
          </a:xfrm>
          <a:prstGeom prst="roundRect">
            <a:avLst>
              <a:gd name="adj" fmla="val 3077"/>
            </a:avLst>
          </a:prstGeom>
          <a:solidFill>
            <a:srgbClr val="EEF2F6"/>
          </a:solidFill>
          <a:ln w="12700">
            <a:solidFill>
              <a:srgbClr val="D6DEE6"/>
            </a:solidFill>
            <a:prstDash val="solid"/>
          </a:ln>
        </p:spPr>
        <p:txBody>
          <a:bodyPr/>
          <a:lstStyle/>
          <a:p>
            <a:endParaRPr lang="en-TR"/>
          </a:p>
        </p:txBody>
      </p:sp>
      <p:sp>
        <p:nvSpPr>
          <p:cNvPr id="5" name="Shape 3"/>
          <p:cNvSpPr/>
          <p:nvPr/>
        </p:nvSpPr>
        <p:spPr>
          <a:xfrm>
            <a:off x="868680" y="1691640"/>
            <a:ext cx="347472" cy="347472"/>
          </a:xfrm>
          <a:prstGeom prst="ellipse">
            <a:avLst/>
          </a:prstGeom>
          <a:solidFill>
            <a:srgbClr val="132030"/>
          </a:solidFill>
          <a:ln w="12700">
            <a:solidFill>
              <a:srgbClr val="132030"/>
            </a:solidFill>
            <a:prstDash val="solid"/>
          </a:ln>
        </p:spPr>
        <p:txBody>
          <a:bodyPr/>
          <a:lstStyle/>
          <a:p>
            <a:endParaRPr lang="en-TR"/>
          </a:p>
        </p:txBody>
      </p:sp>
      <p:sp>
        <p:nvSpPr>
          <p:cNvPr id="6" name="Text 4"/>
          <p:cNvSpPr txBox="1"/>
          <p:nvPr/>
        </p:nvSpPr>
        <p:spPr>
          <a:xfrm>
            <a:off x="868680" y="169164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325880" y="1719072"/>
            <a:ext cx="2743200" cy="320040"/>
          </a:xfrm>
          <a:prstGeom prst="rect">
            <a:avLst/>
          </a:prstGeom>
          <a:noFill/>
          <a:ln/>
        </p:spPr>
        <p:txBody>
          <a:bodyPr wrap="square" lIns="0" tIns="0" rIns="0" bIns="0" rtlCol="0" anchor="t"/>
          <a:lstStyle/>
          <a:p>
            <a:pPr marL="0" indent="0">
              <a:buNone/>
            </a:pPr>
            <a:r>
              <a:rPr lang="en-US" sz="1400" b="1" dirty="0">
                <a:solidFill>
                  <a:srgbClr val="132030"/>
                </a:solidFill>
                <a:latin typeface="Arial" pitchFamily="34" charset="0"/>
                <a:ea typeface="Arial" pitchFamily="34" charset="-122"/>
                <a:cs typeface="Arial" pitchFamily="34" charset="-120"/>
              </a:rPr>
              <a:t>Information is scattered</a:t>
            </a:r>
            <a:endParaRPr lang="en-US" sz="1400" dirty="0"/>
          </a:p>
        </p:txBody>
      </p:sp>
      <p:sp>
        <p:nvSpPr>
          <p:cNvPr id="8" name="Text 6"/>
          <p:cNvSpPr txBox="1"/>
          <p:nvPr/>
        </p:nvSpPr>
        <p:spPr>
          <a:xfrm>
            <a:off x="868680" y="2240280"/>
            <a:ext cx="3127248" cy="868680"/>
          </a:xfrm>
          <a:prstGeom prst="rect">
            <a:avLst/>
          </a:prstGeom>
          <a:noFill/>
          <a:ln/>
        </p:spPr>
        <p:txBody>
          <a:bodyPr wrap="square" lIns="0" tIns="0" rIns="0" bIns="0" rtlCol="0" anchor="t"/>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Manual, telemetry, alarm history and the commercial file usually live in different systems.</a:t>
            </a:r>
            <a:endParaRPr lang="en-US" sz="1250" dirty="0"/>
          </a:p>
        </p:txBody>
      </p:sp>
      <p:sp>
        <p:nvSpPr>
          <p:cNvPr id="9" name="Shape 7"/>
          <p:cNvSpPr/>
          <p:nvPr/>
        </p:nvSpPr>
        <p:spPr>
          <a:xfrm>
            <a:off x="4389120" y="1463040"/>
            <a:ext cx="3566160" cy="1783080"/>
          </a:xfrm>
          <a:prstGeom prst="roundRect">
            <a:avLst>
              <a:gd name="adj" fmla="val 3077"/>
            </a:avLst>
          </a:prstGeom>
          <a:solidFill>
            <a:srgbClr val="EEF2F6"/>
          </a:solidFill>
          <a:ln w="12700">
            <a:solidFill>
              <a:srgbClr val="D6DEE6"/>
            </a:solidFill>
            <a:prstDash val="solid"/>
          </a:ln>
        </p:spPr>
        <p:txBody>
          <a:bodyPr/>
          <a:lstStyle/>
          <a:p>
            <a:endParaRPr lang="en-TR"/>
          </a:p>
        </p:txBody>
      </p:sp>
      <p:sp>
        <p:nvSpPr>
          <p:cNvPr id="10" name="Shape 8"/>
          <p:cNvSpPr/>
          <p:nvPr/>
        </p:nvSpPr>
        <p:spPr>
          <a:xfrm>
            <a:off x="4617720" y="1691640"/>
            <a:ext cx="347472" cy="347472"/>
          </a:xfrm>
          <a:prstGeom prst="ellipse">
            <a:avLst/>
          </a:prstGeom>
          <a:solidFill>
            <a:srgbClr val="132030"/>
          </a:solidFill>
          <a:ln w="12700">
            <a:solidFill>
              <a:srgbClr val="132030"/>
            </a:solidFill>
            <a:prstDash val="solid"/>
          </a:ln>
        </p:spPr>
        <p:txBody>
          <a:bodyPr/>
          <a:lstStyle/>
          <a:p>
            <a:endParaRPr lang="en-TR"/>
          </a:p>
        </p:txBody>
      </p:sp>
      <p:sp>
        <p:nvSpPr>
          <p:cNvPr id="11" name="Text 9"/>
          <p:cNvSpPr txBox="1"/>
          <p:nvPr/>
        </p:nvSpPr>
        <p:spPr>
          <a:xfrm>
            <a:off x="4617720" y="169164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5074920" y="1719072"/>
            <a:ext cx="2743200" cy="320040"/>
          </a:xfrm>
          <a:prstGeom prst="rect">
            <a:avLst/>
          </a:prstGeom>
          <a:noFill/>
          <a:ln/>
        </p:spPr>
        <p:txBody>
          <a:bodyPr wrap="square" lIns="0" tIns="0" rIns="0" bIns="0" rtlCol="0" anchor="t"/>
          <a:lstStyle/>
          <a:p>
            <a:pPr marL="0" indent="0">
              <a:buNone/>
            </a:pPr>
            <a:r>
              <a:rPr lang="en-US" sz="1400" b="1" dirty="0">
                <a:solidFill>
                  <a:srgbClr val="132030"/>
                </a:solidFill>
                <a:latin typeface="Arial" pitchFamily="34" charset="0"/>
                <a:ea typeface="Arial" pitchFamily="34" charset="-122"/>
                <a:cs typeface="Arial" pitchFamily="34" charset="-120"/>
              </a:rPr>
              <a:t>Manuals are long</a:t>
            </a:r>
            <a:endParaRPr lang="en-US" sz="1400" dirty="0"/>
          </a:p>
        </p:txBody>
      </p:sp>
      <p:sp>
        <p:nvSpPr>
          <p:cNvPr id="13" name="Text 11"/>
          <p:cNvSpPr txBox="1"/>
          <p:nvPr/>
        </p:nvSpPr>
        <p:spPr>
          <a:xfrm>
            <a:off x="4617720" y="2240280"/>
            <a:ext cx="3127248" cy="868680"/>
          </a:xfrm>
          <a:prstGeom prst="rect">
            <a:avLst/>
          </a:prstGeom>
          <a:noFill/>
          <a:ln/>
        </p:spPr>
        <p:txBody>
          <a:bodyPr wrap="square" lIns="0" tIns="0" rIns="0" bIns="0" rtlCol="0" anchor="t"/>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The manual of machine 15610 alone is 146 indexed pages. Nobody reads it during a stop.</a:t>
            </a:r>
            <a:endParaRPr lang="en-US" sz="1250" dirty="0"/>
          </a:p>
        </p:txBody>
      </p:sp>
      <p:sp>
        <p:nvSpPr>
          <p:cNvPr id="14" name="Shape 12"/>
          <p:cNvSpPr/>
          <p:nvPr/>
        </p:nvSpPr>
        <p:spPr>
          <a:xfrm>
            <a:off x="8138160" y="1463040"/>
            <a:ext cx="3566160" cy="1783080"/>
          </a:xfrm>
          <a:prstGeom prst="roundRect">
            <a:avLst>
              <a:gd name="adj" fmla="val 3077"/>
            </a:avLst>
          </a:prstGeom>
          <a:solidFill>
            <a:srgbClr val="EEF2F6"/>
          </a:solidFill>
          <a:ln w="12700">
            <a:solidFill>
              <a:srgbClr val="D6DEE6"/>
            </a:solidFill>
            <a:prstDash val="solid"/>
          </a:ln>
        </p:spPr>
        <p:txBody>
          <a:bodyPr/>
          <a:lstStyle/>
          <a:p>
            <a:endParaRPr lang="en-TR"/>
          </a:p>
        </p:txBody>
      </p:sp>
      <p:sp>
        <p:nvSpPr>
          <p:cNvPr id="15" name="Shape 13"/>
          <p:cNvSpPr/>
          <p:nvPr/>
        </p:nvSpPr>
        <p:spPr>
          <a:xfrm>
            <a:off x="8366760" y="1691640"/>
            <a:ext cx="347472" cy="347472"/>
          </a:xfrm>
          <a:prstGeom prst="ellipse">
            <a:avLst/>
          </a:prstGeom>
          <a:solidFill>
            <a:srgbClr val="132030"/>
          </a:solidFill>
          <a:ln w="12700">
            <a:solidFill>
              <a:srgbClr val="132030"/>
            </a:solidFill>
            <a:prstDash val="solid"/>
          </a:ln>
        </p:spPr>
        <p:txBody>
          <a:bodyPr/>
          <a:lstStyle/>
          <a:p>
            <a:endParaRPr lang="en-TR"/>
          </a:p>
        </p:txBody>
      </p:sp>
      <p:sp>
        <p:nvSpPr>
          <p:cNvPr id="16" name="Text 14"/>
          <p:cNvSpPr txBox="1"/>
          <p:nvPr/>
        </p:nvSpPr>
        <p:spPr>
          <a:xfrm>
            <a:off x="8366760" y="169164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8823960" y="1719072"/>
            <a:ext cx="2743200" cy="320040"/>
          </a:xfrm>
          <a:prstGeom prst="rect">
            <a:avLst/>
          </a:prstGeom>
          <a:noFill/>
          <a:ln/>
        </p:spPr>
        <p:txBody>
          <a:bodyPr wrap="square" lIns="0" tIns="0" rIns="0" bIns="0" rtlCol="0" anchor="t"/>
          <a:lstStyle/>
          <a:p>
            <a:pPr marL="0" indent="0">
              <a:buNone/>
            </a:pPr>
            <a:r>
              <a:rPr lang="en-US" sz="1400" b="1" dirty="0">
                <a:solidFill>
                  <a:srgbClr val="132030"/>
                </a:solidFill>
                <a:latin typeface="Arial" pitchFamily="34" charset="0"/>
                <a:ea typeface="Arial" pitchFamily="34" charset="-122"/>
                <a:cs typeface="Arial" pitchFamily="34" charset="-120"/>
              </a:rPr>
              <a:t>Access is restricted</a:t>
            </a:r>
            <a:endParaRPr lang="en-US" sz="1400" dirty="0"/>
          </a:p>
        </p:txBody>
      </p:sp>
      <p:sp>
        <p:nvSpPr>
          <p:cNvPr id="18" name="Text 16"/>
          <p:cNvSpPr txBox="1"/>
          <p:nvPr/>
        </p:nvSpPr>
        <p:spPr>
          <a:xfrm>
            <a:off x="8366760" y="2240280"/>
            <a:ext cx="3127248" cy="868680"/>
          </a:xfrm>
          <a:prstGeom prst="rect">
            <a:avLst/>
          </a:prstGeom>
          <a:noFill/>
          <a:ln/>
        </p:spPr>
        <p:txBody>
          <a:bodyPr wrap="square" lIns="0" tIns="0" rIns="0" bIns="0" rtlCol="0" anchor="t"/>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A maintenance technician must not read prices; a buyer must not read machine health.</a:t>
            </a:r>
            <a:endParaRPr lang="en-US" sz="1250" dirty="0"/>
          </a:p>
        </p:txBody>
      </p:sp>
      <p:sp>
        <p:nvSpPr>
          <p:cNvPr id="19" name="Text 17"/>
          <p:cNvSpPr txBox="1"/>
          <p:nvPr/>
        </p:nvSpPr>
        <p:spPr>
          <a:xfrm>
            <a:off x="640080" y="3657600"/>
            <a:ext cx="10908792" cy="320040"/>
          </a:xfrm>
          <a:prstGeom prst="rect">
            <a:avLst/>
          </a:prstGeom>
          <a:noFill/>
          <a:ln/>
        </p:spPr>
        <p:txBody>
          <a:bodyPr wrap="square" lIns="0" tIns="0" rIns="0" bIns="0" rtlCol="0" anchor="ctr"/>
          <a:lstStyle/>
          <a:p>
            <a:pPr marL="0" indent="0">
              <a:buNone/>
            </a:pPr>
            <a:r>
              <a:rPr lang="en-US" sz="1600" b="1" dirty="0">
                <a:solidFill>
                  <a:srgbClr val="132030"/>
                </a:solidFill>
                <a:latin typeface="Arial" pitchFamily="34" charset="0"/>
                <a:ea typeface="Arial" pitchFamily="34" charset="-122"/>
                <a:cs typeface="Arial" pitchFamily="34" charset="-120"/>
              </a:rPr>
              <a:t>What the platform does</a:t>
            </a:r>
            <a:endParaRPr lang="en-US" sz="1600" dirty="0"/>
          </a:p>
        </p:txBody>
      </p:sp>
      <p:sp>
        <p:nvSpPr>
          <p:cNvPr id="20" name="Shape 18"/>
          <p:cNvSpPr/>
          <p:nvPr/>
        </p:nvSpPr>
        <p:spPr>
          <a:xfrm>
            <a:off x="640080" y="4114800"/>
            <a:ext cx="2514600" cy="1325880"/>
          </a:xfrm>
          <a:prstGeom prst="roundRect">
            <a:avLst>
              <a:gd name="adj" fmla="val 4138"/>
            </a:avLst>
          </a:prstGeom>
          <a:solidFill>
            <a:srgbClr val="EEF2F6"/>
          </a:solidFill>
          <a:ln w="12700">
            <a:solidFill>
              <a:srgbClr val="D6DEE6"/>
            </a:solidFill>
            <a:prstDash val="solid"/>
          </a:ln>
        </p:spPr>
        <p:txBody>
          <a:bodyPr/>
          <a:lstStyle/>
          <a:p>
            <a:endParaRPr lang="en-TR"/>
          </a:p>
        </p:txBody>
      </p:sp>
      <p:sp>
        <p:nvSpPr>
          <p:cNvPr id="21" name="Text 19"/>
          <p:cNvSpPr txBox="1"/>
          <p:nvPr/>
        </p:nvSpPr>
        <p:spPr>
          <a:xfrm>
            <a:off x="841248" y="4370832"/>
            <a:ext cx="2148840" cy="274320"/>
          </a:xfrm>
          <a:prstGeom prst="rect">
            <a:avLst/>
          </a:prstGeom>
          <a:noFill/>
          <a:ln/>
        </p:spPr>
        <p:txBody>
          <a:bodyPr wrap="square" lIns="0" tIns="0" rIns="0" bIns="0" rtlCol="0" anchor="t"/>
          <a:lstStyle/>
          <a:p>
            <a:pPr marL="0" indent="0">
              <a:buNone/>
            </a:pPr>
            <a:r>
              <a:rPr lang="en-US" sz="1300" b="1" dirty="0">
                <a:solidFill>
                  <a:srgbClr val="132030"/>
                </a:solidFill>
                <a:latin typeface="Arial" pitchFamily="34" charset="0"/>
                <a:ea typeface="Arial" pitchFamily="34" charset="-122"/>
                <a:cs typeface="Arial" pitchFamily="34" charset="-120"/>
              </a:rPr>
              <a:t>Scan the QR code</a:t>
            </a:r>
            <a:endParaRPr lang="en-US" sz="1300" dirty="0"/>
          </a:p>
        </p:txBody>
      </p:sp>
      <p:sp>
        <p:nvSpPr>
          <p:cNvPr id="22" name="Text 20"/>
          <p:cNvSpPr txBox="1"/>
          <p:nvPr/>
        </p:nvSpPr>
        <p:spPr>
          <a:xfrm>
            <a:off x="841248" y="4681728"/>
            <a:ext cx="2148840" cy="548640"/>
          </a:xfrm>
          <a:prstGeom prst="rect">
            <a:avLst/>
          </a:prstGeom>
          <a:noFill/>
          <a:ln/>
        </p:spPr>
        <p:txBody>
          <a:bodyPr wrap="square" lIns="0" tIns="0" rIns="0" bIns="0" rtlCol="0" anchor="t"/>
          <a:lstStyle/>
          <a:p>
            <a:pPr marL="0" indent="0">
              <a:buNone/>
            </a:pPr>
            <a:r>
              <a:rPr lang="en-US" sz="1150" dirty="0">
                <a:solidFill>
                  <a:srgbClr val="7C8B99"/>
                </a:solidFill>
                <a:latin typeface="Calibri" pitchFamily="34" charset="0"/>
                <a:ea typeface="Calibri" pitchFamily="34" charset="-122"/>
                <a:cs typeface="Calibri" pitchFamily="34" charset="-120"/>
              </a:rPr>
              <a:t>on the machine</a:t>
            </a:r>
            <a:endParaRPr lang="en-US" sz="1150" dirty="0"/>
          </a:p>
        </p:txBody>
      </p:sp>
      <p:sp>
        <p:nvSpPr>
          <p:cNvPr id="23" name="Text 21"/>
          <p:cNvSpPr txBox="1"/>
          <p:nvPr/>
        </p:nvSpPr>
        <p:spPr>
          <a:xfrm>
            <a:off x="3182112" y="4526280"/>
            <a:ext cx="256032" cy="457200"/>
          </a:xfrm>
          <a:prstGeom prst="rect">
            <a:avLst/>
          </a:prstGeom>
          <a:noFill/>
          <a:ln/>
        </p:spPr>
        <p:txBody>
          <a:bodyPr wrap="square" lIns="0" tIns="0" rIns="0" bIns="0" rtlCol="0" anchor="ctr"/>
          <a:lstStyle/>
          <a:p>
            <a:pPr marL="0" indent="0" algn="ctr">
              <a:buNone/>
            </a:pPr>
            <a:r>
              <a:rPr lang="en-US" sz="2000" dirty="0">
                <a:solidFill>
                  <a:srgbClr val="E09A2B"/>
                </a:solidFill>
                <a:latin typeface="Calibri" pitchFamily="34" charset="0"/>
                <a:ea typeface="Calibri" pitchFamily="34" charset="-122"/>
                <a:cs typeface="Calibri" pitchFamily="34" charset="-120"/>
              </a:rPr>
              <a:t>→</a:t>
            </a:r>
            <a:endParaRPr lang="en-US" sz="2000" dirty="0"/>
          </a:p>
        </p:txBody>
      </p:sp>
      <p:sp>
        <p:nvSpPr>
          <p:cNvPr id="24" name="Shape 22"/>
          <p:cNvSpPr/>
          <p:nvPr/>
        </p:nvSpPr>
        <p:spPr>
          <a:xfrm>
            <a:off x="3438144" y="4114800"/>
            <a:ext cx="2514600" cy="1325880"/>
          </a:xfrm>
          <a:prstGeom prst="roundRect">
            <a:avLst>
              <a:gd name="adj" fmla="val 4138"/>
            </a:avLst>
          </a:prstGeom>
          <a:solidFill>
            <a:srgbClr val="EEF2F6"/>
          </a:solidFill>
          <a:ln w="12700">
            <a:solidFill>
              <a:srgbClr val="D6DEE6"/>
            </a:solidFill>
            <a:prstDash val="solid"/>
          </a:ln>
        </p:spPr>
        <p:txBody>
          <a:bodyPr/>
          <a:lstStyle/>
          <a:p>
            <a:endParaRPr lang="en-TR"/>
          </a:p>
        </p:txBody>
      </p:sp>
      <p:sp>
        <p:nvSpPr>
          <p:cNvPr id="25" name="Text 23"/>
          <p:cNvSpPr txBox="1"/>
          <p:nvPr/>
        </p:nvSpPr>
        <p:spPr>
          <a:xfrm>
            <a:off x="3639312" y="4370832"/>
            <a:ext cx="2148840" cy="274320"/>
          </a:xfrm>
          <a:prstGeom prst="rect">
            <a:avLst/>
          </a:prstGeom>
          <a:noFill/>
          <a:ln/>
        </p:spPr>
        <p:txBody>
          <a:bodyPr wrap="square" lIns="0" tIns="0" rIns="0" bIns="0" rtlCol="0" anchor="t"/>
          <a:lstStyle/>
          <a:p>
            <a:pPr marL="0" indent="0">
              <a:buNone/>
            </a:pPr>
            <a:r>
              <a:rPr lang="en-US" sz="1300" b="1" dirty="0">
                <a:solidFill>
                  <a:srgbClr val="132030"/>
                </a:solidFill>
                <a:latin typeface="Arial" pitchFamily="34" charset="0"/>
                <a:ea typeface="Arial" pitchFamily="34" charset="-122"/>
                <a:cs typeface="Arial" pitchFamily="34" charset="-120"/>
              </a:rPr>
              <a:t>Land on that machine</a:t>
            </a:r>
            <a:endParaRPr lang="en-US" sz="1300" dirty="0"/>
          </a:p>
        </p:txBody>
      </p:sp>
      <p:sp>
        <p:nvSpPr>
          <p:cNvPr id="26" name="Text 24"/>
          <p:cNvSpPr txBox="1"/>
          <p:nvPr/>
        </p:nvSpPr>
        <p:spPr>
          <a:xfrm>
            <a:off x="3639312" y="4681728"/>
            <a:ext cx="2148840" cy="548640"/>
          </a:xfrm>
          <a:prstGeom prst="rect">
            <a:avLst/>
          </a:prstGeom>
          <a:noFill/>
          <a:ln/>
        </p:spPr>
        <p:txBody>
          <a:bodyPr wrap="square" lIns="0" tIns="0" rIns="0" bIns="0" rtlCol="0" anchor="t"/>
          <a:lstStyle/>
          <a:p>
            <a:pPr marL="0" indent="0">
              <a:buNone/>
            </a:pPr>
            <a:r>
              <a:rPr lang="en-US" sz="1150" dirty="0">
                <a:solidFill>
                  <a:srgbClr val="7C8B99"/>
                </a:solidFill>
                <a:latin typeface="Calibri" pitchFamily="34" charset="0"/>
                <a:ea typeface="Calibri" pitchFamily="34" charset="-122"/>
                <a:cs typeface="Calibri" pitchFamily="34" charset="-120"/>
              </a:rPr>
              <a:t>data + manual PDF + chatbot</a:t>
            </a:r>
            <a:endParaRPr lang="en-US" sz="1150" dirty="0"/>
          </a:p>
        </p:txBody>
      </p:sp>
      <p:sp>
        <p:nvSpPr>
          <p:cNvPr id="27" name="Text 25"/>
          <p:cNvSpPr txBox="1"/>
          <p:nvPr/>
        </p:nvSpPr>
        <p:spPr>
          <a:xfrm>
            <a:off x="5980176" y="4526280"/>
            <a:ext cx="256032" cy="457200"/>
          </a:xfrm>
          <a:prstGeom prst="rect">
            <a:avLst/>
          </a:prstGeom>
          <a:noFill/>
          <a:ln/>
        </p:spPr>
        <p:txBody>
          <a:bodyPr wrap="square" lIns="0" tIns="0" rIns="0" bIns="0" rtlCol="0" anchor="ctr"/>
          <a:lstStyle/>
          <a:p>
            <a:pPr marL="0" indent="0" algn="ctr">
              <a:buNone/>
            </a:pPr>
            <a:r>
              <a:rPr lang="en-US" sz="2000" dirty="0">
                <a:solidFill>
                  <a:srgbClr val="E09A2B"/>
                </a:solidFill>
                <a:latin typeface="Calibri" pitchFamily="34" charset="0"/>
                <a:ea typeface="Calibri" pitchFamily="34" charset="-122"/>
                <a:cs typeface="Calibri" pitchFamily="34" charset="-120"/>
              </a:rPr>
              <a:t>→</a:t>
            </a:r>
            <a:endParaRPr lang="en-US" sz="2000" dirty="0"/>
          </a:p>
        </p:txBody>
      </p:sp>
      <p:sp>
        <p:nvSpPr>
          <p:cNvPr id="28" name="Shape 26"/>
          <p:cNvSpPr/>
          <p:nvPr/>
        </p:nvSpPr>
        <p:spPr>
          <a:xfrm>
            <a:off x="6236208" y="4114800"/>
            <a:ext cx="2514600" cy="1325880"/>
          </a:xfrm>
          <a:prstGeom prst="roundRect">
            <a:avLst>
              <a:gd name="adj" fmla="val 4138"/>
            </a:avLst>
          </a:prstGeom>
          <a:solidFill>
            <a:srgbClr val="EEF2F6"/>
          </a:solidFill>
          <a:ln w="12700">
            <a:solidFill>
              <a:srgbClr val="D6DEE6"/>
            </a:solidFill>
            <a:prstDash val="solid"/>
          </a:ln>
        </p:spPr>
        <p:txBody>
          <a:bodyPr/>
          <a:lstStyle/>
          <a:p>
            <a:endParaRPr lang="en-TR"/>
          </a:p>
        </p:txBody>
      </p:sp>
      <p:sp>
        <p:nvSpPr>
          <p:cNvPr id="29" name="Text 27"/>
          <p:cNvSpPr txBox="1"/>
          <p:nvPr/>
        </p:nvSpPr>
        <p:spPr>
          <a:xfrm>
            <a:off x="6437376" y="4370832"/>
            <a:ext cx="2148840" cy="274320"/>
          </a:xfrm>
          <a:prstGeom prst="rect">
            <a:avLst/>
          </a:prstGeom>
          <a:noFill/>
          <a:ln/>
        </p:spPr>
        <p:txBody>
          <a:bodyPr wrap="square" lIns="0" tIns="0" rIns="0" bIns="0" rtlCol="0" anchor="t"/>
          <a:lstStyle/>
          <a:p>
            <a:pPr marL="0" indent="0">
              <a:buNone/>
            </a:pPr>
            <a:r>
              <a:rPr lang="en-US" sz="1300" b="1" dirty="0">
                <a:solidFill>
                  <a:srgbClr val="132030"/>
                </a:solidFill>
                <a:latin typeface="Arial" pitchFamily="34" charset="0"/>
                <a:ea typeface="Arial" pitchFamily="34" charset="-122"/>
                <a:cs typeface="Arial" pitchFamily="34" charset="-120"/>
              </a:rPr>
              <a:t>Ask in plain language</a:t>
            </a:r>
            <a:endParaRPr lang="en-US" sz="1300" dirty="0"/>
          </a:p>
        </p:txBody>
      </p:sp>
      <p:sp>
        <p:nvSpPr>
          <p:cNvPr id="30" name="Text 28"/>
          <p:cNvSpPr txBox="1"/>
          <p:nvPr/>
        </p:nvSpPr>
        <p:spPr>
          <a:xfrm>
            <a:off x="6437376" y="4681728"/>
            <a:ext cx="2148840" cy="548640"/>
          </a:xfrm>
          <a:prstGeom prst="rect">
            <a:avLst/>
          </a:prstGeom>
          <a:noFill/>
          <a:ln/>
        </p:spPr>
        <p:txBody>
          <a:bodyPr wrap="square" lIns="0" tIns="0" rIns="0" bIns="0" rtlCol="0" anchor="t"/>
          <a:lstStyle/>
          <a:p>
            <a:pPr marL="0" indent="0">
              <a:buNone/>
            </a:pPr>
            <a:r>
              <a:rPr lang="en-US" sz="1150" dirty="0">
                <a:solidFill>
                  <a:srgbClr val="7C8B99"/>
                </a:solidFill>
                <a:latin typeface="Calibri" pitchFamily="34" charset="0"/>
                <a:ea typeface="Calibri" pitchFamily="34" charset="-122"/>
                <a:cs typeface="Calibri" pitchFamily="34" charset="-120"/>
              </a:rPr>
              <a:t>one question, one answer</a:t>
            </a:r>
            <a:endParaRPr lang="en-US" sz="1150" dirty="0"/>
          </a:p>
        </p:txBody>
      </p:sp>
      <p:sp>
        <p:nvSpPr>
          <p:cNvPr id="31" name="Text 29"/>
          <p:cNvSpPr txBox="1"/>
          <p:nvPr/>
        </p:nvSpPr>
        <p:spPr>
          <a:xfrm>
            <a:off x="8778240" y="4526280"/>
            <a:ext cx="256032" cy="457200"/>
          </a:xfrm>
          <a:prstGeom prst="rect">
            <a:avLst/>
          </a:prstGeom>
          <a:noFill/>
          <a:ln/>
        </p:spPr>
        <p:txBody>
          <a:bodyPr wrap="square" lIns="0" tIns="0" rIns="0" bIns="0" rtlCol="0" anchor="ctr"/>
          <a:lstStyle/>
          <a:p>
            <a:pPr marL="0" indent="0" algn="ctr">
              <a:buNone/>
            </a:pPr>
            <a:r>
              <a:rPr lang="en-US" sz="2000" dirty="0">
                <a:solidFill>
                  <a:srgbClr val="E09A2B"/>
                </a:solidFill>
                <a:latin typeface="Calibri" pitchFamily="34" charset="0"/>
                <a:ea typeface="Calibri" pitchFamily="34" charset="-122"/>
                <a:cs typeface="Calibri" pitchFamily="34" charset="-120"/>
              </a:rPr>
              <a:t>→</a:t>
            </a:r>
            <a:endParaRPr lang="en-US" sz="2000" dirty="0"/>
          </a:p>
        </p:txBody>
      </p:sp>
      <p:sp>
        <p:nvSpPr>
          <p:cNvPr id="32" name="Shape 30"/>
          <p:cNvSpPr/>
          <p:nvPr/>
        </p:nvSpPr>
        <p:spPr>
          <a:xfrm>
            <a:off x="9034272" y="4114800"/>
            <a:ext cx="2514600" cy="1325880"/>
          </a:xfrm>
          <a:prstGeom prst="roundRect">
            <a:avLst>
              <a:gd name="adj" fmla="val 4138"/>
            </a:avLst>
          </a:prstGeom>
          <a:solidFill>
            <a:srgbClr val="FBF3E4"/>
          </a:solidFill>
          <a:ln w="12700">
            <a:solidFill>
              <a:srgbClr val="D6DEE6"/>
            </a:solidFill>
            <a:prstDash val="solid"/>
          </a:ln>
        </p:spPr>
        <p:txBody>
          <a:bodyPr/>
          <a:lstStyle/>
          <a:p>
            <a:endParaRPr lang="en-TR"/>
          </a:p>
        </p:txBody>
      </p:sp>
      <p:sp>
        <p:nvSpPr>
          <p:cNvPr id="33" name="Text 31"/>
          <p:cNvSpPr txBox="1"/>
          <p:nvPr/>
        </p:nvSpPr>
        <p:spPr>
          <a:xfrm>
            <a:off x="9235440" y="4370832"/>
            <a:ext cx="2148840" cy="274320"/>
          </a:xfrm>
          <a:prstGeom prst="rect">
            <a:avLst/>
          </a:prstGeom>
          <a:noFill/>
          <a:ln/>
        </p:spPr>
        <p:txBody>
          <a:bodyPr wrap="square" lIns="0" tIns="0" rIns="0" bIns="0" rtlCol="0" anchor="t"/>
          <a:lstStyle/>
          <a:p>
            <a:pPr marL="0" indent="0">
              <a:buNone/>
            </a:pPr>
            <a:r>
              <a:rPr lang="en-US" sz="1300" b="1" dirty="0">
                <a:solidFill>
                  <a:srgbClr val="132030"/>
                </a:solidFill>
                <a:latin typeface="Arial" pitchFamily="34" charset="0"/>
                <a:ea typeface="Arial" pitchFamily="34" charset="-122"/>
                <a:cs typeface="Arial" pitchFamily="34" charset="-120"/>
              </a:rPr>
              <a:t>Get a sourced answer</a:t>
            </a:r>
            <a:endParaRPr lang="en-US" sz="1300" dirty="0"/>
          </a:p>
        </p:txBody>
      </p:sp>
      <p:sp>
        <p:nvSpPr>
          <p:cNvPr id="34" name="Text 32"/>
          <p:cNvSpPr txBox="1"/>
          <p:nvPr/>
        </p:nvSpPr>
        <p:spPr>
          <a:xfrm>
            <a:off x="9235440" y="4681728"/>
            <a:ext cx="2148840" cy="548640"/>
          </a:xfrm>
          <a:prstGeom prst="rect">
            <a:avLst/>
          </a:prstGeom>
          <a:noFill/>
          <a:ln/>
        </p:spPr>
        <p:txBody>
          <a:bodyPr wrap="square" lIns="0" tIns="0" rIns="0" bIns="0" rtlCol="0" anchor="t"/>
          <a:lstStyle/>
          <a:p>
            <a:pPr marL="0" indent="0">
              <a:buNone/>
            </a:pPr>
            <a:r>
              <a:rPr lang="en-US" sz="1150" dirty="0">
                <a:solidFill>
                  <a:srgbClr val="7C8B99"/>
                </a:solidFill>
                <a:latin typeface="Calibri" pitchFamily="34" charset="0"/>
                <a:ea typeface="Calibri" pitchFamily="34" charset="-122"/>
                <a:cs typeface="Calibri" pitchFamily="34" charset="-120"/>
              </a:rPr>
              <a:t>with citations you can click</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566928"/>
          </a:xfrm>
          <a:prstGeom prst="rect">
            <a:avLst/>
          </a:prstGeom>
          <a:noFill/>
          <a:ln/>
        </p:spPr>
        <p:txBody>
          <a:bodyPr wrap="square" lIns="0" tIns="0" rIns="0" bIns="0" rtlCol="0" anchor="t"/>
          <a:lstStyle/>
          <a:p>
            <a:pPr marL="0" indent="0">
              <a:buNone/>
            </a:pPr>
            <a:r>
              <a:rPr lang="en-US" sz="3200" b="1" dirty="0">
                <a:solidFill>
                  <a:srgbClr val="132030"/>
                </a:solidFill>
                <a:latin typeface="Arial" pitchFamily="34" charset="0"/>
                <a:ea typeface="Arial" pitchFamily="34" charset="-122"/>
                <a:cs typeface="Arial" pitchFamily="34" charset="-120"/>
              </a:rPr>
              <a:t>What the brief asks for</a:t>
            </a:r>
            <a:endParaRPr lang="en-US" sz="3200" dirty="0"/>
          </a:p>
        </p:txBody>
      </p:sp>
      <p:sp>
        <p:nvSpPr>
          <p:cNvPr id="3" name="Text 1"/>
          <p:cNvSpPr txBox="1"/>
          <p:nvPr/>
        </p:nvSpPr>
        <p:spPr>
          <a:xfrm>
            <a:off x="640080" y="969264"/>
            <a:ext cx="10908792" cy="310896"/>
          </a:xfrm>
          <a:prstGeom prst="rect">
            <a:avLst/>
          </a:prstGeom>
          <a:noFill/>
          <a:ln/>
        </p:spPr>
        <p:txBody>
          <a:bodyPr wrap="square" lIns="0" tIns="0" rIns="0" bIns="0" rtlCol="0" anchor="t"/>
          <a:lstStyle/>
          <a:p>
            <a:pPr marL="0" indent="0">
              <a:buNone/>
            </a:pPr>
            <a:r>
              <a:rPr lang="en-US" sz="1400" dirty="0">
                <a:solidFill>
                  <a:srgbClr val="4A5A69"/>
                </a:solidFill>
                <a:latin typeface="Calibri" pitchFamily="34" charset="0"/>
                <a:ea typeface="Calibri" pitchFamily="34" charset="-122"/>
                <a:cs typeface="Calibri" pitchFamily="34" charset="-120"/>
              </a:rPr>
              <a:t>Four layers, named in the project specification.</a:t>
            </a:r>
            <a:endParaRPr lang="en-US" sz="1400" dirty="0"/>
          </a:p>
        </p:txBody>
      </p:sp>
      <p:sp>
        <p:nvSpPr>
          <p:cNvPr id="4" name="Shape 2"/>
          <p:cNvSpPr/>
          <p:nvPr/>
        </p:nvSpPr>
        <p:spPr>
          <a:xfrm>
            <a:off x="640080" y="1508760"/>
            <a:ext cx="5440680" cy="1234440"/>
          </a:xfrm>
          <a:prstGeom prst="roundRect">
            <a:avLst>
              <a:gd name="adj" fmla="val 4444"/>
            </a:avLst>
          </a:prstGeom>
          <a:solidFill>
            <a:srgbClr val="EEF2F6"/>
          </a:solidFill>
          <a:ln w="12700">
            <a:solidFill>
              <a:srgbClr val="D6DEE6"/>
            </a:solidFill>
            <a:prstDash val="solid"/>
          </a:ln>
        </p:spPr>
        <p:txBody>
          <a:bodyPr/>
          <a:lstStyle/>
          <a:p>
            <a:endParaRPr lang="en-TR"/>
          </a:p>
        </p:txBody>
      </p:sp>
      <p:sp>
        <p:nvSpPr>
          <p:cNvPr id="5" name="Shape 3"/>
          <p:cNvSpPr/>
          <p:nvPr/>
        </p:nvSpPr>
        <p:spPr>
          <a:xfrm>
            <a:off x="868680" y="1709928"/>
            <a:ext cx="502920" cy="274320"/>
          </a:xfrm>
          <a:prstGeom prst="roundRect">
            <a:avLst>
              <a:gd name="adj" fmla="val 46667"/>
            </a:avLst>
          </a:prstGeom>
          <a:solidFill>
            <a:srgbClr val="1F6FB2"/>
          </a:solidFill>
          <a:ln w="12700">
            <a:solidFill>
              <a:srgbClr val="1F6FB2"/>
            </a:solidFill>
            <a:prstDash val="solid"/>
          </a:ln>
        </p:spPr>
        <p:txBody>
          <a:bodyPr/>
          <a:lstStyle/>
          <a:p>
            <a:endParaRPr lang="en-TR"/>
          </a:p>
        </p:txBody>
      </p:sp>
      <p:sp>
        <p:nvSpPr>
          <p:cNvPr id="6" name="Text 4"/>
          <p:cNvSpPr txBox="1"/>
          <p:nvPr/>
        </p:nvSpPr>
        <p:spPr>
          <a:xfrm>
            <a:off x="868680" y="1709928"/>
            <a:ext cx="5029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01</a:t>
            </a:r>
            <a:endParaRPr lang="en-US" sz="1050" dirty="0"/>
          </a:p>
        </p:txBody>
      </p:sp>
      <p:sp>
        <p:nvSpPr>
          <p:cNvPr id="7" name="Text 5"/>
          <p:cNvSpPr txBox="1"/>
          <p:nvPr/>
        </p:nvSpPr>
        <p:spPr>
          <a:xfrm>
            <a:off x="1508760" y="1691640"/>
            <a:ext cx="4389120" cy="292608"/>
          </a:xfrm>
          <a:prstGeom prst="rect">
            <a:avLst/>
          </a:prstGeom>
          <a:noFill/>
          <a:ln/>
        </p:spPr>
        <p:txBody>
          <a:bodyPr wrap="square" lIns="0" tIns="0" rIns="0" bIns="0" rtlCol="0" anchor="t"/>
          <a:lstStyle/>
          <a:p>
            <a:pPr marL="0" indent="0">
              <a:buNone/>
            </a:pPr>
            <a:r>
              <a:rPr lang="en-US" sz="1500" b="1" dirty="0">
                <a:solidFill>
                  <a:srgbClr val="132030"/>
                </a:solidFill>
                <a:latin typeface="Arial" pitchFamily="34" charset="0"/>
                <a:ea typeface="Arial" pitchFamily="34" charset="-122"/>
                <a:cs typeface="Arial" pitchFamily="34" charset="-120"/>
              </a:rPr>
              <a:t>Frontend Interface</a:t>
            </a:r>
            <a:endParaRPr lang="en-US" sz="1500" dirty="0"/>
          </a:p>
        </p:txBody>
      </p:sp>
      <p:sp>
        <p:nvSpPr>
          <p:cNvPr id="8" name="Text 6"/>
          <p:cNvSpPr txBox="1"/>
          <p:nvPr/>
        </p:nvSpPr>
        <p:spPr>
          <a:xfrm>
            <a:off x="1508760" y="2039112"/>
            <a:ext cx="4343400" cy="594360"/>
          </a:xfrm>
          <a:prstGeom prst="rect">
            <a:avLst/>
          </a:prstGeom>
          <a:noFill/>
          <a:ln/>
        </p:spPr>
        <p:txBody>
          <a:bodyPr wrap="square" lIns="0" tIns="0" rIns="0" bIns="0" rtlCol="0" anchor="t"/>
          <a:lstStyle/>
          <a:p>
            <a:pPr marL="0" indent="0">
              <a:buNone/>
            </a:pPr>
            <a:r>
              <a:rPr lang="en-US" sz="1250" dirty="0">
                <a:solidFill>
                  <a:srgbClr val="4A5A69"/>
                </a:solidFill>
                <a:latin typeface="Calibri" pitchFamily="34" charset="0"/>
                <a:ea typeface="Calibri" pitchFamily="34" charset="-122"/>
                <a:cs typeface="Calibri" pitchFamily="34" charset="-120"/>
              </a:rPr>
              <a:t>Responsive web dashboard reached by QR code, optimised for mobile industrial use.</a:t>
            </a:r>
            <a:endParaRPr lang="en-US" sz="1250" dirty="0"/>
          </a:p>
        </p:txBody>
      </p:sp>
      <p:sp>
        <p:nvSpPr>
          <p:cNvPr id="9" name="Shape 7"/>
          <p:cNvSpPr/>
          <p:nvPr/>
        </p:nvSpPr>
        <p:spPr>
          <a:xfrm>
            <a:off x="6400800" y="1508760"/>
            <a:ext cx="5440680" cy="1234440"/>
          </a:xfrm>
          <a:prstGeom prst="roundRect">
            <a:avLst>
              <a:gd name="adj" fmla="val 4444"/>
            </a:avLst>
          </a:prstGeom>
          <a:solidFill>
            <a:srgbClr val="EEF2F6"/>
          </a:solidFill>
          <a:ln w="12700">
            <a:solidFill>
              <a:srgbClr val="D6DEE6"/>
            </a:solidFill>
            <a:prstDash val="solid"/>
          </a:ln>
        </p:spPr>
        <p:txBody>
          <a:bodyPr/>
          <a:lstStyle/>
          <a:p>
            <a:endParaRPr lang="en-TR"/>
          </a:p>
        </p:txBody>
      </p:sp>
      <p:sp>
        <p:nvSpPr>
          <p:cNvPr id="10" name="Shape 8"/>
          <p:cNvSpPr/>
          <p:nvPr/>
        </p:nvSpPr>
        <p:spPr>
          <a:xfrm>
            <a:off x="6629400" y="1709928"/>
            <a:ext cx="502920" cy="274320"/>
          </a:xfrm>
          <a:prstGeom prst="roundRect">
            <a:avLst>
              <a:gd name="adj" fmla="val 46667"/>
            </a:avLst>
          </a:prstGeom>
          <a:solidFill>
            <a:srgbClr val="1F6FB2"/>
          </a:solidFill>
          <a:ln w="12700">
            <a:solidFill>
              <a:srgbClr val="1F6FB2"/>
            </a:solidFill>
            <a:prstDash val="solid"/>
          </a:ln>
        </p:spPr>
        <p:txBody>
          <a:bodyPr/>
          <a:lstStyle/>
          <a:p>
            <a:endParaRPr lang="en-TR"/>
          </a:p>
        </p:txBody>
      </p:sp>
      <p:sp>
        <p:nvSpPr>
          <p:cNvPr id="11" name="Text 9"/>
          <p:cNvSpPr txBox="1"/>
          <p:nvPr/>
        </p:nvSpPr>
        <p:spPr>
          <a:xfrm>
            <a:off x="6629400" y="1709928"/>
            <a:ext cx="5029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02</a:t>
            </a:r>
            <a:endParaRPr lang="en-US" sz="1050" dirty="0"/>
          </a:p>
        </p:txBody>
      </p:sp>
      <p:sp>
        <p:nvSpPr>
          <p:cNvPr id="12" name="Text 10"/>
          <p:cNvSpPr txBox="1"/>
          <p:nvPr/>
        </p:nvSpPr>
        <p:spPr>
          <a:xfrm>
            <a:off x="7269480" y="1691640"/>
            <a:ext cx="4389120" cy="292608"/>
          </a:xfrm>
          <a:prstGeom prst="rect">
            <a:avLst/>
          </a:prstGeom>
          <a:noFill/>
          <a:ln/>
        </p:spPr>
        <p:txBody>
          <a:bodyPr wrap="square" lIns="0" tIns="0" rIns="0" bIns="0" rtlCol="0" anchor="t"/>
          <a:lstStyle/>
          <a:p>
            <a:pPr marL="0" indent="0">
              <a:buNone/>
            </a:pPr>
            <a:r>
              <a:rPr lang="en-US" sz="1500" b="1" dirty="0">
                <a:solidFill>
                  <a:srgbClr val="132030"/>
                </a:solidFill>
                <a:latin typeface="Arial" pitchFamily="34" charset="0"/>
                <a:ea typeface="Arial" pitchFamily="34" charset="-122"/>
                <a:cs typeface="Arial" pitchFamily="34" charset="-120"/>
              </a:rPr>
              <a:t>Back-end Services</a:t>
            </a:r>
            <a:endParaRPr lang="en-US" sz="1500" dirty="0"/>
          </a:p>
        </p:txBody>
      </p:sp>
      <p:sp>
        <p:nvSpPr>
          <p:cNvPr id="13" name="Text 11"/>
          <p:cNvSpPr txBox="1"/>
          <p:nvPr/>
        </p:nvSpPr>
        <p:spPr>
          <a:xfrm>
            <a:off x="7269480" y="2039112"/>
            <a:ext cx="4343400" cy="594360"/>
          </a:xfrm>
          <a:prstGeom prst="rect">
            <a:avLst/>
          </a:prstGeom>
          <a:noFill/>
          <a:ln/>
        </p:spPr>
        <p:txBody>
          <a:bodyPr wrap="square" lIns="0" tIns="0" rIns="0" bIns="0" rtlCol="0" anchor="t"/>
          <a:lstStyle/>
          <a:p>
            <a:pPr marL="0" indent="0">
              <a:buNone/>
            </a:pPr>
            <a:r>
              <a:rPr lang="en-US" sz="1250" dirty="0">
                <a:solidFill>
                  <a:srgbClr val="4A5A69"/>
                </a:solidFill>
                <a:latin typeface="Calibri" pitchFamily="34" charset="0"/>
                <a:ea typeface="Calibri" pitchFamily="34" charset="-122"/>
                <a:cs typeface="Calibri" pitchFamily="34" charset="-120"/>
              </a:rPr>
              <a:t>Manage user sessions and bridge the UI with the AI orchestrator.</a:t>
            </a:r>
            <a:endParaRPr lang="en-US" sz="1250" dirty="0"/>
          </a:p>
        </p:txBody>
      </p:sp>
      <p:sp>
        <p:nvSpPr>
          <p:cNvPr id="14" name="Shape 12"/>
          <p:cNvSpPr/>
          <p:nvPr/>
        </p:nvSpPr>
        <p:spPr>
          <a:xfrm>
            <a:off x="640080" y="2926080"/>
            <a:ext cx="5440680" cy="1234440"/>
          </a:xfrm>
          <a:prstGeom prst="roundRect">
            <a:avLst>
              <a:gd name="adj" fmla="val 4444"/>
            </a:avLst>
          </a:prstGeom>
          <a:solidFill>
            <a:srgbClr val="EEF2F6"/>
          </a:solidFill>
          <a:ln w="12700">
            <a:solidFill>
              <a:srgbClr val="D6DEE6"/>
            </a:solidFill>
            <a:prstDash val="solid"/>
          </a:ln>
        </p:spPr>
        <p:txBody>
          <a:bodyPr/>
          <a:lstStyle/>
          <a:p>
            <a:endParaRPr lang="en-TR"/>
          </a:p>
        </p:txBody>
      </p:sp>
      <p:sp>
        <p:nvSpPr>
          <p:cNvPr id="15" name="Shape 13"/>
          <p:cNvSpPr/>
          <p:nvPr/>
        </p:nvSpPr>
        <p:spPr>
          <a:xfrm>
            <a:off x="868680" y="3127248"/>
            <a:ext cx="502920" cy="274320"/>
          </a:xfrm>
          <a:prstGeom prst="roundRect">
            <a:avLst>
              <a:gd name="adj" fmla="val 46667"/>
            </a:avLst>
          </a:prstGeom>
          <a:solidFill>
            <a:srgbClr val="E09A2B"/>
          </a:solidFill>
          <a:ln w="12700">
            <a:solidFill>
              <a:srgbClr val="E09A2B"/>
            </a:solidFill>
            <a:prstDash val="solid"/>
          </a:ln>
        </p:spPr>
        <p:txBody>
          <a:bodyPr/>
          <a:lstStyle/>
          <a:p>
            <a:endParaRPr lang="en-TR"/>
          </a:p>
        </p:txBody>
      </p:sp>
      <p:sp>
        <p:nvSpPr>
          <p:cNvPr id="16" name="Text 14"/>
          <p:cNvSpPr txBox="1"/>
          <p:nvPr/>
        </p:nvSpPr>
        <p:spPr>
          <a:xfrm>
            <a:off x="868680" y="3127248"/>
            <a:ext cx="5029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03</a:t>
            </a:r>
            <a:endParaRPr lang="en-US" sz="1050" dirty="0"/>
          </a:p>
        </p:txBody>
      </p:sp>
      <p:sp>
        <p:nvSpPr>
          <p:cNvPr id="17" name="Text 15"/>
          <p:cNvSpPr txBox="1"/>
          <p:nvPr/>
        </p:nvSpPr>
        <p:spPr>
          <a:xfrm>
            <a:off x="1508760" y="3108960"/>
            <a:ext cx="4389120" cy="292608"/>
          </a:xfrm>
          <a:prstGeom prst="rect">
            <a:avLst/>
          </a:prstGeom>
          <a:noFill/>
          <a:ln/>
        </p:spPr>
        <p:txBody>
          <a:bodyPr wrap="square" lIns="0" tIns="0" rIns="0" bIns="0" rtlCol="0" anchor="t"/>
          <a:lstStyle/>
          <a:p>
            <a:pPr marL="0" indent="0">
              <a:buNone/>
            </a:pPr>
            <a:r>
              <a:rPr lang="en-US" sz="1500" b="1" dirty="0">
                <a:solidFill>
                  <a:srgbClr val="132030"/>
                </a:solidFill>
                <a:latin typeface="Arial" pitchFamily="34" charset="0"/>
                <a:ea typeface="Arial" pitchFamily="34" charset="-122"/>
                <a:cs typeface="Arial" pitchFamily="34" charset="-120"/>
              </a:rPr>
              <a:t>AI Orchestrator</a:t>
            </a:r>
            <a:endParaRPr lang="en-US" sz="1500" dirty="0"/>
          </a:p>
        </p:txBody>
      </p:sp>
      <p:sp>
        <p:nvSpPr>
          <p:cNvPr id="18" name="Text 16"/>
          <p:cNvSpPr txBox="1"/>
          <p:nvPr/>
        </p:nvSpPr>
        <p:spPr>
          <a:xfrm>
            <a:off x="1508760" y="3456432"/>
            <a:ext cx="4343400" cy="594360"/>
          </a:xfrm>
          <a:prstGeom prst="rect">
            <a:avLst/>
          </a:prstGeom>
          <a:noFill/>
          <a:ln/>
        </p:spPr>
        <p:txBody>
          <a:bodyPr wrap="square" lIns="0" tIns="0" rIns="0" bIns="0" rtlCol="0" anchor="t"/>
          <a:lstStyle/>
          <a:p>
            <a:pPr marL="0" indent="0">
              <a:buNone/>
            </a:pPr>
            <a:r>
              <a:rPr lang="en-US" sz="1250" dirty="0">
                <a:solidFill>
                  <a:srgbClr val="4A5A69"/>
                </a:solidFill>
                <a:latin typeface="Calibri" pitchFamily="34" charset="0"/>
                <a:ea typeface="Calibri" pitchFamily="34" charset="-122"/>
                <a:cs typeface="Calibri" pitchFamily="34" charset="-120"/>
              </a:rPr>
              <a:t>Interpret user intent and delegate the task to specialised agents.</a:t>
            </a:r>
            <a:endParaRPr lang="en-US" sz="1250" dirty="0"/>
          </a:p>
        </p:txBody>
      </p:sp>
      <p:sp>
        <p:nvSpPr>
          <p:cNvPr id="19" name="Shape 17"/>
          <p:cNvSpPr/>
          <p:nvPr/>
        </p:nvSpPr>
        <p:spPr>
          <a:xfrm>
            <a:off x="6400800" y="2926080"/>
            <a:ext cx="5440680" cy="1234440"/>
          </a:xfrm>
          <a:prstGeom prst="roundRect">
            <a:avLst>
              <a:gd name="adj" fmla="val 4444"/>
            </a:avLst>
          </a:prstGeom>
          <a:solidFill>
            <a:srgbClr val="EEF2F6"/>
          </a:solidFill>
          <a:ln w="12700">
            <a:solidFill>
              <a:srgbClr val="D6DEE6"/>
            </a:solidFill>
            <a:prstDash val="solid"/>
          </a:ln>
        </p:spPr>
        <p:txBody>
          <a:bodyPr/>
          <a:lstStyle/>
          <a:p>
            <a:endParaRPr lang="en-TR"/>
          </a:p>
        </p:txBody>
      </p:sp>
      <p:sp>
        <p:nvSpPr>
          <p:cNvPr id="20" name="Shape 18"/>
          <p:cNvSpPr/>
          <p:nvPr/>
        </p:nvSpPr>
        <p:spPr>
          <a:xfrm>
            <a:off x="6629400" y="3127248"/>
            <a:ext cx="502920" cy="274320"/>
          </a:xfrm>
          <a:prstGeom prst="roundRect">
            <a:avLst>
              <a:gd name="adj" fmla="val 46667"/>
            </a:avLst>
          </a:prstGeom>
          <a:solidFill>
            <a:srgbClr val="E09A2B"/>
          </a:solidFill>
          <a:ln w="12700">
            <a:solidFill>
              <a:srgbClr val="E09A2B"/>
            </a:solidFill>
            <a:prstDash val="solid"/>
          </a:ln>
        </p:spPr>
        <p:txBody>
          <a:bodyPr/>
          <a:lstStyle/>
          <a:p>
            <a:endParaRPr lang="en-TR"/>
          </a:p>
        </p:txBody>
      </p:sp>
      <p:sp>
        <p:nvSpPr>
          <p:cNvPr id="21" name="Text 19"/>
          <p:cNvSpPr txBox="1"/>
          <p:nvPr/>
        </p:nvSpPr>
        <p:spPr>
          <a:xfrm>
            <a:off x="6629400" y="3127248"/>
            <a:ext cx="5029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04</a:t>
            </a:r>
            <a:endParaRPr lang="en-US" sz="1050" dirty="0"/>
          </a:p>
        </p:txBody>
      </p:sp>
      <p:sp>
        <p:nvSpPr>
          <p:cNvPr id="22" name="Text 20"/>
          <p:cNvSpPr txBox="1"/>
          <p:nvPr/>
        </p:nvSpPr>
        <p:spPr>
          <a:xfrm>
            <a:off x="7269480" y="3108960"/>
            <a:ext cx="4389120" cy="292608"/>
          </a:xfrm>
          <a:prstGeom prst="rect">
            <a:avLst/>
          </a:prstGeom>
          <a:noFill/>
          <a:ln/>
        </p:spPr>
        <p:txBody>
          <a:bodyPr wrap="square" lIns="0" tIns="0" rIns="0" bIns="0" rtlCol="0" anchor="t"/>
          <a:lstStyle/>
          <a:p>
            <a:pPr marL="0" indent="0">
              <a:buNone/>
            </a:pPr>
            <a:r>
              <a:rPr lang="en-US" sz="1500" b="1" dirty="0">
                <a:solidFill>
                  <a:srgbClr val="132030"/>
                </a:solidFill>
                <a:latin typeface="Arial" pitchFamily="34" charset="0"/>
                <a:ea typeface="Arial" pitchFamily="34" charset="-122"/>
                <a:cs typeface="Arial" pitchFamily="34" charset="-120"/>
              </a:rPr>
              <a:t>Specialised Agentic Layer</a:t>
            </a:r>
            <a:endParaRPr lang="en-US" sz="1500" dirty="0"/>
          </a:p>
        </p:txBody>
      </p:sp>
      <p:sp>
        <p:nvSpPr>
          <p:cNvPr id="23" name="Text 21"/>
          <p:cNvSpPr txBox="1"/>
          <p:nvPr/>
        </p:nvSpPr>
        <p:spPr>
          <a:xfrm>
            <a:off x="7269480" y="3456432"/>
            <a:ext cx="4343400" cy="594360"/>
          </a:xfrm>
          <a:prstGeom prst="rect">
            <a:avLst/>
          </a:prstGeom>
          <a:noFill/>
          <a:ln/>
        </p:spPr>
        <p:txBody>
          <a:bodyPr wrap="square" lIns="0" tIns="0" rIns="0" bIns="0" rtlCol="0" anchor="t"/>
          <a:lstStyle/>
          <a:p>
            <a:pPr marL="0" indent="0">
              <a:buNone/>
            </a:pPr>
            <a:r>
              <a:rPr lang="en-US" sz="1250" dirty="0">
                <a:solidFill>
                  <a:srgbClr val="4A5A69"/>
                </a:solidFill>
                <a:latin typeface="Calibri" pitchFamily="34" charset="0"/>
                <a:ea typeface="Calibri" pitchFamily="34" charset="-122"/>
                <a:cs typeface="Calibri" pitchFamily="34" charset="-120"/>
              </a:rPr>
              <a:t>Doc-Agent (RAG over PDFs), Telemetry-Agent (IoT health), Business Agent (orders).</a:t>
            </a:r>
            <a:endParaRPr lang="en-US" sz="1250" dirty="0"/>
          </a:p>
        </p:txBody>
      </p:sp>
      <p:sp>
        <p:nvSpPr>
          <p:cNvPr id="24" name="Shape 22"/>
          <p:cNvSpPr/>
          <p:nvPr/>
        </p:nvSpPr>
        <p:spPr>
          <a:xfrm>
            <a:off x="640080" y="4526280"/>
            <a:ext cx="10908792" cy="1371600"/>
          </a:xfrm>
          <a:prstGeom prst="roundRect">
            <a:avLst>
              <a:gd name="adj" fmla="val 4000"/>
            </a:avLst>
          </a:prstGeom>
          <a:solidFill>
            <a:srgbClr val="F7F9FB"/>
          </a:solidFill>
          <a:ln w="12700">
            <a:solidFill>
              <a:srgbClr val="D6DEE6"/>
            </a:solidFill>
            <a:prstDash val="solid"/>
          </a:ln>
        </p:spPr>
        <p:txBody>
          <a:bodyPr/>
          <a:lstStyle/>
          <a:p>
            <a:endParaRPr lang="en-TR"/>
          </a:p>
        </p:txBody>
      </p:sp>
      <p:sp>
        <p:nvSpPr>
          <p:cNvPr id="25" name="Text 23"/>
          <p:cNvSpPr txBox="1"/>
          <p:nvPr/>
        </p:nvSpPr>
        <p:spPr>
          <a:xfrm>
            <a:off x="914400" y="4681728"/>
            <a:ext cx="3657600" cy="274320"/>
          </a:xfrm>
          <a:prstGeom prst="rect">
            <a:avLst/>
          </a:prstGeom>
          <a:noFill/>
          <a:ln/>
        </p:spPr>
        <p:txBody>
          <a:bodyPr wrap="square" lIns="0" tIns="0" rIns="0" bIns="0" rtlCol="0" anchor="t"/>
          <a:lstStyle/>
          <a:p>
            <a:pPr marL="0" indent="0">
              <a:buNone/>
            </a:pPr>
            <a:r>
              <a:rPr lang="en-US" sz="1400" b="1" dirty="0">
                <a:solidFill>
                  <a:srgbClr val="132030"/>
                </a:solidFill>
                <a:latin typeface="Arial" pitchFamily="34" charset="0"/>
                <a:ea typeface="Arial" pitchFamily="34" charset="-122"/>
                <a:cs typeface="Arial" pitchFamily="34" charset="-120"/>
              </a:rPr>
              <a:t>Deliverables</a:t>
            </a:r>
            <a:endParaRPr lang="en-US" sz="1400" dirty="0"/>
          </a:p>
        </p:txBody>
      </p:sp>
      <p:sp>
        <p:nvSpPr>
          <p:cNvPr id="26" name="Shape 24"/>
          <p:cNvSpPr/>
          <p:nvPr/>
        </p:nvSpPr>
        <p:spPr>
          <a:xfrm>
            <a:off x="914400" y="5074920"/>
            <a:ext cx="1965960" cy="274320"/>
          </a:xfrm>
          <a:prstGeom prst="roundRect">
            <a:avLst>
              <a:gd name="adj" fmla="val 46667"/>
            </a:avLst>
          </a:prstGeom>
          <a:solidFill>
            <a:srgbClr val="4A5A69"/>
          </a:solidFill>
          <a:ln w="12700">
            <a:solidFill>
              <a:srgbClr val="4A5A69"/>
            </a:solidFill>
            <a:prstDash val="solid"/>
          </a:ln>
        </p:spPr>
        <p:txBody>
          <a:bodyPr/>
          <a:lstStyle/>
          <a:p>
            <a:endParaRPr lang="en-TR"/>
          </a:p>
        </p:txBody>
      </p:sp>
      <p:sp>
        <p:nvSpPr>
          <p:cNvPr id="27" name="Text 25"/>
          <p:cNvSpPr txBox="1"/>
          <p:nvPr/>
        </p:nvSpPr>
        <p:spPr>
          <a:xfrm>
            <a:off x="914400" y="5074920"/>
            <a:ext cx="196596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Source files</a:t>
            </a:r>
            <a:endParaRPr lang="en-US" sz="1050" dirty="0"/>
          </a:p>
        </p:txBody>
      </p:sp>
      <p:sp>
        <p:nvSpPr>
          <p:cNvPr id="28" name="Shape 26"/>
          <p:cNvSpPr/>
          <p:nvPr/>
        </p:nvSpPr>
        <p:spPr>
          <a:xfrm>
            <a:off x="3063240" y="5074920"/>
            <a:ext cx="1965960" cy="274320"/>
          </a:xfrm>
          <a:prstGeom prst="roundRect">
            <a:avLst>
              <a:gd name="adj" fmla="val 46667"/>
            </a:avLst>
          </a:prstGeom>
          <a:solidFill>
            <a:srgbClr val="4A5A69"/>
          </a:solidFill>
          <a:ln w="12700">
            <a:solidFill>
              <a:srgbClr val="4A5A69"/>
            </a:solidFill>
            <a:prstDash val="solid"/>
          </a:ln>
        </p:spPr>
        <p:txBody>
          <a:bodyPr/>
          <a:lstStyle/>
          <a:p>
            <a:endParaRPr lang="en-TR"/>
          </a:p>
        </p:txBody>
      </p:sp>
      <p:sp>
        <p:nvSpPr>
          <p:cNvPr id="29" name="Text 27"/>
          <p:cNvSpPr txBox="1"/>
          <p:nvPr/>
        </p:nvSpPr>
        <p:spPr>
          <a:xfrm>
            <a:off x="3063240" y="5074920"/>
            <a:ext cx="196596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README (plain ASCII)</a:t>
            </a:r>
            <a:endParaRPr lang="en-US" sz="1050" dirty="0"/>
          </a:p>
        </p:txBody>
      </p:sp>
      <p:sp>
        <p:nvSpPr>
          <p:cNvPr id="30" name="Shape 28"/>
          <p:cNvSpPr/>
          <p:nvPr/>
        </p:nvSpPr>
        <p:spPr>
          <a:xfrm>
            <a:off x="5212080" y="5074920"/>
            <a:ext cx="1965960" cy="274320"/>
          </a:xfrm>
          <a:prstGeom prst="roundRect">
            <a:avLst>
              <a:gd name="adj" fmla="val 46667"/>
            </a:avLst>
          </a:prstGeom>
          <a:solidFill>
            <a:srgbClr val="4A5A69"/>
          </a:solidFill>
          <a:ln w="12700">
            <a:solidFill>
              <a:srgbClr val="4A5A69"/>
            </a:solidFill>
            <a:prstDash val="solid"/>
          </a:ln>
        </p:spPr>
        <p:txBody>
          <a:bodyPr/>
          <a:lstStyle/>
          <a:p>
            <a:endParaRPr lang="en-TR"/>
          </a:p>
        </p:txBody>
      </p:sp>
      <p:sp>
        <p:nvSpPr>
          <p:cNvPr id="31" name="Text 29"/>
          <p:cNvSpPr txBox="1"/>
          <p:nvPr/>
        </p:nvSpPr>
        <p:spPr>
          <a:xfrm>
            <a:off x="5212080" y="5074920"/>
            <a:ext cx="196596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DOCUMENTATION</a:t>
            </a:r>
            <a:endParaRPr lang="en-US" sz="1050" dirty="0"/>
          </a:p>
        </p:txBody>
      </p:sp>
      <p:sp>
        <p:nvSpPr>
          <p:cNvPr id="32" name="Shape 30"/>
          <p:cNvSpPr/>
          <p:nvPr/>
        </p:nvSpPr>
        <p:spPr>
          <a:xfrm>
            <a:off x="7360920" y="5074920"/>
            <a:ext cx="1965960" cy="274320"/>
          </a:xfrm>
          <a:prstGeom prst="roundRect">
            <a:avLst>
              <a:gd name="adj" fmla="val 46667"/>
            </a:avLst>
          </a:prstGeom>
          <a:solidFill>
            <a:srgbClr val="4A5A69"/>
          </a:solidFill>
          <a:ln w="12700">
            <a:solidFill>
              <a:srgbClr val="4A5A69"/>
            </a:solidFill>
            <a:prstDash val="solid"/>
          </a:ln>
        </p:spPr>
        <p:txBody>
          <a:bodyPr/>
          <a:lstStyle/>
          <a:p>
            <a:endParaRPr lang="en-TR"/>
          </a:p>
        </p:txBody>
      </p:sp>
      <p:sp>
        <p:nvSpPr>
          <p:cNvPr id="33" name="Text 31"/>
          <p:cNvSpPr txBox="1"/>
          <p:nvPr/>
        </p:nvSpPr>
        <p:spPr>
          <a:xfrm>
            <a:off x="7360920" y="5074920"/>
            <a:ext cx="196596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Slides (20 min)</a:t>
            </a:r>
            <a:endParaRPr lang="en-US" sz="1050" dirty="0"/>
          </a:p>
        </p:txBody>
      </p:sp>
      <p:sp>
        <p:nvSpPr>
          <p:cNvPr id="34" name="Shape 32"/>
          <p:cNvSpPr/>
          <p:nvPr/>
        </p:nvSpPr>
        <p:spPr>
          <a:xfrm>
            <a:off x="9509760" y="5074920"/>
            <a:ext cx="1965960" cy="274320"/>
          </a:xfrm>
          <a:prstGeom prst="roundRect">
            <a:avLst>
              <a:gd name="adj" fmla="val 46667"/>
            </a:avLst>
          </a:prstGeom>
          <a:solidFill>
            <a:srgbClr val="4A5A69"/>
          </a:solidFill>
          <a:ln w="12700">
            <a:solidFill>
              <a:srgbClr val="4A5A69"/>
            </a:solidFill>
            <a:prstDash val="solid"/>
          </a:ln>
        </p:spPr>
        <p:txBody>
          <a:bodyPr/>
          <a:lstStyle/>
          <a:p>
            <a:endParaRPr lang="en-TR"/>
          </a:p>
        </p:txBody>
      </p:sp>
      <p:sp>
        <p:nvSpPr>
          <p:cNvPr id="35" name="Text 33"/>
          <p:cNvSpPr txBox="1"/>
          <p:nvPr/>
        </p:nvSpPr>
        <p:spPr>
          <a:xfrm>
            <a:off x="9509760" y="5074920"/>
            <a:ext cx="196596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Results on benchmarks</a:t>
            </a:r>
            <a:endParaRPr lang="en-US" sz="1050" dirty="0"/>
          </a:p>
        </p:txBody>
      </p:sp>
      <p:sp>
        <p:nvSpPr>
          <p:cNvPr id="36" name="Text 34"/>
          <p:cNvSpPr txBox="1"/>
          <p:nvPr/>
        </p:nvSpPr>
        <p:spPr>
          <a:xfrm>
            <a:off x="914400" y="5468112"/>
            <a:ext cx="10360152" cy="274320"/>
          </a:xfrm>
          <a:prstGeom prst="rect">
            <a:avLst/>
          </a:prstGeom>
          <a:noFill/>
          <a:ln/>
        </p:spPr>
        <p:txBody>
          <a:bodyPr wrap="square" lIns="0" tIns="0" rIns="0" bIns="0" rtlCol="0" anchor="ctr"/>
          <a:lstStyle/>
          <a:p>
            <a:pPr marL="0" indent="0">
              <a:buNone/>
            </a:pP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566928"/>
          </a:xfrm>
          <a:prstGeom prst="rect">
            <a:avLst/>
          </a:prstGeom>
          <a:noFill/>
          <a:ln/>
        </p:spPr>
        <p:txBody>
          <a:bodyPr wrap="square" lIns="0" tIns="0" rIns="0" bIns="0" rtlCol="0" anchor="t"/>
          <a:lstStyle/>
          <a:p>
            <a:pPr marL="0" indent="0">
              <a:buNone/>
            </a:pPr>
            <a:r>
              <a:rPr lang="en-US" sz="3200" b="1" dirty="0">
                <a:solidFill>
                  <a:srgbClr val="132030"/>
                </a:solidFill>
                <a:latin typeface="Arial" pitchFamily="34" charset="0"/>
                <a:ea typeface="Arial" pitchFamily="34" charset="-122"/>
                <a:cs typeface="Arial" pitchFamily="34" charset="-120"/>
              </a:rPr>
              <a:t>The dataset: relational tables and PDF manuals</a:t>
            </a:r>
            <a:endParaRPr lang="en-US" sz="3200" dirty="0"/>
          </a:p>
        </p:txBody>
      </p:sp>
      <p:sp>
        <p:nvSpPr>
          <p:cNvPr id="3" name="Text 1"/>
          <p:cNvSpPr txBox="1"/>
          <p:nvPr/>
        </p:nvSpPr>
        <p:spPr>
          <a:xfrm>
            <a:off x="640080" y="969264"/>
            <a:ext cx="10908792" cy="310896"/>
          </a:xfrm>
          <a:prstGeom prst="rect">
            <a:avLst/>
          </a:prstGeom>
          <a:noFill/>
          <a:ln/>
        </p:spPr>
        <p:txBody>
          <a:bodyPr wrap="square" lIns="0" tIns="0" rIns="0" bIns="0" rtlCol="0" anchor="t"/>
          <a:lstStyle/>
          <a:p>
            <a:pPr marL="0" indent="0">
              <a:buNone/>
            </a:pPr>
            <a:r>
              <a:rPr lang="en-US" sz="1400" dirty="0">
                <a:solidFill>
                  <a:srgbClr val="4A5A69"/>
                </a:solidFill>
                <a:latin typeface="Calibri" pitchFamily="34" charset="0"/>
                <a:ea typeface="Calibri" pitchFamily="34" charset="-122"/>
                <a:cs typeface="Calibri" pitchFamily="34" charset="-120"/>
              </a:rPr>
              <a:t>Relational tables for the fleet, PDF manuals for the know-how. A realistic question usually needs both.</a:t>
            </a:r>
            <a:endParaRPr lang="en-US" sz="1400" dirty="0"/>
          </a:p>
        </p:txBody>
      </p:sp>
      <p:sp>
        <p:nvSpPr>
          <p:cNvPr id="4" name="Text 2"/>
          <p:cNvSpPr txBox="1"/>
          <p:nvPr/>
        </p:nvSpPr>
        <p:spPr>
          <a:xfrm>
            <a:off x="640080" y="1508760"/>
            <a:ext cx="1371600" cy="548640"/>
          </a:xfrm>
          <a:prstGeom prst="rect">
            <a:avLst/>
          </a:prstGeom>
          <a:noFill/>
          <a:ln/>
        </p:spPr>
        <p:txBody>
          <a:bodyPr wrap="square" lIns="0" tIns="0" rIns="0" bIns="0" rtlCol="0" anchor="ctr"/>
          <a:lstStyle/>
          <a:p>
            <a:pPr marL="0" indent="0">
              <a:buNone/>
            </a:pPr>
            <a:r>
              <a:rPr lang="en-US" sz="3400" b="1" dirty="0">
                <a:solidFill>
                  <a:srgbClr val="E09A2B"/>
                </a:solidFill>
                <a:latin typeface="Arial" pitchFamily="34" charset="0"/>
                <a:ea typeface="Arial" pitchFamily="34" charset="-122"/>
                <a:cs typeface="Arial" pitchFamily="34" charset="-120"/>
              </a:rPr>
              <a:t>8</a:t>
            </a:r>
            <a:endParaRPr lang="en-US" sz="3400" dirty="0"/>
          </a:p>
        </p:txBody>
      </p:sp>
      <p:sp>
        <p:nvSpPr>
          <p:cNvPr id="5" name="Text 3"/>
          <p:cNvSpPr txBox="1"/>
          <p:nvPr/>
        </p:nvSpPr>
        <p:spPr>
          <a:xfrm>
            <a:off x="640080" y="2057400"/>
            <a:ext cx="1371600" cy="274320"/>
          </a:xfrm>
          <a:prstGeom prst="rect">
            <a:avLst/>
          </a:prstGeom>
          <a:noFill/>
          <a:ln/>
        </p:spPr>
        <p:txBody>
          <a:bodyPr wrap="square" lIns="0" tIns="0" rIns="0" bIns="0" rtlCol="0" anchor="ctr"/>
          <a:lstStyle/>
          <a:p>
            <a:pPr marL="0" indent="0">
              <a:buNone/>
            </a:pPr>
            <a:r>
              <a:rPr lang="en-US" sz="1150" dirty="0">
                <a:solidFill>
                  <a:srgbClr val="4A5A69"/>
                </a:solidFill>
                <a:latin typeface="Calibri" pitchFamily="34" charset="0"/>
                <a:ea typeface="Calibri" pitchFamily="34" charset="-122"/>
                <a:cs typeface="Calibri" pitchFamily="34" charset="-120"/>
              </a:rPr>
              <a:t>machines</a:t>
            </a:r>
            <a:endParaRPr lang="en-US" sz="1150" dirty="0"/>
          </a:p>
        </p:txBody>
      </p:sp>
      <p:sp>
        <p:nvSpPr>
          <p:cNvPr id="6" name="Text 4"/>
          <p:cNvSpPr txBox="1"/>
          <p:nvPr/>
        </p:nvSpPr>
        <p:spPr>
          <a:xfrm>
            <a:off x="2121408" y="1508760"/>
            <a:ext cx="1371600" cy="548640"/>
          </a:xfrm>
          <a:prstGeom prst="rect">
            <a:avLst/>
          </a:prstGeom>
          <a:noFill/>
          <a:ln/>
        </p:spPr>
        <p:txBody>
          <a:bodyPr wrap="square" lIns="0" tIns="0" rIns="0" bIns="0" rtlCol="0" anchor="ctr"/>
          <a:lstStyle/>
          <a:p>
            <a:pPr marL="0" indent="0">
              <a:buNone/>
            </a:pPr>
            <a:r>
              <a:rPr lang="en-US" sz="3400" b="1" dirty="0">
                <a:solidFill>
                  <a:srgbClr val="E09A2B"/>
                </a:solidFill>
                <a:latin typeface="Arial" pitchFamily="34" charset="0"/>
                <a:ea typeface="Arial" pitchFamily="34" charset="-122"/>
                <a:cs typeface="Arial" pitchFamily="34" charset="-120"/>
              </a:rPr>
              <a:t>5</a:t>
            </a:r>
            <a:endParaRPr lang="en-US" sz="3400" dirty="0"/>
          </a:p>
        </p:txBody>
      </p:sp>
      <p:sp>
        <p:nvSpPr>
          <p:cNvPr id="7" name="Text 5"/>
          <p:cNvSpPr txBox="1"/>
          <p:nvPr/>
        </p:nvSpPr>
        <p:spPr>
          <a:xfrm>
            <a:off x="2121408" y="2057400"/>
            <a:ext cx="1371600" cy="274320"/>
          </a:xfrm>
          <a:prstGeom prst="rect">
            <a:avLst/>
          </a:prstGeom>
          <a:noFill/>
          <a:ln/>
        </p:spPr>
        <p:txBody>
          <a:bodyPr wrap="square" lIns="0" tIns="0" rIns="0" bIns="0" rtlCol="0" anchor="ctr"/>
          <a:lstStyle/>
          <a:p>
            <a:pPr marL="0" indent="0">
              <a:buNone/>
            </a:pPr>
            <a:r>
              <a:rPr lang="en-US" sz="1150" dirty="0">
                <a:solidFill>
                  <a:srgbClr val="4A5A69"/>
                </a:solidFill>
                <a:latin typeface="Calibri" pitchFamily="34" charset="0"/>
                <a:ea typeface="Calibri" pitchFamily="34" charset="-122"/>
                <a:cs typeface="Calibri" pitchFamily="34" charset="-120"/>
              </a:rPr>
              <a:t>customer companies</a:t>
            </a:r>
            <a:endParaRPr lang="en-US" sz="1150" dirty="0"/>
          </a:p>
        </p:txBody>
      </p:sp>
      <p:sp>
        <p:nvSpPr>
          <p:cNvPr id="8" name="Text 6"/>
          <p:cNvSpPr txBox="1"/>
          <p:nvPr/>
        </p:nvSpPr>
        <p:spPr>
          <a:xfrm>
            <a:off x="3602736" y="1508760"/>
            <a:ext cx="1371600" cy="548640"/>
          </a:xfrm>
          <a:prstGeom prst="rect">
            <a:avLst/>
          </a:prstGeom>
          <a:noFill/>
          <a:ln/>
        </p:spPr>
        <p:txBody>
          <a:bodyPr wrap="square" lIns="0" tIns="0" rIns="0" bIns="0" rtlCol="0" anchor="ctr"/>
          <a:lstStyle/>
          <a:p>
            <a:pPr marL="0" indent="0">
              <a:buNone/>
            </a:pPr>
            <a:r>
              <a:rPr lang="en-US" sz="3400" b="1" dirty="0">
                <a:solidFill>
                  <a:srgbClr val="E09A2B"/>
                </a:solidFill>
                <a:latin typeface="Arial" pitchFamily="34" charset="0"/>
                <a:ea typeface="Arial" pitchFamily="34" charset="-122"/>
                <a:cs typeface="Arial" pitchFamily="34" charset="-120"/>
              </a:rPr>
              <a:t>5,760</a:t>
            </a:r>
            <a:endParaRPr lang="en-US" sz="3400" dirty="0"/>
          </a:p>
        </p:txBody>
      </p:sp>
      <p:sp>
        <p:nvSpPr>
          <p:cNvPr id="9" name="Text 7"/>
          <p:cNvSpPr txBox="1"/>
          <p:nvPr/>
        </p:nvSpPr>
        <p:spPr>
          <a:xfrm>
            <a:off x="3602736" y="2057400"/>
            <a:ext cx="1371600" cy="274320"/>
          </a:xfrm>
          <a:prstGeom prst="rect">
            <a:avLst/>
          </a:prstGeom>
          <a:noFill/>
          <a:ln/>
        </p:spPr>
        <p:txBody>
          <a:bodyPr wrap="square" lIns="0" tIns="0" rIns="0" bIns="0" rtlCol="0" anchor="ctr"/>
          <a:lstStyle/>
          <a:p>
            <a:pPr marL="0" indent="0">
              <a:buNone/>
            </a:pPr>
            <a:r>
              <a:rPr lang="en-US" sz="1150" dirty="0">
                <a:solidFill>
                  <a:srgbClr val="4A5A69"/>
                </a:solidFill>
                <a:latin typeface="Calibri" pitchFamily="34" charset="0"/>
                <a:ea typeface="Calibri" pitchFamily="34" charset="-122"/>
                <a:cs typeface="Calibri" pitchFamily="34" charset="-120"/>
              </a:rPr>
              <a:t>telemetry rows</a:t>
            </a:r>
            <a:endParaRPr lang="en-US" sz="1150" dirty="0"/>
          </a:p>
        </p:txBody>
      </p:sp>
      <p:sp>
        <p:nvSpPr>
          <p:cNvPr id="10" name="Text 8"/>
          <p:cNvSpPr txBox="1"/>
          <p:nvPr/>
        </p:nvSpPr>
        <p:spPr>
          <a:xfrm>
            <a:off x="5084064" y="1508760"/>
            <a:ext cx="1371600" cy="548640"/>
          </a:xfrm>
          <a:prstGeom prst="rect">
            <a:avLst/>
          </a:prstGeom>
          <a:noFill/>
          <a:ln/>
        </p:spPr>
        <p:txBody>
          <a:bodyPr wrap="square" lIns="0" tIns="0" rIns="0" bIns="0" rtlCol="0" anchor="ctr"/>
          <a:lstStyle/>
          <a:p>
            <a:pPr marL="0" indent="0">
              <a:buNone/>
            </a:pPr>
            <a:r>
              <a:rPr lang="en-US" sz="3400" b="1" dirty="0">
                <a:solidFill>
                  <a:srgbClr val="E09A2B"/>
                </a:solidFill>
                <a:latin typeface="Arial" pitchFamily="34" charset="0"/>
                <a:ea typeface="Arial" pitchFamily="34" charset="-122"/>
                <a:cs typeface="Arial" pitchFamily="34" charset="-120"/>
              </a:rPr>
              <a:t>1,117</a:t>
            </a:r>
            <a:endParaRPr lang="en-US" sz="3400" dirty="0"/>
          </a:p>
        </p:txBody>
      </p:sp>
      <p:sp>
        <p:nvSpPr>
          <p:cNvPr id="11" name="Text 9"/>
          <p:cNvSpPr txBox="1"/>
          <p:nvPr/>
        </p:nvSpPr>
        <p:spPr>
          <a:xfrm>
            <a:off x="5084064" y="2057400"/>
            <a:ext cx="1371600" cy="274320"/>
          </a:xfrm>
          <a:prstGeom prst="rect">
            <a:avLst/>
          </a:prstGeom>
          <a:noFill/>
          <a:ln/>
        </p:spPr>
        <p:txBody>
          <a:bodyPr wrap="square" lIns="0" tIns="0" rIns="0" bIns="0" rtlCol="0" anchor="ctr"/>
          <a:lstStyle/>
          <a:p>
            <a:pPr marL="0" indent="0">
              <a:buNone/>
            </a:pPr>
            <a:r>
              <a:rPr lang="en-US" sz="1150" dirty="0">
                <a:solidFill>
                  <a:srgbClr val="4A5A69"/>
                </a:solidFill>
                <a:latin typeface="Calibri" pitchFamily="34" charset="0"/>
                <a:ea typeface="Calibri" pitchFamily="34" charset="-122"/>
                <a:cs typeface="Calibri" pitchFamily="34" charset="-120"/>
              </a:rPr>
              <a:t>manual pages</a:t>
            </a:r>
            <a:endParaRPr lang="en-US" sz="1150" dirty="0"/>
          </a:p>
        </p:txBody>
      </p:sp>
      <p:sp>
        <p:nvSpPr>
          <p:cNvPr id="12" name="Shape 10"/>
          <p:cNvSpPr/>
          <p:nvPr/>
        </p:nvSpPr>
        <p:spPr>
          <a:xfrm>
            <a:off x="640080" y="2606040"/>
            <a:ext cx="5486400" cy="3200400"/>
          </a:xfrm>
          <a:prstGeom prst="roundRect">
            <a:avLst>
              <a:gd name="adj" fmla="val 1714"/>
            </a:avLst>
          </a:prstGeom>
          <a:solidFill>
            <a:srgbClr val="EEF2F6"/>
          </a:solidFill>
          <a:ln w="12700">
            <a:solidFill>
              <a:srgbClr val="D6DEE6"/>
            </a:solidFill>
            <a:prstDash val="solid"/>
          </a:ln>
        </p:spPr>
        <p:txBody>
          <a:bodyPr/>
          <a:lstStyle/>
          <a:p>
            <a:endParaRPr lang="en-TR"/>
          </a:p>
        </p:txBody>
      </p:sp>
      <p:sp>
        <p:nvSpPr>
          <p:cNvPr id="13" name="Text 11"/>
          <p:cNvSpPr txBox="1"/>
          <p:nvPr/>
        </p:nvSpPr>
        <p:spPr>
          <a:xfrm>
            <a:off x="914400" y="2788920"/>
            <a:ext cx="4937760" cy="292608"/>
          </a:xfrm>
          <a:prstGeom prst="rect">
            <a:avLst/>
          </a:prstGeom>
          <a:noFill/>
          <a:ln/>
        </p:spPr>
        <p:txBody>
          <a:bodyPr wrap="square" lIns="0" tIns="0" rIns="0" bIns="0" rtlCol="0" anchor="t"/>
          <a:lstStyle/>
          <a:p>
            <a:pPr marL="0" indent="0">
              <a:buNone/>
            </a:pPr>
            <a:r>
              <a:rPr lang="en-US" sz="1500" b="1" dirty="0">
                <a:solidFill>
                  <a:srgbClr val="132030"/>
                </a:solidFill>
                <a:latin typeface="Arial" pitchFamily="34" charset="0"/>
                <a:ea typeface="Arial" pitchFamily="34" charset="-122"/>
                <a:cs typeface="Arial" pitchFamily="34" charset="-120"/>
              </a:rPr>
              <a:t>Structured  ·  12 sheets</a:t>
            </a:r>
            <a:endParaRPr lang="en-US" sz="1500" dirty="0"/>
          </a:p>
        </p:txBody>
      </p:sp>
      <p:sp>
        <p:nvSpPr>
          <p:cNvPr id="14" name="Text 12"/>
          <p:cNvSpPr txBox="1"/>
          <p:nvPr/>
        </p:nvSpPr>
        <p:spPr>
          <a:xfrm>
            <a:off x="914400" y="3154680"/>
            <a:ext cx="4937760" cy="1005840"/>
          </a:xfrm>
          <a:prstGeom prst="rect">
            <a:avLst/>
          </a:prstGeom>
          <a:noFill/>
          <a:ln/>
        </p:spPr>
        <p:txBody>
          <a:bodyPr wrap="square" lIns="0" tIns="0" rIns="0" bIns="0" rtlCol="0" anchor="t"/>
          <a:lstStyle/>
          <a:p>
            <a:pPr marL="0" indent="0">
              <a:lnSpc>
                <a:spcPts val="1800"/>
              </a:lnSpc>
              <a:buNone/>
            </a:pPr>
            <a:r>
              <a:rPr lang="en-US" sz="1250" dirty="0">
                <a:solidFill>
                  <a:srgbClr val="4A5A69"/>
                </a:solidFill>
                <a:latin typeface="Calibri" pitchFamily="34" charset="0"/>
                <a:ea typeface="Calibri" pitchFamily="34" charset="-122"/>
                <a:cs typeface="Calibri" pitchFamily="34" charset="-120"/>
              </a:rPr>
              <a:t>Companies, Users, MachineModels, Machines</a:t>
            </a:r>
            <a:endParaRPr lang="en-US" sz="1250" dirty="0"/>
          </a:p>
          <a:p>
            <a:pPr marL="0" indent="0">
              <a:lnSpc>
                <a:spcPts val="1800"/>
              </a:lnSpc>
              <a:buNone/>
            </a:pPr>
            <a:r>
              <a:rPr lang="en-US" sz="1250" dirty="0">
                <a:solidFill>
                  <a:srgbClr val="4A5A69"/>
                </a:solidFill>
                <a:latin typeface="Calibri" pitchFamily="34" charset="0"/>
                <a:ea typeface="Calibri" pitchFamily="34" charset="-122"/>
                <a:cs typeface="Calibri" pitchFamily="34" charset="-120"/>
              </a:rPr>
              <a:t>Quotes, QuoteRevisions, QuoteLines, Orders, OrderLines</a:t>
            </a:r>
            <a:endParaRPr lang="en-US" sz="1250" dirty="0"/>
          </a:p>
          <a:p>
            <a:pPr marL="0" indent="0">
              <a:lnSpc>
                <a:spcPts val="1800"/>
              </a:lnSpc>
              <a:buNone/>
            </a:pPr>
            <a:r>
              <a:rPr lang="en-US" sz="1250" dirty="0">
                <a:solidFill>
                  <a:srgbClr val="4A5A69"/>
                </a:solidFill>
                <a:latin typeface="Calibri" pitchFamily="34" charset="0"/>
                <a:ea typeface="Calibri" pitchFamily="34" charset="-122"/>
                <a:cs typeface="Calibri" pitchFamily="34" charset="-120"/>
              </a:rPr>
              <a:t>TelemetrySnapshots (hourly), Alarms, MaintenanceTickets</a:t>
            </a:r>
            <a:endParaRPr lang="en-US" sz="1250" dirty="0"/>
          </a:p>
        </p:txBody>
      </p:sp>
      <p:sp>
        <p:nvSpPr>
          <p:cNvPr id="15" name="Text 13"/>
          <p:cNvSpPr txBox="1"/>
          <p:nvPr/>
        </p:nvSpPr>
        <p:spPr>
          <a:xfrm>
            <a:off x="914400" y="4206240"/>
            <a:ext cx="4937760" cy="1371600"/>
          </a:xfrm>
          <a:prstGeom prst="rect">
            <a:avLst/>
          </a:prstGeom>
          <a:noFill/>
          <a:ln/>
        </p:spPr>
        <p:txBody>
          <a:bodyPr wrap="square" lIns="0" tIns="0" rIns="0" bIns="0" rtlCol="0" anchor="t"/>
          <a:lstStyle/>
          <a:p>
            <a:pPr marL="0" indent="0">
              <a:lnSpc>
                <a:spcPts val="1700"/>
              </a:lnSpc>
              <a:buNone/>
            </a:pPr>
            <a:r>
              <a:rPr lang="en-US" sz="1200" dirty="0">
                <a:solidFill>
                  <a:srgbClr val="7C8B99"/>
                </a:solidFill>
                <a:latin typeface="Calibri" pitchFamily="34" charset="0"/>
                <a:ea typeface="Calibri" pitchFamily="34" charset="-122"/>
                <a:cs typeface="Calibri" pitchFamily="34" charset="-120"/>
              </a:rPr>
              <a:t>Conventions that are easy to get wrong:</a:t>
            </a:r>
            <a:endParaRPr lang="en-US" sz="1200" dirty="0"/>
          </a:p>
          <a:p>
            <a:pPr marL="0" indent="0">
              <a:lnSpc>
                <a:spcPts val="1700"/>
              </a:lnSpc>
              <a:buNone/>
            </a:pPr>
            <a:r>
              <a:rPr lang="en-US" sz="1200" dirty="0">
                <a:solidFill>
                  <a:srgbClr val="7C8B99"/>
                </a:solidFill>
                <a:latin typeface="Calibri" pitchFamily="34" charset="0"/>
                <a:ea typeface="Calibri" pitchFamily="34" charset="-122"/>
                <a:cs typeface="Calibri" pitchFamily="34" charset="-120"/>
              </a:rPr>
              <a:t>•  a quotation's status lives on its highest revision</a:t>
            </a:r>
            <a:endParaRPr lang="en-US" sz="1200" dirty="0"/>
          </a:p>
          <a:p>
            <a:pPr marL="0" indent="0">
              <a:lnSpc>
                <a:spcPts val="1700"/>
              </a:lnSpc>
              <a:buNone/>
            </a:pPr>
            <a:r>
              <a:rPr lang="en-US" sz="1200" dirty="0">
                <a:solidFill>
                  <a:srgbClr val="7C8B99"/>
                </a:solidFill>
                <a:latin typeface="Calibri" pitchFamily="34" charset="0"/>
                <a:ea typeface="Calibri" pitchFamily="34" charset="-122"/>
                <a:cs typeface="Calibri" pitchFamily="34" charset="-120"/>
              </a:rPr>
              <a:t>•  quote line prices are already net of the discount</a:t>
            </a:r>
            <a:endParaRPr lang="en-US" sz="1200" dirty="0"/>
          </a:p>
          <a:p>
            <a:pPr marL="0" indent="0">
              <a:lnSpc>
                <a:spcPts val="1700"/>
              </a:lnSpc>
              <a:buNone/>
            </a:pPr>
            <a:r>
              <a:rPr lang="en-US" sz="1200" dirty="0">
                <a:solidFill>
                  <a:srgbClr val="7C8B99"/>
                </a:solidFill>
                <a:latin typeface="Calibri" pitchFamily="34" charset="0"/>
                <a:ea typeface="Calibri" pitchFamily="34" charset="-122"/>
                <a:cs typeface="Calibri" pitchFamily="34" charset="-120"/>
              </a:rPr>
              <a:t>•  order lines carry fulfilment only, never content</a:t>
            </a:r>
            <a:endParaRPr lang="en-US" sz="1200" dirty="0"/>
          </a:p>
          <a:p>
            <a:pPr marL="0" indent="0">
              <a:lnSpc>
                <a:spcPts val="1700"/>
              </a:lnSpc>
              <a:buNone/>
            </a:pPr>
            <a:r>
              <a:rPr lang="en-US" sz="1200" dirty="0">
                <a:solidFill>
                  <a:srgbClr val="7C8B99"/>
                </a:solidFill>
                <a:latin typeface="Calibri" pitchFamily="34" charset="0"/>
                <a:ea typeface="Calibri" pitchFamily="34" charset="-122"/>
                <a:cs typeface="Calibri" pitchFamily="34" charset="-120"/>
              </a:rPr>
              <a:t>•  some foreign keys are empty in the dataset</a:t>
            </a:r>
            <a:endParaRPr lang="en-US" sz="1200" dirty="0"/>
          </a:p>
        </p:txBody>
      </p:sp>
      <p:sp>
        <p:nvSpPr>
          <p:cNvPr id="16" name="Shape 14"/>
          <p:cNvSpPr/>
          <p:nvPr/>
        </p:nvSpPr>
        <p:spPr>
          <a:xfrm>
            <a:off x="6446520" y="2606040"/>
            <a:ext cx="5102352" cy="3200400"/>
          </a:xfrm>
          <a:prstGeom prst="roundRect">
            <a:avLst>
              <a:gd name="adj" fmla="val 1714"/>
            </a:avLst>
          </a:prstGeom>
          <a:solidFill>
            <a:srgbClr val="EEF2F6"/>
          </a:solidFill>
          <a:ln w="12700">
            <a:solidFill>
              <a:srgbClr val="D6DEE6"/>
            </a:solidFill>
            <a:prstDash val="solid"/>
          </a:ln>
        </p:spPr>
        <p:txBody>
          <a:bodyPr/>
          <a:lstStyle/>
          <a:p>
            <a:endParaRPr lang="en-TR"/>
          </a:p>
        </p:txBody>
      </p:sp>
      <p:sp>
        <p:nvSpPr>
          <p:cNvPr id="17" name="Text 15"/>
          <p:cNvSpPr txBox="1"/>
          <p:nvPr/>
        </p:nvSpPr>
        <p:spPr>
          <a:xfrm>
            <a:off x="6720840" y="2788920"/>
            <a:ext cx="4572000" cy="292608"/>
          </a:xfrm>
          <a:prstGeom prst="rect">
            <a:avLst/>
          </a:prstGeom>
          <a:noFill/>
          <a:ln/>
        </p:spPr>
        <p:txBody>
          <a:bodyPr wrap="square" lIns="0" tIns="0" rIns="0" bIns="0" rtlCol="0" anchor="t"/>
          <a:lstStyle/>
          <a:p>
            <a:pPr marL="0" indent="0">
              <a:buNone/>
            </a:pPr>
            <a:r>
              <a:rPr lang="en-US" sz="1500" b="1" dirty="0">
                <a:solidFill>
                  <a:srgbClr val="132030"/>
                </a:solidFill>
                <a:latin typeface="Arial" pitchFamily="34" charset="0"/>
                <a:ea typeface="Arial" pitchFamily="34" charset="-122"/>
                <a:cs typeface="Arial" pitchFamily="34" charset="-120"/>
              </a:rPr>
              <a:t>Unstructured  ·  8 manuals</a:t>
            </a:r>
            <a:endParaRPr lang="en-US" sz="1500" dirty="0"/>
          </a:p>
        </p:txBody>
      </p:sp>
      <p:sp>
        <p:nvSpPr>
          <p:cNvPr id="18" name="Text 16"/>
          <p:cNvSpPr txBox="1"/>
          <p:nvPr/>
        </p:nvSpPr>
        <p:spPr>
          <a:xfrm>
            <a:off x="6720840" y="3154680"/>
            <a:ext cx="4572000" cy="640080"/>
          </a:xfrm>
          <a:prstGeom prst="rect">
            <a:avLst/>
          </a:prstGeom>
          <a:noFill/>
          <a:ln/>
        </p:spPr>
        <p:txBody>
          <a:bodyPr wrap="square" lIns="0" tIns="0" rIns="0" bIns="0" rtlCol="0" anchor="t"/>
          <a:lstStyle/>
          <a:p>
            <a:pPr marL="0" indent="0">
              <a:lnSpc>
                <a:spcPts val="1800"/>
              </a:lnSpc>
              <a:buNone/>
            </a:pPr>
            <a:r>
              <a:rPr lang="en-US" sz="1250" dirty="0">
                <a:solidFill>
                  <a:srgbClr val="4A5A69"/>
                </a:solidFill>
                <a:latin typeface="Calibri" pitchFamily="34" charset="0"/>
                <a:ea typeface="Calibri" pitchFamily="34" charset="-122"/>
                <a:cs typeface="Calibri" pitchFamily="34" charset="-120"/>
              </a:rPr>
              <a:t>One use-and-maintenance manual per machine, 81 to 248</a:t>
            </a:r>
            <a:endParaRPr lang="en-US" sz="1250" dirty="0"/>
          </a:p>
          <a:p>
            <a:pPr marL="0" indent="0">
              <a:lnSpc>
                <a:spcPts val="1800"/>
              </a:lnSpc>
              <a:buNone/>
            </a:pPr>
            <a:r>
              <a:rPr lang="en-US" sz="1250" dirty="0">
                <a:solidFill>
                  <a:srgbClr val="4A5A69"/>
                </a:solidFill>
                <a:latin typeface="Calibri" pitchFamily="34" charset="0"/>
                <a:ea typeface="Calibri" pitchFamily="34" charset="-122"/>
                <a:cs typeface="Calibri" pitchFamily="34" charset="-120"/>
              </a:rPr>
              <a:t>pages each, joined to the fleet by serial number.</a:t>
            </a:r>
            <a:endParaRPr lang="en-US" sz="1250" dirty="0"/>
          </a:p>
        </p:txBody>
      </p:sp>
      <p:sp>
        <p:nvSpPr>
          <p:cNvPr id="19" name="Shape 17"/>
          <p:cNvSpPr/>
          <p:nvPr/>
        </p:nvSpPr>
        <p:spPr>
          <a:xfrm>
            <a:off x="6720840" y="3840480"/>
            <a:ext cx="4572000" cy="960120"/>
          </a:xfrm>
          <a:prstGeom prst="roundRect">
            <a:avLst>
              <a:gd name="adj" fmla="val 5714"/>
            </a:avLst>
          </a:prstGeom>
          <a:solidFill>
            <a:srgbClr val="FBF3E4"/>
          </a:solidFill>
          <a:ln w="12700">
            <a:solidFill>
              <a:srgbClr val="D6DEE6"/>
            </a:solidFill>
            <a:prstDash val="solid"/>
          </a:ln>
        </p:spPr>
        <p:txBody>
          <a:bodyPr/>
          <a:lstStyle/>
          <a:p>
            <a:endParaRPr lang="en-TR"/>
          </a:p>
        </p:txBody>
      </p:sp>
      <p:sp>
        <p:nvSpPr>
          <p:cNvPr id="20" name="Text 18"/>
          <p:cNvSpPr txBox="1"/>
          <p:nvPr/>
        </p:nvSpPr>
        <p:spPr>
          <a:xfrm>
            <a:off x="6903720" y="3977640"/>
            <a:ext cx="4251960" cy="777240"/>
          </a:xfrm>
          <a:prstGeom prst="rect">
            <a:avLst/>
          </a:prstGeom>
          <a:noFill/>
          <a:ln/>
        </p:spPr>
        <p:txBody>
          <a:bodyPr wrap="square" lIns="0" tIns="0" rIns="0" bIns="0" rtlCol="0" anchor="t"/>
          <a:lstStyle/>
          <a:p>
            <a:pPr marL="0" indent="0">
              <a:lnSpc>
                <a:spcPts val="1600"/>
              </a:lnSpc>
              <a:buNone/>
            </a:pPr>
            <a:r>
              <a:rPr lang="en-US" sz="1200" dirty="0">
                <a:solidFill>
                  <a:srgbClr val="1D3145"/>
                </a:solidFill>
                <a:latin typeface="Calibri" pitchFamily="34" charset="0"/>
                <a:ea typeface="Calibri" pitchFamily="34" charset="-122"/>
                <a:cs typeface="Calibri" pitchFamily="34" charset="-120"/>
              </a:rPr>
              <a:t>Manuals are per machine, not per model. Two machines of</a:t>
            </a:r>
            <a:endParaRPr lang="en-US" sz="1200" dirty="0"/>
          </a:p>
          <a:p>
            <a:pPr marL="0" indent="0">
              <a:lnSpc>
                <a:spcPts val="1600"/>
              </a:lnSpc>
              <a:buNone/>
            </a:pPr>
            <a:r>
              <a:rPr lang="en-US" sz="1200" dirty="0">
                <a:solidFill>
                  <a:srgbClr val="1D3145"/>
                </a:solidFill>
                <a:latin typeface="Calibri" pitchFamily="34" charset="0"/>
                <a:ea typeface="Calibri" pitchFamily="34" charset="-122"/>
                <a:cs typeface="Calibri" pitchFamily="34" charset="-120"/>
              </a:rPr>
              <a:t>the same model have different manuals, and different</a:t>
            </a:r>
            <a:endParaRPr lang="en-US" sz="1200" dirty="0"/>
          </a:p>
          <a:p>
            <a:pPr marL="0" indent="0">
              <a:lnSpc>
                <a:spcPts val="1600"/>
              </a:lnSpc>
              <a:buNone/>
            </a:pPr>
            <a:r>
              <a:rPr lang="en-US" sz="1200" dirty="0">
                <a:solidFill>
                  <a:srgbClr val="1D3145"/>
                </a:solidFill>
                <a:latin typeface="Calibri" pitchFamily="34" charset="0"/>
                <a:ea typeface="Calibri" pitchFamily="34" charset="-122"/>
                <a:cs typeface="Calibri" pitchFamily="34" charset="-120"/>
              </a:rPr>
              <a:t>nominal rates, voltages and head types.</a:t>
            </a:r>
            <a:endParaRPr lang="en-US" sz="1200" dirty="0"/>
          </a:p>
        </p:txBody>
      </p:sp>
      <p:sp>
        <p:nvSpPr>
          <p:cNvPr id="21" name="Text 19"/>
          <p:cNvSpPr txBox="1"/>
          <p:nvPr/>
        </p:nvSpPr>
        <p:spPr>
          <a:xfrm>
            <a:off x="6720840" y="4983480"/>
            <a:ext cx="4572000" cy="548640"/>
          </a:xfrm>
          <a:prstGeom prst="rect">
            <a:avLst/>
          </a:prstGeom>
          <a:noFill/>
          <a:ln/>
        </p:spPr>
        <p:txBody>
          <a:bodyPr wrap="square" lIns="0" tIns="0" rIns="0" bIns="0" rtlCol="0" anchor="t"/>
          <a:lstStyle/>
          <a:p>
            <a:pPr marL="0" indent="0">
              <a:lnSpc>
                <a:spcPts val="1600"/>
              </a:lnSpc>
              <a:buNone/>
            </a:pPr>
            <a:r>
              <a:rPr lang="en-US" sz="1200" dirty="0">
                <a:solidFill>
                  <a:srgbClr val="7C8B99"/>
                </a:solidFill>
                <a:latin typeface="Calibri" pitchFamily="34" charset="0"/>
                <a:ea typeface="Calibri" pitchFamily="34" charset="-122"/>
                <a:cs typeface="Calibri" pitchFamily="34" charset="-120"/>
              </a:rPr>
              <a:t>Reference date: the dataset is a snapshot, so 2026-08-05 is "today" everywhere in the system.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566928"/>
          </a:xfrm>
          <a:prstGeom prst="rect">
            <a:avLst/>
          </a:prstGeom>
          <a:noFill/>
          <a:ln/>
        </p:spPr>
        <p:txBody>
          <a:bodyPr wrap="square" lIns="0" tIns="0" rIns="0" bIns="0" rtlCol="0" anchor="t"/>
          <a:lstStyle/>
          <a:p>
            <a:pPr marL="0" indent="0">
              <a:buNone/>
            </a:pPr>
            <a:r>
              <a:rPr lang="en-US" sz="3200" b="1" dirty="0">
                <a:solidFill>
                  <a:srgbClr val="132030"/>
                </a:solidFill>
                <a:latin typeface="Arial" pitchFamily="34" charset="0"/>
                <a:ea typeface="Arial" pitchFamily="34" charset="-122"/>
                <a:cs typeface="Arial" pitchFamily="34" charset="-120"/>
              </a:rPr>
              <a:t>The access model</a:t>
            </a:r>
            <a:endParaRPr lang="en-US" sz="3200" dirty="0"/>
          </a:p>
        </p:txBody>
      </p:sp>
      <p:sp>
        <p:nvSpPr>
          <p:cNvPr id="3" name="Text 1"/>
          <p:cNvSpPr txBox="1"/>
          <p:nvPr/>
        </p:nvSpPr>
        <p:spPr>
          <a:xfrm>
            <a:off x="640080" y="969264"/>
            <a:ext cx="10908792" cy="310896"/>
          </a:xfrm>
          <a:prstGeom prst="rect">
            <a:avLst/>
          </a:prstGeom>
          <a:noFill/>
          <a:ln/>
        </p:spPr>
        <p:txBody>
          <a:bodyPr wrap="square" lIns="0" tIns="0" rIns="0" bIns="0" rtlCol="0" anchor="t"/>
          <a:lstStyle/>
          <a:p>
            <a:pPr marL="0" indent="0">
              <a:buNone/>
            </a:pPr>
            <a:r>
              <a:rPr lang="en-US" sz="1400" dirty="0">
                <a:solidFill>
                  <a:srgbClr val="4A5A69"/>
                </a:solidFill>
                <a:latin typeface="Calibri" pitchFamily="34" charset="0"/>
                <a:ea typeface="Calibri" pitchFamily="34" charset="-122"/>
                <a:cs typeface="Calibri" pitchFamily="34" charset="-120"/>
              </a:rPr>
              <a:t>Two independent checks. Both must pass before any data is returned.</a:t>
            </a:r>
            <a:endParaRPr lang="en-US" sz="1400" dirty="0"/>
          </a:p>
        </p:txBody>
      </p:sp>
      <p:sp>
        <p:nvSpPr>
          <p:cNvPr id="4" name="Shape 2"/>
          <p:cNvSpPr/>
          <p:nvPr/>
        </p:nvSpPr>
        <p:spPr>
          <a:xfrm>
            <a:off x="640080" y="2540132"/>
            <a:ext cx="5029200" cy="1051560"/>
          </a:xfrm>
          <a:prstGeom prst="roundRect">
            <a:avLst>
              <a:gd name="adj" fmla="val 5217"/>
            </a:avLst>
          </a:prstGeom>
          <a:solidFill>
            <a:srgbClr val="EEF2F6"/>
          </a:solidFill>
          <a:ln w="12700">
            <a:solidFill>
              <a:srgbClr val="D6DEE6"/>
            </a:solidFill>
            <a:prstDash val="solid"/>
          </a:ln>
        </p:spPr>
        <p:txBody>
          <a:bodyPr/>
          <a:lstStyle/>
          <a:p>
            <a:endParaRPr lang="en-TR"/>
          </a:p>
        </p:txBody>
      </p:sp>
      <p:sp>
        <p:nvSpPr>
          <p:cNvPr id="5" name="Shape 3"/>
          <p:cNvSpPr/>
          <p:nvPr/>
        </p:nvSpPr>
        <p:spPr>
          <a:xfrm>
            <a:off x="896112" y="2768732"/>
            <a:ext cx="347472" cy="347472"/>
          </a:xfrm>
          <a:prstGeom prst="ellipse">
            <a:avLst/>
          </a:prstGeom>
          <a:solidFill>
            <a:srgbClr val="132030"/>
          </a:solidFill>
          <a:ln w="12700">
            <a:solidFill>
              <a:srgbClr val="132030"/>
            </a:solidFill>
            <a:prstDash val="solid"/>
          </a:ln>
        </p:spPr>
        <p:txBody>
          <a:bodyPr/>
          <a:lstStyle/>
          <a:p>
            <a:endParaRPr lang="en-TR"/>
          </a:p>
        </p:txBody>
      </p:sp>
      <p:sp>
        <p:nvSpPr>
          <p:cNvPr id="6" name="Text 4"/>
          <p:cNvSpPr txBox="1"/>
          <p:nvPr/>
        </p:nvSpPr>
        <p:spPr>
          <a:xfrm>
            <a:off x="896112" y="2768732"/>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371600" y="2750444"/>
            <a:ext cx="4114800" cy="274320"/>
          </a:xfrm>
          <a:prstGeom prst="rect">
            <a:avLst/>
          </a:prstGeom>
          <a:noFill/>
          <a:ln/>
        </p:spPr>
        <p:txBody>
          <a:bodyPr wrap="square" lIns="0" tIns="0" rIns="0" bIns="0" rtlCol="0" anchor="t"/>
          <a:lstStyle/>
          <a:p>
            <a:pPr marL="0" indent="0">
              <a:buNone/>
            </a:pPr>
            <a:r>
              <a:rPr lang="en-US" sz="1400" b="1" dirty="0">
                <a:solidFill>
                  <a:srgbClr val="132030"/>
                </a:solidFill>
                <a:latin typeface="Arial" pitchFamily="34" charset="0"/>
                <a:ea typeface="Arial" pitchFamily="34" charset="-122"/>
                <a:cs typeface="Arial" pitchFamily="34" charset="-120"/>
              </a:rPr>
              <a:t>companyId: the tenant boundary</a:t>
            </a:r>
            <a:endParaRPr lang="en-US" sz="1400" dirty="0"/>
          </a:p>
        </p:txBody>
      </p:sp>
      <p:sp>
        <p:nvSpPr>
          <p:cNvPr id="8" name="Text 6"/>
          <p:cNvSpPr txBox="1"/>
          <p:nvPr/>
        </p:nvSpPr>
        <p:spPr>
          <a:xfrm>
            <a:off x="1371600" y="3043052"/>
            <a:ext cx="4114800" cy="502920"/>
          </a:xfrm>
          <a:prstGeom prst="rect">
            <a:avLst/>
          </a:prstGeom>
          <a:noFill/>
          <a:ln/>
        </p:spPr>
        <p:txBody>
          <a:bodyPr wrap="square" lIns="0" tIns="0" rIns="0" bIns="0" rtlCol="0" anchor="t"/>
          <a:lstStyle/>
          <a:p>
            <a:pPr marL="0" indent="0">
              <a:lnSpc>
                <a:spcPts val="1600"/>
              </a:lnSpc>
              <a:buNone/>
            </a:pPr>
            <a:r>
              <a:rPr lang="en-US" sz="1250" dirty="0">
                <a:solidFill>
                  <a:srgbClr val="4A5A69"/>
                </a:solidFill>
                <a:latin typeface="Calibri" pitchFamily="34" charset="0"/>
                <a:ea typeface="Calibri" pitchFamily="34" charset="-122"/>
                <a:cs typeface="Calibri" pitchFamily="34" charset="-120"/>
              </a:rPr>
              <a:t>A user only ever reaches rows of their own company.</a:t>
            </a:r>
            <a:endParaRPr lang="en-US" sz="1250" dirty="0"/>
          </a:p>
          <a:p>
            <a:pPr marL="0" indent="0">
              <a:lnSpc>
                <a:spcPts val="1600"/>
              </a:lnSpc>
              <a:buNone/>
            </a:pPr>
            <a:r>
              <a:rPr lang="en-US" sz="1250" dirty="0">
                <a:solidFill>
                  <a:srgbClr val="4A5A69"/>
                </a:solidFill>
                <a:latin typeface="Calibri" pitchFamily="34" charset="0"/>
                <a:ea typeface="Calibri" pitchFamily="34" charset="-122"/>
                <a:cs typeface="Calibri" pitchFamily="34" charset="-120"/>
              </a:rPr>
              <a:t>This is never crossed, at any visibility level.</a:t>
            </a:r>
            <a:endParaRPr lang="en-US" sz="1250" dirty="0"/>
          </a:p>
        </p:txBody>
      </p:sp>
      <p:sp>
        <p:nvSpPr>
          <p:cNvPr id="9" name="Shape 7"/>
          <p:cNvSpPr/>
          <p:nvPr/>
        </p:nvSpPr>
        <p:spPr>
          <a:xfrm>
            <a:off x="640080" y="3728852"/>
            <a:ext cx="5029200" cy="1051560"/>
          </a:xfrm>
          <a:prstGeom prst="roundRect">
            <a:avLst>
              <a:gd name="adj" fmla="val 5217"/>
            </a:avLst>
          </a:prstGeom>
          <a:solidFill>
            <a:srgbClr val="EEF2F6"/>
          </a:solidFill>
          <a:ln w="12700">
            <a:solidFill>
              <a:srgbClr val="D6DEE6"/>
            </a:solidFill>
            <a:prstDash val="solid"/>
          </a:ln>
        </p:spPr>
        <p:txBody>
          <a:bodyPr/>
          <a:lstStyle/>
          <a:p>
            <a:endParaRPr lang="en-TR"/>
          </a:p>
        </p:txBody>
      </p:sp>
      <p:sp>
        <p:nvSpPr>
          <p:cNvPr id="10" name="Shape 8"/>
          <p:cNvSpPr/>
          <p:nvPr/>
        </p:nvSpPr>
        <p:spPr>
          <a:xfrm>
            <a:off x="896112" y="3957452"/>
            <a:ext cx="347472" cy="347472"/>
          </a:xfrm>
          <a:prstGeom prst="ellipse">
            <a:avLst/>
          </a:prstGeom>
          <a:solidFill>
            <a:srgbClr val="E09A2B"/>
          </a:solidFill>
          <a:ln w="12700">
            <a:solidFill>
              <a:srgbClr val="E09A2B"/>
            </a:solidFill>
            <a:prstDash val="solid"/>
          </a:ln>
        </p:spPr>
        <p:txBody>
          <a:bodyPr/>
          <a:lstStyle/>
          <a:p>
            <a:endParaRPr lang="en-TR"/>
          </a:p>
        </p:txBody>
      </p:sp>
      <p:sp>
        <p:nvSpPr>
          <p:cNvPr id="11" name="Text 9"/>
          <p:cNvSpPr txBox="1"/>
          <p:nvPr/>
        </p:nvSpPr>
        <p:spPr>
          <a:xfrm>
            <a:off x="896112" y="3957452"/>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1371600" y="3939164"/>
            <a:ext cx="4114800" cy="274320"/>
          </a:xfrm>
          <a:prstGeom prst="rect">
            <a:avLst/>
          </a:prstGeom>
          <a:noFill/>
          <a:ln/>
        </p:spPr>
        <p:txBody>
          <a:bodyPr wrap="square" lIns="0" tIns="0" rIns="0" bIns="0" rtlCol="0" anchor="t"/>
          <a:lstStyle/>
          <a:p>
            <a:pPr marL="0" indent="0">
              <a:buNone/>
            </a:pPr>
            <a:r>
              <a:rPr lang="en-US" sz="1400" b="1" dirty="0">
                <a:solidFill>
                  <a:srgbClr val="132030"/>
                </a:solidFill>
                <a:latin typeface="Arial" pitchFamily="34" charset="0"/>
                <a:ea typeface="Arial" pitchFamily="34" charset="-122"/>
                <a:cs typeface="Arial" pitchFamily="34" charset="-120"/>
              </a:rPr>
              <a:t>visibility: what kind of data</a:t>
            </a:r>
            <a:endParaRPr lang="en-US" sz="1400" dirty="0"/>
          </a:p>
        </p:txBody>
      </p:sp>
      <p:sp>
        <p:nvSpPr>
          <p:cNvPr id="13" name="Text 11"/>
          <p:cNvSpPr txBox="1"/>
          <p:nvPr/>
        </p:nvSpPr>
        <p:spPr>
          <a:xfrm>
            <a:off x="1371600" y="4231772"/>
            <a:ext cx="4114800" cy="502920"/>
          </a:xfrm>
          <a:prstGeom prst="rect">
            <a:avLst/>
          </a:prstGeom>
          <a:noFill/>
          <a:ln/>
        </p:spPr>
        <p:txBody>
          <a:bodyPr wrap="square" lIns="0" tIns="0" rIns="0" bIns="0" rtlCol="0" anchor="t"/>
          <a:lstStyle/>
          <a:p>
            <a:pPr marL="0" indent="0">
              <a:lnSpc>
                <a:spcPts val="1600"/>
              </a:lnSpc>
              <a:buNone/>
            </a:pPr>
            <a:r>
              <a:rPr lang="en-US" sz="1250" dirty="0">
                <a:solidFill>
                  <a:srgbClr val="4A5A69"/>
                </a:solidFill>
                <a:latin typeface="Calibri" pitchFamily="34" charset="0"/>
                <a:ea typeface="Calibri" pitchFamily="34" charset="-122"/>
                <a:cs typeface="Calibri" pitchFamily="34" charset="-120"/>
              </a:rPr>
              <a:t>Narrows which of the three data domains the user</a:t>
            </a:r>
            <a:endParaRPr lang="en-US" sz="1250" dirty="0"/>
          </a:p>
          <a:p>
            <a:pPr marL="0" indent="0">
              <a:lnSpc>
                <a:spcPts val="1600"/>
              </a:lnSpc>
              <a:buNone/>
            </a:pPr>
            <a:r>
              <a:rPr lang="en-US" sz="1250" dirty="0">
                <a:solidFill>
                  <a:srgbClr val="4A5A69"/>
                </a:solidFill>
                <a:latin typeface="Calibri" pitchFamily="34" charset="0"/>
                <a:ea typeface="Calibri" pitchFamily="34" charset="-122"/>
                <a:cs typeface="Calibri" pitchFamily="34" charset="-120"/>
              </a:rPr>
              <a:t>may read inside their own company.</a:t>
            </a:r>
            <a:endParaRPr lang="en-US" sz="1250" dirty="0"/>
          </a:p>
        </p:txBody>
      </p:sp>
      <p:sp>
        <p:nvSpPr>
          <p:cNvPr id="14" name="Shape 12"/>
          <p:cNvSpPr/>
          <p:nvPr/>
        </p:nvSpPr>
        <p:spPr>
          <a:xfrm>
            <a:off x="6035040" y="2540132"/>
            <a:ext cx="2103120" cy="658368"/>
          </a:xfrm>
          <a:prstGeom prst="rect">
            <a:avLst/>
          </a:prstGeom>
          <a:solidFill>
            <a:srgbClr val="132030"/>
          </a:solidFill>
          <a:ln w="12700">
            <a:solidFill>
              <a:srgbClr val="D6DEE6"/>
            </a:solidFill>
            <a:prstDash val="solid"/>
          </a:ln>
        </p:spPr>
        <p:txBody>
          <a:bodyPr/>
          <a:lstStyle/>
          <a:p>
            <a:endParaRPr lang="en-TR"/>
          </a:p>
        </p:txBody>
      </p:sp>
      <p:sp>
        <p:nvSpPr>
          <p:cNvPr id="15" name="Text 13"/>
          <p:cNvSpPr txBox="1"/>
          <p:nvPr/>
        </p:nvSpPr>
        <p:spPr>
          <a:xfrm>
            <a:off x="6035040" y="2540132"/>
            <a:ext cx="2103120" cy="658368"/>
          </a:xfrm>
          <a:prstGeom prst="rect">
            <a:avLst/>
          </a:prstGeom>
          <a:noFill/>
          <a:ln/>
        </p:spPr>
        <p:txBody>
          <a:bodyPr wrap="square" lIns="1524" tIns="1524" rIns="1524" bIns="1524"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visibility</a:t>
            </a:r>
            <a:endParaRPr lang="en-US" sz="1150" dirty="0"/>
          </a:p>
        </p:txBody>
      </p:sp>
      <p:sp>
        <p:nvSpPr>
          <p:cNvPr id="16" name="Shape 14"/>
          <p:cNvSpPr/>
          <p:nvPr/>
        </p:nvSpPr>
        <p:spPr>
          <a:xfrm>
            <a:off x="8138160" y="2540132"/>
            <a:ext cx="1188720" cy="658368"/>
          </a:xfrm>
          <a:prstGeom prst="rect">
            <a:avLst/>
          </a:prstGeom>
          <a:solidFill>
            <a:srgbClr val="132030"/>
          </a:solidFill>
          <a:ln w="12700">
            <a:solidFill>
              <a:srgbClr val="D6DEE6"/>
            </a:solidFill>
            <a:prstDash val="solid"/>
          </a:ln>
        </p:spPr>
        <p:txBody>
          <a:bodyPr/>
          <a:lstStyle/>
          <a:p>
            <a:endParaRPr lang="en-TR"/>
          </a:p>
        </p:txBody>
      </p:sp>
      <p:sp>
        <p:nvSpPr>
          <p:cNvPr id="17" name="Text 15"/>
          <p:cNvSpPr txBox="1"/>
          <p:nvPr/>
        </p:nvSpPr>
        <p:spPr>
          <a:xfrm>
            <a:off x="8138160" y="2540132"/>
            <a:ext cx="1188720" cy="65836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machines</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&amp; manuals</a:t>
            </a:r>
            <a:endParaRPr lang="en-US" sz="1150" dirty="0"/>
          </a:p>
        </p:txBody>
      </p:sp>
      <p:sp>
        <p:nvSpPr>
          <p:cNvPr id="18" name="Shape 16"/>
          <p:cNvSpPr/>
          <p:nvPr/>
        </p:nvSpPr>
        <p:spPr>
          <a:xfrm>
            <a:off x="9326880" y="2540132"/>
            <a:ext cx="1188720" cy="658368"/>
          </a:xfrm>
          <a:prstGeom prst="rect">
            <a:avLst/>
          </a:prstGeom>
          <a:solidFill>
            <a:srgbClr val="132030"/>
          </a:solidFill>
          <a:ln w="12700">
            <a:solidFill>
              <a:srgbClr val="D6DEE6"/>
            </a:solidFill>
            <a:prstDash val="solid"/>
          </a:ln>
        </p:spPr>
        <p:txBody>
          <a:bodyPr/>
          <a:lstStyle/>
          <a:p>
            <a:endParaRPr lang="en-TR"/>
          </a:p>
        </p:txBody>
      </p:sp>
      <p:sp>
        <p:nvSpPr>
          <p:cNvPr id="19" name="Text 17"/>
          <p:cNvSpPr txBox="1"/>
          <p:nvPr/>
        </p:nvSpPr>
        <p:spPr>
          <a:xfrm>
            <a:off x="9326880" y="2540132"/>
            <a:ext cx="1188720" cy="65836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telemetry</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&amp; alarms</a:t>
            </a:r>
            <a:endParaRPr lang="en-US" sz="1150" dirty="0"/>
          </a:p>
        </p:txBody>
      </p:sp>
      <p:sp>
        <p:nvSpPr>
          <p:cNvPr id="20" name="Shape 18"/>
          <p:cNvSpPr/>
          <p:nvPr/>
        </p:nvSpPr>
        <p:spPr>
          <a:xfrm>
            <a:off x="10515600" y="2540132"/>
            <a:ext cx="1033272" cy="658368"/>
          </a:xfrm>
          <a:prstGeom prst="rect">
            <a:avLst/>
          </a:prstGeom>
          <a:solidFill>
            <a:srgbClr val="132030"/>
          </a:solidFill>
          <a:ln w="12700">
            <a:solidFill>
              <a:srgbClr val="D6DEE6"/>
            </a:solidFill>
            <a:prstDash val="solid"/>
          </a:ln>
        </p:spPr>
        <p:txBody>
          <a:bodyPr/>
          <a:lstStyle/>
          <a:p>
            <a:endParaRPr lang="en-TR"/>
          </a:p>
        </p:txBody>
      </p:sp>
      <p:sp>
        <p:nvSpPr>
          <p:cNvPr id="21" name="Text 19"/>
          <p:cNvSpPr txBox="1"/>
          <p:nvPr/>
        </p:nvSpPr>
        <p:spPr>
          <a:xfrm>
            <a:off x="10515600" y="2540132"/>
            <a:ext cx="1033272" cy="65836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quotes</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&amp; orders</a:t>
            </a:r>
            <a:endParaRPr lang="en-US" sz="1150" dirty="0"/>
          </a:p>
        </p:txBody>
      </p:sp>
      <p:sp>
        <p:nvSpPr>
          <p:cNvPr id="22" name="Shape 20"/>
          <p:cNvSpPr/>
          <p:nvPr/>
        </p:nvSpPr>
        <p:spPr>
          <a:xfrm>
            <a:off x="6035040" y="3198500"/>
            <a:ext cx="2103120" cy="566928"/>
          </a:xfrm>
          <a:prstGeom prst="rect">
            <a:avLst/>
          </a:prstGeom>
          <a:solidFill>
            <a:srgbClr val="FFFFFF"/>
          </a:solidFill>
          <a:ln w="12700">
            <a:solidFill>
              <a:srgbClr val="D6DEE6"/>
            </a:solidFill>
            <a:prstDash val="solid"/>
          </a:ln>
        </p:spPr>
        <p:txBody>
          <a:bodyPr/>
          <a:lstStyle/>
          <a:p>
            <a:endParaRPr lang="en-TR"/>
          </a:p>
        </p:txBody>
      </p:sp>
      <p:sp>
        <p:nvSpPr>
          <p:cNvPr id="23" name="Text 21"/>
          <p:cNvSpPr txBox="1"/>
          <p:nvPr/>
        </p:nvSpPr>
        <p:spPr>
          <a:xfrm>
            <a:off x="6035040" y="3198500"/>
            <a:ext cx="2103120" cy="566928"/>
          </a:xfrm>
          <a:prstGeom prst="rect">
            <a:avLst/>
          </a:prstGeom>
          <a:noFill/>
          <a:ln/>
        </p:spPr>
        <p:txBody>
          <a:bodyPr wrap="square" lIns="1524" tIns="1524" rIns="1524" bIns="1524" rtlCol="0" anchor="ctr"/>
          <a:lstStyle/>
          <a:p>
            <a:pPr marL="0" indent="0" algn="l">
              <a:buNone/>
            </a:pPr>
            <a:r>
              <a:rPr lang="en-US" sz="1300" b="1" dirty="0">
                <a:solidFill>
                  <a:srgbClr val="132030"/>
                </a:solidFill>
                <a:latin typeface="Calibri" pitchFamily="34" charset="0"/>
                <a:ea typeface="Calibri" pitchFamily="34" charset="-122"/>
                <a:cs typeface="Calibri" pitchFamily="34" charset="-120"/>
              </a:rPr>
              <a:t>full</a:t>
            </a:r>
            <a:endParaRPr lang="en-US" sz="1300" dirty="0"/>
          </a:p>
        </p:txBody>
      </p:sp>
      <p:sp>
        <p:nvSpPr>
          <p:cNvPr id="24" name="Shape 22"/>
          <p:cNvSpPr/>
          <p:nvPr/>
        </p:nvSpPr>
        <p:spPr>
          <a:xfrm>
            <a:off x="8138160" y="3198500"/>
            <a:ext cx="1188720" cy="566928"/>
          </a:xfrm>
          <a:prstGeom prst="rect">
            <a:avLst/>
          </a:prstGeom>
          <a:solidFill>
            <a:srgbClr val="FFFFFF"/>
          </a:solidFill>
          <a:ln w="12700">
            <a:solidFill>
              <a:srgbClr val="D6DEE6"/>
            </a:solidFill>
            <a:prstDash val="solid"/>
          </a:ln>
        </p:spPr>
        <p:txBody>
          <a:bodyPr/>
          <a:lstStyle/>
          <a:p>
            <a:endParaRPr lang="en-TR"/>
          </a:p>
        </p:txBody>
      </p:sp>
      <p:sp>
        <p:nvSpPr>
          <p:cNvPr id="25" name="Text 23"/>
          <p:cNvSpPr txBox="1"/>
          <p:nvPr/>
        </p:nvSpPr>
        <p:spPr>
          <a:xfrm>
            <a:off x="8138160" y="3198500"/>
            <a:ext cx="1188720" cy="566928"/>
          </a:xfrm>
          <a:prstGeom prst="rect">
            <a:avLst/>
          </a:prstGeom>
          <a:noFill/>
          <a:ln/>
        </p:spPr>
        <p:txBody>
          <a:bodyPr wrap="square" lIns="0" tIns="0" rIns="0" bIns="0" rtlCol="0" anchor="ctr"/>
          <a:lstStyle/>
          <a:p>
            <a:pPr marL="0" indent="0" algn="ctr">
              <a:buNone/>
            </a:pPr>
            <a:r>
              <a:rPr lang="en-US" sz="1300" dirty="0">
                <a:solidFill>
                  <a:srgbClr val="132030"/>
                </a:solidFill>
                <a:latin typeface="Calibri" pitchFamily="34" charset="0"/>
                <a:ea typeface="Calibri" pitchFamily="34" charset="-122"/>
                <a:cs typeface="Calibri" pitchFamily="34" charset="-120"/>
              </a:rPr>
              <a:t>yes</a:t>
            </a:r>
            <a:endParaRPr lang="en-US" sz="1300" dirty="0"/>
          </a:p>
        </p:txBody>
      </p:sp>
      <p:sp>
        <p:nvSpPr>
          <p:cNvPr id="26" name="Shape 24"/>
          <p:cNvSpPr/>
          <p:nvPr/>
        </p:nvSpPr>
        <p:spPr>
          <a:xfrm>
            <a:off x="9326880" y="3198500"/>
            <a:ext cx="1188720" cy="566928"/>
          </a:xfrm>
          <a:prstGeom prst="rect">
            <a:avLst/>
          </a:prstGeom>
          <a:solidFill>
            <a:srgbClr val="FFFFFF"/>
          </a:solidFill>
          <a:ln w="12700">
            <a:solidFill>
              <a:srgbClr val="D6DEE6"/>
            </a:solidFill>
            <a:prstDash val="solid"/>
          </a:ln>
        </p:spPr>
        <p:txBody>
          <a:bodyPr/>
          <a:lstStyle/>
          <a:p>
            <a:endParaRPr lang="en-TR"/>
          </a:p>
        </p:txBody>
      </p:sp>
      <p:sp>
        <p:nvSpPr>
          <p:cNvPr id="27" name="Text 25"/>
          <p:cNvSpPr txBox="1"/>
          <p:nvPr/>
        </p:nvSpPr>
        <p:spPr>
          <a:xfrm>
            <a:off x="9326880" y="3198500"/>
            <a:ext cx="1188720" cy="566928"/>
          </a:xfrm>
          <a:prstGeom prst="rect">
            <a:avLst/>
          </a:prstGeom>
          <a:noFill/>
          <a:ln/>
        </p:spPr>
        <p:txBody>
          <a:bodyPr wrap="square" lIns="0" tIns="0" rIns="0" bIns="0" rtlCol="0" anchor="ctr"/>
          <a:lstStyle/>
          <a:p>
            <a:pPr marL="0" indent="0" algn="ctr">
              <a:buNone/>
            </a:pPr>
            <a:r>
              <a:rPr lang="en-US" sz="1300" dirty="0">
                <a:solidFill>
                  <a:srgbClr val="132030"/>
                </a:solidFill>
                <a:latin typeface="Calibri" pitchFamily="34" charset="0"/>
                <a:ea typeface="Calibri" pitchFamily="34" charset="-122"/>
                <a:cs typeface="Calibri" pitchFamily="34" charset="-120"/>
              </a:rPr>
              <a:t>yes</a:t>
            </a:r>
            <a:endParaRPr lang="en-US" sz="1300" dirty="0"/>
          </a:p>
        </p:txBody>
      </p:sp>
      <p:sp>
        <p:nvSpPr>
          <p:cNvPr id="28" name="Shape 26"/>
          <p:cNvSpPr/>
          <p:nvPr/>
        </p:nvSpPr>
        <p:spPr>
          <a:xfrm>
            <a:off x="10515600" y="3198500"/>
            <a:ext cx="1033272" cy="566928"/>
          </a:xfrm>
          <a:prstGeom prst="rect">
            <a:avLst/>
          </a:prstGeom>
          <a:solidFill>
            <a:srgbClr val="FFFFFF"/>
          </a:solidFill>
          <a:ln w="12700">
            <a:solidFill>
              <a:srgbClr val="D6DEE6"/>
            </a:solidFill>
            <a:prstDash val="solid"/>
          </a:ln>
        </p:spPr>
        <p:txBody>
          <a:bodyPr/>
          <a:lstStyle/>
          <a:p>
            <a:endParaRPr lang="en-TR"/>
          </a:p>
        </p:txBody>
      </p:sp>
      <p:sp>
        <p:nvSpPr>
          <p:cNvPr id="29" name="Text 27"/>
          <p:cNvSpPr txBox="1"/>
          <p:nvPr/>
        </p:nvSpPr>
        <p:spPr>
          <a:xfrm>
            <a:off x="10515600" y="3198500"/>
            <a:ext cx="1033272" cy="566928"/>
          </a:xfrm>
          <a:prstGeom prst="rect">
            <a:avLst/>
          </a:prstGeom>
          <a:noFill/>
          <a:ln/>
        </p:spPr>
        <p:txBody>
          <a:bodyPr wrap="square" lIns="0" tIns="0" rIns="0" bIns="0" rtlCol="0" anchor="ctr"/>
          <a:lstStyle/>
          <a:p>
            <a:pPr marL="0" indent="0" algn="ctr">
              <a:buNone/>
            </a:pPr>
            <a:r>
              <a:rPr lang="en-US" sz="1300" dirty="0">
                <a:solidFill>
                  <a:srgbClr val="132030"/>
                </a:solidFill>
                <a:latin typeface="Calibri" pitchFamily="34" charset="0"/>
                <a:ea typeface="Calibri" pitchFamily="34" charset="-122"/>
                <a:cs typeface="Calibri" pitchFamily="34" charset="-120"/>
              </a:rPr>
              <a:t>yes</a:t>
            </a:r>
            <a:endParaRPr lang="en-US" sz="1300" dirty="0"/>
          </a:p>
        </p:txBody>
      </p:sp>
      <p:sp>
        <p:nvSpPr>
          <p:cNvPr id="30" name="Shape 28"/>
          <p:cNvSpPr/>
          <p:nvPr/>
        </p:nvSpPr>
        <p:spPr>
          <a:xfrm>
            <a:off x="6035040" y="3765428"/>
            <a:ext cx="2103120" cy="566928"/>
          </a:xfrm>
          <a:prstGeom prst="rect">
            <a:avLst/>
          </a:prstGeom>
          <a:solidFill>
            <a:srgbClr val="FFFFFF"/>
          </a:solidFill>
          <a:ln w="12700">
            <a:solidFill>
              <a:srgbClr val="D6DEE6"/>
            </a:solidFill>
            <a:prstDash val="solid"/>
          </a:ln>
        </p:spPr>
        <p:txBody>
          <a:bodyPr/>
          <a:lstStyle/>
          <a:p>
            <a:endParaRPr lang="en-TR"/>
          </a:p>
        </p:txBody>
      </p:sp>
      <p:sp>
        <p:nvSpPr>
          <p:cNvPr id="31" name="Text 29"/>
          <p:cNvSpPr txBox="1"/>
          <p:nvPr/>
        </p:nvSpPr>
        <p:spPr>
          <a:xfrm>
            <a:off x="6035040" y="3765428"/>
            <a:ext cx="2103120" cy="566928"/>
          </a:xfrm>
          <a:prstGeom prst="rect">
            <a:avLst/>
          </a:prstGeom>
          <a:noFill/>
          <a:ln/>
        </p:spPr>
        <p:txBody>
          <a:bodyPr wrap="square" lIns="1524" tIns="1524" rIns="1524" bIns="1524" rtlCol="0" anchor="ctr"/>
          <a:lstStyle/>
          <a:p>
            <a:pPr marL="0" indent="0" algn="l">
              <a:buNone/>
            </a:pPr>
            <a:r>
              <a:rPr lang="en-US" sz="1300" b="1" dirty="0">
                <a:solidFill>
                  <a:srgbClr val="132030"/>
                </a:solidFill>
                <a:latin typeface="Calibri" pitchFamily="34" charset="0"/>
                <a:ea typeface="Calibri" pitchFamily="34" charset="-122"/>
                <a:cs typeface="Calibri" pitchFamily="34" charset="-120"/>
              </a:rPr>
              <a:t>technician</a:t>
            </a:r>
            <a:endParaRPr lang="en-US" sz="1300" dirty="0"/>
          </a:p>
        </p:txBody>
      </p:sp>
      <p:sp>
        <p:nvSpPr>
          <p:cNvPr id="32" name="Shape 30"/>
          <p:cNvSpPr/>
          <p:nvPr/>
        </p:nvSpPr>
        <p:spPr>
          <a:xfrm>
            <a:off x="8138160" y="3765428"/>
            <a:ext cx="1188720" cy="566928"/>
          </a:xfrm>
          <a:prstGeom prst="rect">
            <a:avLst/>
          </a:prstGeom>
          <a:solidFill>
            <a:srgbClr val="FFFFFF"/>
          </a:solidFill>
          <a:ln w="12700">
            <a:solidFill>
              <a:srgbClr val="D6DEE6"/>
            </a:solidFill>
            <a:prstDash val="solid"/>
          </a:ln>
        </p:spPr>
        <p:txBody>
          <a:bodyPr/>
          <a:lstStyle/>
          <a:p>
            <a:endParaRPr lang="en-TR"/>
          </a:p>
        </p:txBody>
      </p:sp>
      <p:sp>
        <p:nvSpPr>
          <p:cNvPr id="33" name="Text 31"/>
          <p:cNvSpPr txBox="1"/>
          <p:nvPr/>
        </p:nvSpPr>
        <p:spPr>
          <a:xfrm>
            <a:off x="8138160" y="3765428"/>
            <a:ext cx="1188720" cy="566928"/>
          </a:xfrm>
          <a:prstGeom prst="rect">
            <a:avLst/>
          </a:prstGeom>
          <a:noFill/>
          <a:ln/>
        </p:spPr>
        <p:txBody>
          <a:bodyPr wrap="square" lIns="0" tIns="0" rIns="0" bIns="0" rtlCol="0" anchor="ctr"/>
          <a:lstStyle/>
          <a:p>
            <a:pPr marL="0" indent="0" algn="ctr">
              <a:buNone/>
            </a:pPr>
            <a:r>
              <a:rPr lang="en-US" sz="1300" dirty="0">
                <a:solidFill>
                  <a:srgbClr val="132030"/>
                </a:solidFill>
                <a:latin typeface="Calibri" pitchFamily="34" charset="0"/>
                <a:ea typeface="Calibri" pitchFamily="34" charset="-122"/>
                <a:cs typeface="Calibri" pitchFamily="34" charset="-120"/>
              </a:rPr>
              <a:t>yes</a:t>
            </a:r>
            <a:endParaRPr lang="en-US" sz="1300" dirty="0"/>
          </a:p>
        </p:txBody>
      </p:sp>
      <p:sp>
        <p:nvSpPr>
          <p:cNvPr id="34" name="Shape 32"/>
          <p:cNvSpPr/>
          <p:nvPr/>
        </p:nvSpPr>
        <p:spPr>
          <a:xfrm>
            <a:off x="9326880" y="3765428"/>
            <a:ext cx="1188720" cy="566928"/>
          </a:xfrm>
          <a:prstGeom prst="rect">
            <a:avLst/>
          </a:prstGeom>
          <a:solidFill>
            <a:srgbClr val="FFFFFF"/>
          </a:solidFill>
          <a:ln w="12700">
            <a:solidFill>
              <a:srgbClr val="D6DEE6"/>
            </a:solidFill>
            <a:prstDash val="solid"/>
          </a:ln>
        </p:spPr>
        <p:txBody>
          <a:bodyPr/>
          <a:lstStyle/>
          <a:p>
            <a:endParaRPr lang="en-TR"/>
          </a:p>
        </p:txBody>
      </p:sp>
      <p:sp>
        <p:nvSpPr>
          <p:cNvPr id="35" name="Text 33"/>
          <p:cNvSpPr txBox="1"/>
          <p:nvPr/>
        </p:nvSpPr>
        <p:spPr>
          <a:xfrm>
            <a:off x="9326880" y="3765428"/>
            <a:ext cx="1188720" cy="566928"/>
          </a:xfrm>
          <a:prstGeom prst="rect">
            <a:avLst/>
          </a:prstGeom>
          <a:noFill/>
          <a:ln/>
        </p:spPr>
        <p:txBody>
          <a:bodyPr wrap="square" lIns="0" tIns="0" rIns="0" bIns="0" rtlCol="0" anchor="ctr"/>
          <a:lstStyle/>
          <a:p>
            <a:pPr marL="0" indent="0" algn="ctr">
              <a:buNone/>
            </a:pPr>
            <a:r>
              <a:rPr lang="en-US" sz="1300" dirty="0">
                <a:solidFill>
                  <a:srgbClr val="132030"/>
                </a:solidFill>
                <a:latin typeface="Calibri" pitchFamily="34" charset="0"/>
                <a:ea typeface="Calibri" pitchFamily="34" charset="-122"/>
                <a:cs typeface="Calibri" pitchFamily="34" charset="-120"/>
              </a:rPr>
              <a:t>yes</a:t>
            </a:r>
            <a:endParaRPr lang="en-US" sz="1300" dirty="0"/>
          </a:p>
        </p:txBody>
      </p:sp>
      <p:sp>
        <p:nvSpPr>
          <p:cNvPr id="36" name="Shape 34"/>
          <p:cNvSpPr/>
          <p:nvPr/>
        </p:nvSpPr>
        <p:spPr>
          <a:xfrm>
            <a:off x="10515600" y="3765428"/>
            <a:ext cx="1033272" cy="566928"/>
          </a:xfrm>
          <a:prstGeom prst="rect">
            <a:avLst/>
          </a:prstGeom>
          <a:solidFill>
            <a:srgbClr val="FBEDEB"/>
          </a:solidFill>
          <a:ln w="12700">
            <a:solidFill>
              <a:srgbClr val="D6DEE6"/>
            </a:solidFill>
            <a:prstDash val="solid"/>
          </a:ln>
        </p:spPr>
        <p:txBody>
          <a:bodyPr/>
          <a:lstStyle/>
          <a:p>
            <a:endParaRPr lang="en-TR"/>
          </a:p>
        </p:txBody>
      </p:sp>
      <p:sp>
        <p:nvSpPr>
          <p:cNvPr id="37" name="Text 35"/>
          <p:cNvSpPr txBox="1"/>
          <p:nvPr/>
        </p:nvSpPr>
        <p:spPr>
          <a:xfrm>
            <a:off x="10515600" y="3765428"/>
            <a:ext cx="1033272" cy="566928"/>
          </a:xfrm>
          <a:prstGeom prst="rect">
            <a:avLst/>
          </a:prstGeom>
          <a:noFill/>
          <a:ln/>
        </p:spPr>
        <p:txBody>
          <a:bodyPr wrap="square" lIns="0" tIns="0" rIns="0" bIns="0" rtlCol="0" anchor="ctr"/>
          <a:lstStyle/>
          <a:p>
            <a:pPr marL="0" indent="0" algn="ctr">
              <a:buNone/>
            </a:pPr>
            <a:r>
              <a:rPr lang="en-US" sz="1300" dirty="0">
                <a:solidFill>
                  <a:srgbClr val="B3382C"/>
                </a:solidFill>
                <a:latin typeface="Calibri" pitchFamily="34" charset="0"/>
                <a:ea typeface="Calibri" pitchFamily="34" charset="-122"/>
                <a:cs typeface="Calibri" pitchFamily="34" charset="-120"/>
              </a:rPr>
              <a:t>no</a:t>
            </a:r>
            <a:endParaRPr lang="en-US" sz="1300" dirty="0"/>
          </a:p>
        </p:txBody>
      </p:sp>
      <p:sp>
        <p:nvSpPr>
          <p:cNvPr id="38" name="Shape 36"/>
          <p:cNvSpPr/>
          <p:nvPr/>
        </p:nvSpPr>
        <p:spPr>
          <a:xfrm>
            <a:off x="6035040" y="4332356"/>
            <a:ext cx="2103120" cy="566928"/>
          </a:xfrm>
          <a:prstGeom prst="rect">
            <a:avLst/>
          </a:prstGeom>
          <a:solidFill>
            <a:srgbClr val="FFFFFF"/>
          </a:solidFill>
          <a:ln w="12700">
            <a:solidFill>
              <a:srgbClr val="D6DEE6"/>
            </a:solidFill>
            <a:prstDash val="solid"/>
          </a:ln>
        </p:spPr>
        <p:txBody>
          <a:bodyPr/>
          <a:lstStyle/>
          <a:p>
            <a:endParaRPr lang="en-TR"/>
          </a:p>
        </p:txBody>
      </p:sp>
      <p:sp>
        <p:nvSpPr>
          <p:cNvPr id="39" name="Text 37"/>
          <p:cNvSpPr txBox="1"/>
          <p:nvPr/>
        </p:nvSpPr>
        <p:spPr>
          <a:xfrm>
            <a:off x="6035040" y="4332356"/>
            <a:ext cx="2103120" cy="566928"/>
          </a:xfrm>
          <a:prstGeom prst="rect">
            <a:avLst/>
          </a:prstGeom>
          <a:noFill/>
          <a:ln/>
        </p:spPr>
        <p:txBody>
          <a:bodyPr wrap="square" lIns="1524" tIns="1524" rIns="1524" bIns="1524" rtlCol="0" anchor="ctr"/>
          <a:lstStyle/>
          <a:p>
            <a:pPr marL="0" indent="0" algn="l">
              <a:buNone/>
            </a:pPr>
            <a:r>
              <a:rPr lang="en-US" sz="1300" b="1" dirty="0">
                <a:solidFill>
                  <a:srgbClr val="132030"/>
                </a:solidFill>
                <a:latin typeface="Calibri" pitchFamily="34" charset="0"/>
                <a:ea typeface="Calibri" pitchFamily="34" charset="-122"/>
                <a:cs typeface="Calibri" pitchFamily="34" charset="-120"/>
              </a:rPr>
              <a:t>commercial</a:t>
            </a:r>
            <a:endParaRPr lang="en-US" sz="1300" dirty="0"/>
          </a:p>
        </p:txBody>
      </p:sp>
      <p:sp>
        <p:nvSpPr>
          <p:cNvPr id="40" name="Shape 38"/>
          <p:cNvSpPr/>
          <p:nvPr/>
        </p:nvSpPr>
        <p:spPr>
          <a:xfrm>
            <a:off x="8138160" y="4332356"/>
            <a:ext cx="1188720" cy="566928"/>
          </a:xfrm>
          <a:prstGeom prst="rect">
            <a:avLst/>
          </a:prstGeom>
          <a:solidFill>
            <a:srgbClr val="FFFFFF"/>
          </a:solidFill>
          <a:ln w="12700">
            <a:solidFill>
              <a:srgbClr val="D6DEE6"/>
            </a:solidFill>
            <a:prstDash val="solid"/>
          </a:ln>
        </p:spPr>
        <p:txBody>
          <a:bodyPr/>
          <a:lstStyle/>
          <a:p>
            <a:endParaRPr lang="en-TR"/>
          </a:p>
        </p:txBody>
      </p:sp>
      <p:sp>
        <p:nvSpPr>
          <p:cNvPr id="41" name="Text 39"/>
          <p:cNvSpPr txBox="1"/>
          <p:nvPr/>
        </p:nvSpPr>
        <p:spPr>
          <a:xfrm>
            <a:off x="8138160" y="4332356"/>
            <a:ext cx="1188720" cy="566928"/>
          </a:xfrm>
          <a:prstGeom prst="rect">
            <a:avLst/>
          </a:prstGeom>
          <a:noFill/>
          <a:ln/>
        </p:spPr>
        <p:txBody>
          <a:bodyPr wrap="square" lIns="0" tIns="0" rIns="0" bIns="0" rtlCol="0" anchor="ctr"/>
          <a:lstStyle/>
          <a:p>
            <a:pPr marL="0" indent="0" algn="ctr">
              <a:buNone/>
            </a:pPr>
            <a:r>
              <a:rPr lang="en-US" sz="1300" dirty="0">
                <a:solidFill>
                  <a:srgbClr val="132030"/>
                </a:solidFill>
                <a:latin typeface="Calibri" pitchFamily="34" charset="0"/>
                <a:ea typeface="Calibri" pitchFamily="34" charset="-122"/>
                <a:cs typeface="Calibri" pitchFamily="34" charset="-120"/>
              </a:rPr>
              <a:t>yes</a:t>
            </a:r>
            <a:endParaRPr lang="en-US" sz="1300" dirty="0"/>
          </a:p>
        </p:txBody>
      </p:sp>
      <p:sp>
        <p:nvSpPr>
          <p:cNvPr id="42" name="Shape 40"/>
          <p:cNvSpPr/>
          <p:nvPr/>
        </p:nvSpPr>
        <p:spPr>
          <a:xfrm>
            <a:off x="9326880" y="4332356"/>
            <a:ext cx="1188720" cy="566928"/>
          </a:xfrm>
          <a:prstGeom prst="rect">
            <a:avLst/>
          </a:prstGeom>
          <a:solidFill>
            <a:srgbClr val="FBEDEB"/>
          </a:solidFill>
          <a:ln w="12700">
            <a:solidFill>
              <a:srgbClr val="D6DEE6"/>
            </a:solidFill>
            <a:prstDash val="solid"/>
          </a:ln>
        </p:spPr>
        <p:txBody>
          <a:bodyPr/>
          <a:lstStyle/>
          <a:p>
            <a:endParaRPr lang="en-TR"/>
          </a:p>
        </p:txBody>
      </p:sp>
      <p:sp>
        <p:nvSpPr>
          <p:cNvPr id="43" name="Text 41"/>
          <p:cNvSpPr txBox="1"/>
          <p:nvPr/>
        </p:nvSpPr>
        <p:spPr>
          <a:xfrm>
            <a:off x="9326880" y="4332356"/>
            <a:ext cx="1188720" cy="566928"/>
          </a:xfrm>
          <a:prstGeom prst="rect">
            <a:avLst/>
          </a:prstGeom>
          <a:noFill/>
          <a:ln/>
        </p:spPr>
        <p:txBody>
          <a:bodyPr wrap="square" lIns="0" tIns="0" rIns="0" bIns="0" rtlCol="0" anchor="ctr"/>
          <a:lstStyle/>
          <a:p>
            <a:pPr marL="0" indent="0" algn="ctr">
              <a:buNone/>
            </a:pPr>
            <a:r>
              <a:rPr lang="en-US" sz="1300" dirty="0">
                <a:solidFill>
                  <a:srgbClr val="B3382C"/>
                </a:solidFill>
                <a:latin typeface="Calibri" pitchFamily="34" charset="0"/>
                <a:ea typeface="Calibri" pitchFamily="34" charset="-122"/>
                <a:cs typeface="Calibri" pitchFamily="34" charset="-120"/>
              </a:rPr>
              <a:t>no</a:t>
            </a:r>
            <a:endParaRPr lang="en-US" sz="1300" dirty="0"/>
          </a:p>
        </p:txBody>
      </p:sp>
      <p:sp>
        <p:nvSpPr>
          <p:cNvPr id="44" name="Shape 42"/>
          <p:cNvSpPr/>
          <p:nvPr/>
        </p:nvSpPr>
        <p:spPr>
          <a:xfrm>
            <a:off x="10515600" y="4332356"/>
            <a:ext cx="1033272" cy="566928"/>
          </a:xfrm>
          <a:prstGeom prst="rect">
            <a:avLst/>
          </a:prstGeom>
          <a:solidFill>
            <a:srgbClr val="FFFFFF"/>
          </a:solidFill>
          <a:ln w="12700">
            <a:solidFill>
              <a:srgbClr val="D6DEE6"/>
            </a:solidFill>
            <a:prstDash val="solid"/>
          </a:ln>
        </p:spPr>
        <p:txBody>
          <a:bodyPr/>
          <a:lstStyle/>
          <a:p>
            <a:endParaRPr lang="en-TR"/>
          </a:p>
        </p:txBody>
      </p:sp>
      <p:sp>
        <p:nvSpPr>
          <p:cNvPr id="45" name="Text 43"/>
          <p:cNvSpPr txBox="1"/>
          <p:nvPr/>
        </p:nvSpPr>
        <p:spPr>
          <a:xfrm>
            <a:off x="10515600" y="4332356"/>
            <a:ext cx="1033272" cy="566928"/>
          </a:xfrm>
          <a:prstGeom prst="rect">
            <a:avLst/>
          </a:prstGeom>
          <a:noFill/>
          <a:ln/>
        </p:spPr>
        <p:txBody>
          <a:bodyPr wrap="square" lIns="0" tIns="0" rIns="0" bIns="0" rtlCol="0" anchor="ctr"/>
          <a:lstStyle/>
          <a:p>
            <a:pPr marL="0" indent="0" algn="ctr">
              <a:buNone/>
            </a:pPr>
            <a:r>
              <a:rPr lang="en-US" sz="1300" dirty="0">
                <a:solidFill>
                  <a:srgbClr val="132030"/>
                </a:solidFill>
                <a:latin typeface="Calibri" pitchFamily="34" charset="0"/>
                <a:ea typeface="Calibri" pitchFamily="34" charset="-122"/>
                <a:cs typeface="Calibri" pitchFamily="34" charset="-120"/>
              </a:rPr>
              <a:t>yes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566928"/>
          </a:xfrm>
          <a:prstGeom prst="rect">
            <a:avLst/>
          </a:prstGeom>
          <a:noFill/>
          <a:ln/>
        </p:spPr>
        <p:txBody>
          <a:bodyPr wrap="square" lIns="0" tIns="0" rIns="0" bIns="0" rtlCol="0" anchor="t"/>
          <a:lstStyle/>
          <a:p>
            <a:pPr marL="0" indent="0">
              <a:buNone/>
            </a:pPr>
            <a:r>
              <a:rPr lang="en-US" sz="3200" b="1" dirty="0">
                <a:solidFill>
                  <a:srgbClr val="132030"/>
                </a:solidFill>
                <a:latin typeface="Arial" pitchFamily="34" charset="0"/>
                <a:ea typeface="Arial" pitchFamily="34" charset="-122"/>
                <a:cs typeface="Arial" pitchFamily="34" charset="-120"/>
              </a:rPr>
              <a:t>Architecture</a:t>
            </a:r>
            <a:endParaRPr lang="en-US" sz="3200" dirty="0"/>
          </a:p>
        </p:txBody>
      </p:sp>
      <p:sp>
        <p:nvSpPr>
          <p:cNvPr id="3" name="Text 1"/>
          <p:cNvSpPr txBox="1"/>
          <p:nvPr/>
        </p:nvSpPr>
        <p:spPr>
          <a:xfrm>
            <a:off x="640080" y="969264"/>
            <a:ext cx="10908792" cy="310896"/>
          </a:xfrm>
          <a:prstGeom prst="rect">
            <a:avLst/>
          </a:prstGeom>
          <a:noFill/>
          <a:ln/>
        </p:spPr>
        <p:txBody>
          <a:bodyPr wrap="square" lIns="0" tIns="0" rIns="0" bIns="0" rtlCol="0" anchor="t"/>
          <a:lstStyle/>
          <a:p>
            <a:pPr marL="0" indent="0">
              <a:buNone/>
            </a:pPr>
            <a:r>
              <a:rPr lang="en-US" sz="1400" dirty="0">
                <a:solidFill>
                  <a:srgbClr val="4A5A69"/>
                </a:solidFill>
                <a:latin typeface="Calibri" pitchFamily="34" charset="0"/>
                <a:ea typeface="Calibri" pitchFamily="34" charset="-122"/>
                <a:cs typeface="Calibri" pitchFamily="34" charset="-120"/>
              </a:rPr>
              <a:t>Two local processes and one model API. We did not add a broker, a vector service or containers.</a:t>
            </a:r>
            <a:endParaRPr lang="en-US" sz="1400" dirty="0"/>
          </a:p>
        </p:txBody>
      </p:sp>
      <p:sp>
        <p:nvSpPr>
          <p:cNvPr id="4" name="Shape 2"/>
          <p:cNvSpPr/>
          <p:nvPr/>
        </p:nvSpPr>
        <p:spPr>
          <a:xfrm>
            <a:off x="640080" y="1508760"/>
            <a:ext cx="3108960" cy="868680"/>
          </a:xfrm>
          <a:prstGeom prst="roundRect">
            <a:avLst>
              <a:gd name="adj" fmla="val 6316"/>
            </a:avLst>
          </a:prstGeom>
          <a:solidFill>
            <a:srgbClr val="EEF2F6"/>
          </a:solidFill>
          <a:ln w="12700">
            <a:solidFill>
              <a:srgbClr val="D6DEE6"/>
            </a:solidFill>
            <a:prstDash val="solid"/>
          </a:ln>
        </p:spPr>
        <p:txBody>
          <a:bodyPr/>
          <a:lstStyle/>
          <a:p>
            <a:endParaRPr lang="en-TR"/>
          </a:p>
        </p:txBody>
      </p:sp>
      <p:sp>
        <p:nvSpPr>
          <p:cNvPr id="5" name="Text 3"/>
          <p:cNvSpPr txBox="1"/>
          <p:nvPr/>
        </p:nvSpPr>
        <p:spPr>
          <a:xfrm>
            <a:off x="868680" y="1645920"/>
            <a:ext cx="2743200" cy="256032"/>
          </a:xfrm>
          <a:prstGeom prst="rect">
            <a:avLst/>
          </a:prstGeom>
          <a:noFill/>
          <a:ln/>
        </p:spPr>
        <p:txBody>
          <a:bodyPr wrap="square" lIns="0" tIns="0" rIns="0" bIns="0" rtlCol="0" anchor="t"/>
          <a:lstStyle/>
          <a:p>
            <a:pPr marL="0" indent="0">
              <a:buNone/>
            </a:pPr>
            <a:r>
              <a:rPr lang="en-US" sz="1350" b="1" dirty="0">
                <a:solidFill>
                  <a:srgbClr val="132030"/>
                </a:solidFill>
                <a:latin typeface="Arial" pitchFamily="34" charset="0"/>
                <a:ea typeface="Arial" pitchFamily="34" charset="-122"/>
                <a:cs typeface="Arial" pitchFamily="34" charset="-120"/>
              </a:rPr>
              <a:t>React frontend</a:t>
            </a:r>
            <a:endParaRPr lang="en-US" sz="1350" dirty="0"/>
          </a:p>
        </p:txBody>
      </p:sp>
      <p:sp>
        <p:nvSpPr>
          <p:cNvPr id="6" name="Text 4"/>
          <p:cNvSpPr txBox="1"/>
          <p:nvPr/>
        </p:nvSpPr>
        <p:spPr>
          <a:xfrm>
            <a:off x="868680" y="1938528"/>
            <a:ext cx="2743200" cy="274320"/>
          </a:xfrm>
          <a:prstGeom prst="rect">
            <a:avLst/>
          </a:prstGeom>
          <a:noFill/>
          <a:ln/>
        </p:spPr>
        <p:txBody>
          <a:bodyPr wrap="square" lIns="0" tIns="0" rIns="0" bIns="0" rtlCol="0" anchor="t"/>
          <a:lstStyle/>
          <a:p>
            <a:pPr marL="0" indent="0">
              <a:buNone/>
            </a:pPr>
            <a:r>
              <a:rPr lang="en-US" sz="1150" dirty="0">
                <a:solidFill>
                  <a:srgbClr val="7C8B99"/>
                </a:solidFill>
                <a:latin typeface="Calibri" pitchFamily="34" charset="0"/>
                <a:ea typeface="Calibri" pitchFamily="34" charset="-122"/>
                <a:cs typeface="Calibri" pitchFamily="34" charset="-120"/>
              </a:rPr>
              <a:t>mobile-first, opened by QR</a:t>
            </a:r>
            <a:endParaRPr lang="en-US" sz="1150" dirty="0"/>
          </a:p>
        </p:txBody>
      </p:sp>
      <p:sp>
        <p:nvSpPr>
          <p:cNvPr id="7" name="Text 5"/>
          <p:cNvSpPr txBox="1"/>
          <p:nvPr/>
        </p:nvSpPr>
        <p:spPr>
          <a:xfrm>
            <a:off x="3840480" y="1691640"/>
            <a:ext cx="365760" cy="457200"/>
          </a:xfrm>
          <a:prstGeom prst="rect">
            <a:avLst/>
          </a:prstGeom>
          <a:noFill/>
          <a:ln/>
        </p:spPr>
        <p:txBody>
          <a:bodyPr wrap="square" lIns="0" tIns="0" rIns="0" bIns="0" rtlCol="0" anchor="ctr"/>
          <a:lstStyle/>
          <a:p>
            <a:pPr marL="0" indent="0" algn="ctr">
              <a:buNone/>
            </a:pPr>
            <a:r>
              <a:rPr lang="en-US" sz="2000" dirty="0">
                <a:solidFill>
                  <a:srgbClr val="E09A2B"/>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4297680" y="1508760"/>
            <a:ext cx="3108960" cy="868680"/>
          </a:xfrm>
          <a:prstGeom prst="roundRect">
            <a:avLst>
              <a:gd name="adj" fmla="val 6316"/>
            </a:avLst>
          </a:prstGeom>
          <a:solidFill>
            <a:srgbClr val="EEF2F6"/>
          </a:solidFill>
          <a:ln w="12700">
            <a:solidFill>
              <a:srgbClr val="D6DEE6"/>
            </a:solidFill>
            <a:prstDash val="solid"/>
          </a:ln>
        </p:spPr>
        <p:txBody>
          <a:bodyPr/>
          <a:lstStyle/>
          <a:p>
            <a:endParaRPr lang="en-TR"/>
          </a:p>
        </p:txBody>
      </p:sp>
      <p:sp>
        <p:nvSpPr>
          <p:cNvPr id="9" name="Text 7"/>
          <p:cNvSpPr txBox="1"/>
          <p:nvPr/>
        </p:nvSpPr>
        <p:spPr>
          <a:xfrm>
            <a:off x="4526280" y="1645920"/>
            <a:ext cx="2743200" cy="256032"/>
          </a:xfrm>
          <a:prstGeom prst="rect">
            <a:avLst/>
          </a:prstGeom>
          <a:noFill/>
          <a:ln/>
        </p:spPr>
        <p:txBody>
          <a:bodyPr wrap="square" lIns="0" tIns="0" rIns="0" bIns="0" rtlCol="0" anchor="t"/>
          <a:lstStyle/>
          <a:p>
            <a:pPr marL="0" indent="0">
              <a:buNone/>
            </a:pPr>
            <a:r>
              <a:rPr lang="en-US" sz="1350" b="1" dirty="0">
                <a:solidFill>
                  <a:srgbClr val="132030"/>
                </a:solidFill>
                <a:latin typeface="Arial" pitchFamily="34" charset="0"/>
                <a:ea typeface="Arial" pitchFamily="34" charset="-122"/>
                <a:cs typeface="Arial" pitchFamily="34" charset="-120"/>
              </a:rPr>
              <a:t>FastAPI backend</a:t>
            </a:r>
            <a:endParaRPr lang="en-US" sz="1350" dirty="0"/>
          </a:p>
        </p:txBody>
      </p:sp>
      <p:sp>
        <p:nvSpPr>
          <p:cNvPr id="10" name="Text 8"/>
          <p:cNvSpPr txBox="1"/>
          <p:nvPr/>
        </p:nvSpPr>
        <p:spPr>
          <a:xfrm>
            <a:off x="4526280" y="1938528"/>
            <a:ext cx="2743200" cy="274320"/>
          </a:xfrm>
          <a:prstGeom prst="rect">
            <a:avLst/>
          </a:prstGeom>
          <a:noFill/>
          <a:ln/>
        </p:spPr>
        <p:txBody>
          <a:bodyPr wrap="square" lIns="0" tIns="0" rIns="0" bIns="0" rtlCol="0" anchor="t"/>
          <a:lstStyle/>
          <a:p>
            <a:pPr marL="0" indent="0">
              <a:buNone/>
            </a:pPr>
            <a:r>
              <a:rPr lang="en-US" sz="1150" dirty="0">
                <a:solidFill>
                  <a:srgbClr val="7C8B99"/>
                </a:solidFill>
                <a:latin typeface="Calibri" pitchFamily="34" charset="0"/>
                <a:ea typeface="Calibri" pitchFamily="34" charset="-122"/>
                <a:cs typeface="Calibri" pitchFamily="34" charset="-120"/>
              </a:rPr>
              <a:t>login, sessions, chat API</a:t>
            </a:r>
            <a:endParaRPr lang="en-US" sz="1150" dirty="0"/>
          </a:p>
        </p:txBody>
      </p:sp>
      <p:sp>
        <p:nvSpPr>
          <p:cNvPr id="11" name="Text 9"/>
          <p:cNvSpPr txBox="1"/>
          <p:nvPr/>
        </p:nvSpPr>
        <p:spPr>
          <a:xfrm>
            <a:off x="7498080" y="1691640"/>
            <a:ext cx="365760" cy="457200"/>
          </a:xfrm>
          <a:prstGeom prst="rect">
            <a:avLst/>
          </a:prstGeom>
          <a:noFill/>
          <a:ln/>
        </p:spPr>
        <p:txBody>
          <a:bodyPr wrap="square" lIns="0" tIns="0" rIns="0" bIns="0" rtlCol="0" anchor="ctr"/>
          <a:lstStyle/>
          <a:p>
            <a:pPr marL="0" indent="0" algn="ctr">
              <a:buNone/>
            </a:pPr>
            <a:r>
              <a:rPr lang="en-US" sz="2000" dirty="0">
                <a:solidFill>
                  <a:srgbClr val="E09A2B"/>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7955280" y="1508760"/>
            <a:ext cx="3593592" cy="868680"/>
          </a:xfrm>
          <a:prstGeom prst="roundRect">
            <a:avLst>
              <a:gd name="adj" fmla="val 6316"/>
            </a:avLst>
          </a:prstGeom>
          <a:solidFill>
            <a:srgbClr val="FBF3E4"/>
          </a:solidFill>
          <a:ln w="12700">
            <a:solidFill>
              <a:srgbClr val="D6DEE6"/>
            </a:solidFill>
            <a:prstDash val="solid"/>
          </a:ln>
        </p:spPr>
        <p:txBody>
          <a:bodyPr/>
          <a:lstStyle/>
          <a:p>
            <a:endParaRPr lang="en-TR"/>
          </a:p>
        </p:txBody>
      </p:sp>
      <p:sp>
        <p:nvSpPr>
          <p:cNvPr id="13" name="Text 11"/>
          <p:cNvSpPr txBox="1"/>
          <p:nvPr/>
        </p:nvSpPr>
        <p:spPr>
          <a:xfrm>
            <a:off x="8183880" y="1645920"/>
            <a:ext cx="3200400" cy="256032"/>
          </a:xfrm>
          <a:prstGeom prst="rect">
            <a:avLst/>
          </a:prstGeom>
          <a:noFill/>
          <a:ln/>
        </p:spPr>
        <p:txBody>
          <a:bodyPr wrap="square" lIns="0" tIns="0" rIns="0" bIns="0" rtlCol="0" anchor="t"/>
          <a:lstStyle/>
          <a:p>
            <a:pPr marL="0" indent="0">
              <a:buNone/>
            </a:pPr>
            <a:r>
              <a:rPr lang="en-US" sz="1350" b="1" dirty="0">
                <a:solidFill>
                  <a:srgbClr val="132030"/>
                </a:solidFill>
                <a:latin typeface="Arial" pitchFamily="34" charset="0"/>
                <a:ea typeface="Arial" pitchFamily="34" charset="-122"/>
                <a:cs typeface="Arial" pitchFamily="34" charset="-120"/>
              </a:rPr>
              <a:t>Language model</a:t>
            </a:r>
            <a:endParaRPr lang="en-US" sz="1350" dirty="0"/>
          </a:p>
        </p:txBody>
      </p:sp>
      <p:sp>
        <p:nvSpPr>
          <p:cNvPr id="14" name="Text 12"/>
          <p:cNvSpPr txBox="1"/>
          <p:nvPr/>
        </p:nvSpPr>
        <p:spPr>
          <a:xfrm>
            <a:off x="8183880" y="1938528"/>
            <a:ext cx="3200400" cy="274320"/>
          </a:xfrm>
          <a:prstGeom prst="rect">
            <a:avLst/>
          </a:prstGeom>
          <a:noFill/>
          <a:ln/>
        </p:spPr>
        <p:txBody>
          <a:bodyPr wrap="square" lIns="0" tIns="0" rIns="0" bIns="0" rtlCol="0" anchor="t"/>
          <a:lstStyle/>
          <a:p>
            <a:pPr marL="0" indent="0">
              <a:buNone/>
            </a:pPr>
            <a:r>
              <a:rPr lang="en-US" sz="1150" dirty="0">
                <a:solidFill>
                  <a:srgbClr val="7C8B99"/>
                </a:solidFill>
                <a:latin typeface="Calibri" pitchFamily="34" charset="0"/>
                <a:ea typeface="Calibri" pitchFamily="34" charset="-122"/>
                <a:cs typeface="Calibri" pitchFamily="34" charset="-120"/>
              </a:rPr>
              <a:t>any OpenAI-compatible API</a:t>
            </a:r>
            <a:endParaRPr lang="en-US" sz="1150" dirty="0"/>
          </a:p>
        </p:txBody>
      </p:sp>
      <p:sp>
        <p:nvSpPr>
          <p:cNvPr id="15" name="Shape 13"/>
          <p:cNvSpPr/>
          <p:nvPr/>
        </p:nvSpPr>
        <p:spPr>
          <a:xfrm>
            <a:off x="640080" y="2606040"/>
            <a:ext cx="10908792" cy="1051560"/>
          </a:xfrm>
          <a:prstGeom prst="roundRect">
            <a:avLst>
              <a:gd name="adj" fmla="val 5217"/>
            </a:avLst>
          </a:prstGeom>
          <a:solidFill>
            <a:srgbClr val="132030"/>
          </a:solidFill>
          <a:ln w="12700">
            <a:solidFill>
              <a:srgbClr val="D6DEE6"/>
            </a:solidFill>
            <a:prstDash val="solid"/>
          </a:ln>
        </p:spPr>
        <p:txBody>
          <a:bodyPr/>
          <a:lstStyle/>
          <a:p>
            <a:endParaRPr lang="en-TR"/>
          </a:p>
        </p:txBody>
      </p:sp>
      <p:sp>
        <p:nvSpPr>
          <p:cNvPr id="16" name="Text 14"/>
          <p:cNvSpPr txBox="1"/>
          <p:nvPr/>
        </p:nvSpPr>
        <p:spPr>
          <a:xfrm>
            <a:off x="960120" y="2788920"/>
            <a:ext cx="2377440" cy="274320"/>
          </a:xfrm>
          <a:prstGeom prst="rect">
            <a:avLst/>
          </a:prstGeom>
          <a:noFill/>
          <a:ln/>
        </p:spPr>
        <p:txBody>
          <a:bodyPr wrap="square" lIns="0" tIns="0" rIns="0" bIns="0" rtlCol="0" anchor="ctr"/>
          <a:lstStyle/>
          <a:p>
            <a:pPr marL="0" indent="0">
              <a:buNone/>
            </a:pPr>
            <a:r>
              <a:rPr lang="en-US" sz="1300" b="1" kern="0" spc="150" dirty="0">
                <a:solidFill>
                  <a:srgbClr val="E09A2B"/>
                </a:solidFill>
                <a:latin typeface="Arial" pitchFamily="34" charset="0"/>
                <a:ea typeface="Arial" pitchFamily="34" charset="-122"/>
                <a:cs typeface="Arial" pitchFamily="34" charset="-120"/>
              </a:rPr>
              <a:t>ORCHESTRATOR</a:t>
            </a:r>
            <a:endParaRPr lang="en-US" sz="1300" dirty="0"/>
          </a:p>
        </p:txBody>
      </p:sp>
      <p:sp>
        <p:nvSpPr>
          <p:cNvPr id="17" name="Text 15"/>
          <p:cNvSpPr txBox="1"/>
          <p:nvPr/>
        </p:nvSpPr>
        <p:spPr>
          <a:xfrm>
            <a:off x="3566160" y="2788920"/>
            <a:ext cx="2651760"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1  route the question</a:t>
            </a:r>
            <a:endParaRPr lang="en-US" sz="1300" dirty="0"/>
          </a:p>
        </p:txBody>
      </p:sp>
      <p:sp>
        <p:nvSpPr>
          <p:cNvPr id="18" name="Text 16"/>
          <p:cNvSpPr txBox="1"/>
          <p:nvPr/>
        </p:nvSpPr>
        <p:spPr>
          <a:xfrm>
            <a:off x="6263640" y="2788920"/>
            <a:ext cx="2651760"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2  check the access model</a:t>
            </a:r>
            <a:endParaRPr lang="en-US" sz="1300" dirty="0"/>
          </a:p>
        </p:txBody>
      </p:sp>
      <p:sp>
        <p:nvSpPr>
          <p:cNvPr id="19" name="Text 17"/>
          <p:cNvSpPr txBox="1"/>
          <p:nvPr/>
        </p:nvSpPr>
        <p:spPr>
          <a:xfrm>
            <a:off x="8961120" y="2788920"/>
            <a:ext cx="2651760"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3  run the agent (tool loop)</a:t>
            </a:r>
            <a:endParaRPr lang="en-US" sz="1300" dirty="0"/>
          </a:p>
        </p:txBody>
      </p:sp>
      <p:sp>
        <p:nvSpPr>
          <p:cNvPr id="20" name="Text 18"/>
          <p:cNvSpPr txBox="1"/>
          <p:nvPr/>
        </p:nvSpPr>
        <p:spPr>
          <a:xfrm>
            <a:off x="960120" y="3200400"/>
            <a:ext cx="7315200" cy="274320"/>
          </a:xfrm>
          <a:prstGeom prst="rect">
            <a:avLst/>
          </a:prstGeom>
          <a:noFill/>
          <a:ln/>
        </p:spPr>
        <p:txBody>
          <a:bodyPr wrap="square" lIns="0" tIns="0" rIns="0" bIns="0" rtlCol="0" anchor="t"/>
          <a:lstStyle/>
          <a:p>
            <a:pPr marL="0" indent="0">
              <a:buNone/>
            </a:pPr>
            <a:r>
              <a:rPr lang="en-US" sz="1150" dirty="0">
                <a:solidFill>
                  <a:srgbClr val="9FB0BF"/>
                </a:solidFill>
                <a:latin typeface="Calibri" pitchFamily="34" charset="0"/>
                <a:ea typeface="Calibri" pitchFamily="34" charset="-122"/>
                <a:cs typeface="Calibri" pitchFamily="34" charset="-120"/>
              </a:rPr>
              <a:t>the routing decision and the permission decision are the same decision</a:t>
            </a:r>
            <a:endParaRPr lang="en-US" sz="1150" dirty="0"/>
          </a:p>
        </p:txBody>
      </p:sp>
      <p:sp>
        <p:nvSpPr>
          <p:cNvPr id="21" name="Shape 19"/>
          <p:cNvSpPr/>
          <p:nvPr/>
        </p:nvSpPr>
        <p:spPr>
          <a:xfrm>
            <a:off x="640080" y="3886200"/>
            <a:ext cx="3566160" cy="1234440"/>
          </a:xfrm>
          <a:prstGeom prst="roundRect">
            <a:avLst>
              <a:gd name="adj" fmla="val 4444"/>
            </a:avLst>
          </a:prstGeom>
          <a:solidFill>
            <a:srgbClr val="EEF2F6"/>
          </a:solidFill>
          <a:ln w="12700">
            <a:solidFill>
              <a:srgbClr val="D6DEE6"/>
            </a:solidFill>
            <a:prstDash val="solid"/>
          </a:ln>
        </p:spPr>
        <p:txBody>
          <a:bodyPr/>
          <a:lstStyle/>
          <a:p>
            <a:endParaRPr lang="en-TR"/>
          </a:p>
        </p:txBody>
      </p:sp>
      <p:sp>
        <p:nvSpPr>
          <p:cNvPr id="22" name="Text 20"/>
          <p:cNvSpPr txBox="1"/>
          <p:nvPr/>
        </p:nvSpPr>
        <p:spPr>
          <a:xfrm>
            <a:off x="868680" y="4041648"/>
            <a:ext cx="3108960" cy="274320"/>
          </a:xfrm>
          <a:prstGeom prst="rect">
            <a:avLst/>
          </a:prstGeom>
          <a:noFill/>
          <a:ln/>
        </p:spPr>
        <p:txBody>
          <a:bodyPr wrap="square" lIns="0" tIns="0" rIns="0" bIns="0" rtlCol="0" anchor="t"/>
          <a:lstStyle/>
          <a:p>
            <a:pPr marL="0" indent="0">
              <a:buNone/>
            </a:pPr>
            <a:r>
              <a:rPr lang="en-US" sz="1400" b="1" dirty="0">
                <a:solidFill>
                  <a:srgbClr val="132030"/>
                </a:solidFill>
                <a:latin typeface="Arial" pitchFamily="34" charset="0"/>
                <a:ea typeface="Arial" pitchFamily="34" charset="-122"/>
                <a:cs typeface="Arial" pitchFamily="34" charset="-120"/>
              </a:rPr>
              <a:t>Manuals agent</a:t>
            </a:r>
            <a:endParaRPr lang="en-US" sz="1400" dirty="0"/>
          </a:p>
        </p:txBody>
      </p:sp>
      <p:sp>
        <p:nvSpPr>
          <p:cNvPr id="23" name="Shape 21"/>
          <p:cNvSpPr/>
          <p:nvPr/>
        </p:nvSpPr>
        <p:spPr>
          <a:xfrm>
            <a:off x="868680" y="4343400"/>
            <a:ext cx="1691640" cy="274320"/>
          </a:xfrm>
          <a:prstGeom prst="roundRect">
            <a:avLst>
              <a:gd name="adj" fmla="val 46667"/>
            </a:avLst>
          </a:prstGeom>
          <a:solidFill>
            <a:srgbClr val="1F6FB2"/>
          </a:solidFill>
          <a:ln w="12700">
            <a:solidFill>
              <a:srgbClr val="1F6FB2"/>
            </a:solidFill>
            <a:prstDash val="solid"/>
          </a:ln>
        </p:spPr>
        <p:txBody>
          <a:bodyPr/>
          <a:lstStyle/>
          <a:p>
            <a:endParaRPr lang="en-TR"/>
          </a:p>
        </p:txBody>
      </p:sp>
      <p:sp>
        <p:nvSpPr>
          <p:cNvPr id="24" name="Text 22"/>
          <p:cNvSpPr txBox="1"/>
          <p:nvPr/>
        </p:nvSpPr>
        <p:spPr>
          <a:xfrm>
            <a:off x="868680" y="4343400"/>
            <a:ext cx="169164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identity + documentation</a:t>
            </a:r>
            <a:endParaRPr lang="en-US" sz="1050" dirty="0"/>
          </a:p>
        </p:txBody>
      </p:sp>
      <p:sp>
        <p:nvSpPr>
          <p:cNvPr id="25" name="Text 23"/>
          <p:cNvSpPr txBox="1"/>
          <p:nvPr/>
        </p:nvSpPr>
        <p:spPr>
          <a:xfrm>
            <a:off x="868680" y="4709160"/>
            <a:ext cx="3154680" cy="320040"/>
          </a:xfrm>
          <a:prstGeom prst="rect">
            <a:avLst/>
          </a:prstGeom>
          <a:noFill/>
          <a:ln/>
        </p:spPr>
        <p:txBody>
          <a:bodyPr wrap="square" lIns="0" tIns="0" rIns="0" bIns="0" rtlCol="0" anchor="t"/>
          <a:lstStyle/>
          <a:p>
            <a:pPr marL="0" indent="0">
              <a:buNone/>
            </a:pPr>
            <a:r>
              <a:rPr lang="en-US" sz="1150" dirty="0">
                <a:solidFill>
                  <a:srgbClr val="7C8B99"/>
                </a:solidFill>
                <a:latin typeface="Calibri" pitchFamily="34" charset="0"/>
                <a:ea typeface="Calibri" pitchFamily="34" charset="-122"/>
                <a:cs typeface="Calibri" pitchFamily="34" charset="-120"/>
              </a:rPr>
              <a:t>search_manual, machine data</a:t>
            </a:r>
            <a:endParaRPr lang="en-US" sz="1150" dirty="0"/>
          </a:p>
        </p:txBody>
      </p:sp>
      <p:sp>
        <p:nvSpPr>
          <p:cNvPr id="26" name="Shape 24"/>
          <p:cNvSpPr/>
          <p:nvPr/>
        </p:nvSpPr>
        <p:spPr>
          <a:xfrm>
            <a:off x="4398264" y="3886200"/>
            <a:ext cx="3566160" cy="1234440"/>
          </a:xfrm>
          <a:prstGeom prst="roundRect">
            <a:avLst>
              <a:gd name="adj" fmla="val 4444"/>
            </a:avLst>
          </a:prstGeom>
          <a:solidFill>
            <a:srgbClr val="EEF2F6"/>
          </a:solidFill>
          <a:ln w="12700">
            <a:solidFill>
              <a:srgbClr val="D6DEE6"/>
            </a:solidFill>
            <a:prstDash val="solid"/>
          </a:ln>
        </p:spPr>
        <p:txBody>
          <a:bodyPr/>
          <a:lstStyle/>
          <a:p>
            <a:endParaRPr lang="en-TR"/>
          </a:p>
        </p:txBody>
      </p:sp>
      <p:sp>
        <p:nvSpPr>
          <p:cNvPr id="27" name="Text 25"/>
          <p:cNvSpPr txBox="1"/>
          <p:nvPr/>
        </p:nvSpPr>
        <p:spPr>
          <a:xfrm>
            <a:off x="4626864" y="4041648"/>
            <a:ext cx="3108960" cy="274320"/>
          </a:xfrm>
          <a:prstGeom prst="rect">
            <a:avLst/>
          </a:prstGeom>
          <a:noFill/>
          <a:ln/>
        </p:spPr>
        <p:txBody>
          <a:bodyPr wrap="square" lIns="0" tIns="0" rIns="0" bIns="0" rtlCol="0" anchor="t"/>
          <a:lstStyle/>
          <a:p>
            <a:pPr marL="0" indent="0">
              <a:buNone/>
            </a:pPr>
            <a:r>
              <a:rPr lang="en-US" sz="1400" b="1" dirty="0">
                <a:solidFill>
                  <a:srgbClr val="132030"/>
                </a:solidFill>
                <a:latin typeface="Arial" pitchFamily="34" charset="0"/>
                <a:ea typeface="Arial" pitchFamily="34" charset="-122"/>
                <a:cs typeface="Arial" pitchFamily="34" charset="-120"/>
              </a:rPr>
              <a:t>Diagnostics agent</a:t>
            </a:r>
            <a:endParaRPr lang="en-US" sz="1400" dirty="0"/>
          </a:p>
        </p:txBody>
      </p:sp>
      <p:sp>
        <p:nvSpPr>
          <p:cNvPr id="28" name="Shape 26"/>
          <p:cNvSpPr/>
          <p:nvPr/>
        </p:nvSpPr>
        <p:spPr>
          <a:xfrm>
            <a:off x="4626864" y="4343400"/>
            <a:ext cx="1691640" cy="274320"/>
          </a:xfrm>
          <a:prstGeom prst="roundRect">
            <a:avLst>
              <a:gd name="adj" fmla="val 46667"/>
            </a:avLst>
          </a:prstGeom>
          <a:solidFill>
            <a:srgbClr val="E09A2B"/>
          </a:solidFill>
          <a:ln w="12700">
            <a:solidFill>
              <a:srgbClr val="E09A2B"/>
            </a:solidFill>
            <a:prstDash val="solid"/>
          </a:ln>
        </p:spPr>
        <p:txBody>
          <a:bodyPr/>
          <a:lstStyle/>
          <a:p>
            <a:endParaRPr lang="en-TR"/>
          </a:p>
        </p:txBody>
      </p:sp>
      <p:sp>
        <p:nvSpPr>
          <p:cNvPr id="29" name="Text 27"/>
          <p:cNvSpPr txBox="1"/>
          <p:nvPr/>
        </p:nvSpPr>
        <p:spPr>
          <a:xfrm>
            <a:off x="4626864" y="4343400"/>
            <a:ext cx="169164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operational</a:t>
            </a:r>
            <a:endParaRPr lang="en-US" sz="1050" dirty="0"/>
          </a:p>
        </p:txBody>
      </p:sp>
      <p:sp>
        <p:nvSpPr>
          <p:cNvPr id="30" name="Text 28"/>
          <p:cNvSpPr txBox="1"/>
          <p:nvPr/>
        </p:nvSpPr>
        <p:spPr>
          <a:xfrm>
            <a:off x="4626864" y="4709160"/>
            <a:ext cx="3154680" cy="320040"/>
          </a:xfrm>
          <a:prstGeom prst="rect">
            <a:avLst/>
          </a:prstGeom>
          <a:noFill/>
          <a:ln/>
        </p:spPr>
        <p:txBody>
          <a:bodyPr wrap="square" lIns="0" tIns="0" rIns="0" bIns="0" rtlCol="0" anchor="t"/>
          <a:lstStyle/>
          <a:p>
            <a:pPr marL="0" indent="0">
              <a:buNone/>
            </a:pPr>
            <a:r>
              <a:rPr lang="en-US" sz="1150" dirty="0">
                <a:solidFill>
                  <a:srgbClr val="7C8B99"/>
                </a:solidFill>
                <a:latin typeface="Calibri" pitchFamily="34" charset="0"/>
                <a:ea typeface="Calibri" pitchFamily="34" charset="-122"/>
                <a:cs typeface="Calibri" pitchFamily="34" charset="-120"/>
              </a:rPr>
              <a:t>telemetry, alarms, tickets, manual</a:t>
            </a:r>
            <a:endParaRPr lang="en-US" sz="1150" dirty="0"/>
          </a:p>
        </p:txBody>
      </p:sp>
      <p:sp>
        <p:nvSpPr>
          <p:cNvPr id="31" name="Shape 29"/>
          <p:cNvSpPr/>
          <p:nvPr/>
        </p:nvSpPr>
        <p:spPr>
          <a:xfrm>
            <a:off x="8156448" y="3886200"/>
            <a:ext cx="3566160" cy="1234440"/>
          </a:xfrm>
          <a:prstGeom prst="roundRect">
            <a:avLst>
              <a:gd name="adj" fmla="val 4444"/>
            </a:avLst>
          </a:prstGeom>
          <a:solidFill>
            <a:srgbClr val="EEF2F6"/>
          </a:solidFill>
          <a:ln w="12700">
            <a:solidFill>
              <a:srgbClr val="D6DEE6"/>
            </a:solidFill>
            <a:prstDash val="solid"/>
          </a:ln>
        </p:spPr>
        <p:txBody>
          <a:bodyPr/>
          <a:lstStyle/>
          <a:p>
            <a:endParaRPr lang="en-TR"/>
          </a:p>
        </p:txBody>
      </p:sp>
      <p:sp>
        <p:nvSpPr>
          <p:cNvPr id="32" name="Text 30"/>
          <p:cNvSpPr txBox="1"/>
          <p:nvPr/>
        </p:nvSpPr>
        <p:spPr>
          <a:xfrm>
            <a:off x="8385048" y="4041648"/>
            <a:ext cx="3108960" cy="274320"/>
          </a:xfrm>
          <a:prstGeom prst="rect">
            <a:avLst/>
          </a:prstGeom>
          <a:noFill/>
          <a:ln/>
        </p:spPr>
        <p:txBody>
          <a:bodyPr wrap="square" lIns="0" tIns="0" rIns="0" bIns="0" rtlCol="0" anchor="t"/>
          <a:lstStyle/>
          <a:p>
            <a:pPr marL="0" indent="0">
              <a:buNone/>
            </a:pPr>
            <a:r>
              <a:rPr lang="en-US" sz="1400" b="1" dirty="0">
                <a:solidFill>
                  <a:srgbClr val="132030"/>
                </a:solidFill>
                <a:latin typeface="Arial" pitchFamily="34" charset="0"/>
                <a:ea typeface="Arial" pitchFamily="34" charset="-122"/>
                <a:cs typeface="Arial" pitchFamily="34" charset="-120"/>
              </a:rPr>
              <a:t>Commercial agent</a:t>
            </a:r>
            <a:endParaRPr lang="en-US" sz="1400" dirty="0"/>
          </a:p>
        </p:txBody>
      </p:sp>
      <p:sp>
        <p:nvSpPr>
          <p:cNvPr id="33" name="Shape 31"/>
          <p:cNvSpPr/>
          <p:nvPr/>
        </p:nvSpPr>
        <p:spPr>
          <a:xfrm>
            <a:off x="8385048" y="4343400"/>
            <a:ext cx="1691640" cy="274320"/>
          </a:xfrm>
          <a:prstGeom prst="roundRect">
            <a:avLst>
              <a:gd name="adj" fmla="val 46667"/>
            </a:avLst>
          </a:prstGeom>
          <a:solidFill>
            <a:srgbClr val="2E7D5B"/>
          </a:solidFill>
          <a:ln w="12700">
            <a:solidFill>
              <a:srgbClr val="2E7D5B"/>
            </a:solidFill>
            <a:prstDash val="solid"/>
          </a:ln>
        </p:spPr>
        <p:txBody>
          <a:bodyPr/>
          <a:lstStyle/>
          <a:p>
            <a:endParaRPr lang="en-TR"/>
          </a:p>
        </p:txBody>
      </p:sp>
      <p:sp>
        <p:nvSpPr>
          <p:cNvPr id="34" name="Text 32"/>
          <p:cNvSpPr txBox="1"/>
          <p:nvPr/>
        </p:nvSpPr>
        <p:spPr>
          <a:xfrm>
            <a:off x="8385048" y="4343400"/>
            <a:ext cx="169164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commercial</a:t>
            </a:r>
            <a:endParaRPr lang="en-US" sz="1050" dirty="0"/>
          </a:p>
        </p:txBody>
      </p:sp>
      <p:sp>
        <p:nvSpPr>
          <p:cNvPr id="35" name="Text 33"/>
          <p:cNvSpPr txBox="1"/>
          <p:nvPr/>
        </p:nvSpPr>
        <p:spPr>
          <a:xfrm>
            <a:off x="8385048" y="4709160"/>
            <a:ext cx="3154680" cy="320040"/>
          </a:xfrm>
          <a:prstGeom prst="rect">
            <a:avLst/>
          </a:prstGeom>
          <a:noFill/>
          <a:ln/>
        </p:spPr>
        <p:txBody>
          <a:bodyPr wrap="square" lIns="0" tIns="0" rIns="0" bIns="0" rtlCol="0" anchor="t"/>
          <a:lstStyle/>
          <a:p>
            <a:pPr marL="0" indent="0">
              <a:buNone/>
            </a:pPr>
            <a:r>
              <a:rPr lang="en-US" sz="1150" dirty="0">
                <a:solidFill>
                  <a:srgbClr val="7C8B99"/>
                </a:solidFill>
                <a:latin typeface="Calibri" pitchFamily="34" charset="0"/>
                <a:ea typeface="Calibri" pitchFamily="34" charset="-122"/>
                <a:cs typeface="Calibri" pitchFamily="34" charset="-120"/>
              </a:rPr>
              <a:t>quotes, revisions, orders</a:t>
            </a:r>
            <a:endParaRPr lang="en-US" sz="1150" dirty="0"/>
          </a:p>
        </p:txBody>
      </p:sp>
      <p:sp>
        <p:nvSpPr>
          <p:cNvPr id="36" name="Shape 34"/>
          <p:cNvSpPr/>
          <p:nvPr/>
        </p:nvSpPr>
        <p:spPr>
          <a:xfrm>
            <a:off x="640080" y="5303520"/>
            <a:ext cx="10908792" cy="685800"/>
          </a:xfrm>
          <a:prstGeom prst="roundRect">
            <a:avLst>
              <a:gd name="adj" fmla="val 8000"/>
            </a:avLst>
          </a:prstGeom>
          <a:solidFill>
            <a:srgbClr val="EEF2F6"/>
          </a:solidFill>
          <a:ln w="12700">
            <a:solidFill>
              <a:srgbClr val="D6DEE6"/>
            </a:solidFill>
            <a:prstDash val="solid"/>
          </a:ln>
        </p:spPr>
        <p:txBody>
          <a:bodyPr/>
          <a:lstStyle/>
          <a:p>
            <a:endParaRPr lang="en-TR"/>
          </a:p>
        </p:txBody>
      </p:sp>
      <p:sp>
        <p:nvSpPr>
          <p:cNvPr id="37" name="Text 35"/>
          <p:cNvSpPr txBox="1"/>
          <p:nvPr/>
        </p:nvSpPr>
        <p:spPr>
          <a:xfrm>
            <a:off x="960120" y="5486400"/>
            <a:ext cx="10268712" cy="320040"/>
          </a:xfrm>
          <a:prstGeom prst="rect">
            <a:avLst/>
          </a:prstGeom>
          <a:noFill/>
          <a:ln/>
        </p:spPr>
        <p:txBody>
          <a:bodyPr wrap="square" lIns="0" tIns="0" rIns="0" bIns="0" rtlCol="0" anchor="t"/>
          <a:lstStyle/>
          <a:p>
            <a:pPr marL="0" indent="0">
              <a:buNone/>
            </a:pPr>
            <a:r>
              <a:rPr lang="en-US" sz="1300" dirty="0">
                <a:solidFill>
                  <a:srgbClr val="132030"/>
                </a:solidFill>
                <a:latin typeface="Calibri" pitchFamily="34" charset="0"/>
                <a:ea typeface="Calibri" pitchFamily="34" charset="-122"/>
                <a:cs typeface="Calibri" pitchFamily="34" charset="-120"/>
              </a:rPr>
              <a:t>SQLite database built from the Excel workbook            ·            TF-IDF index over the 8 manual PDFs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566928"/>
          </a:xfrm>
          <a:prstGeom prst="rect">
            <a:avLst/>
          </a:prstGeom>
          <a:noFill/>
          <a:ln/>
        </p:spPr>
        <p:txBody>
          <a:bodyPr wrap="square" lIns="0" tIns="0" rIns="0" bIns="0" rtlCol="0" anchor="t"/>
          <a:lstStyle/>
          <a:p>
            <a:pPr marL="0" indent="0">
              <a:buNone/>
            </a:pPr>
            <a:r>
              <a:rPr lang="en-US" sz="3200" b="1" dirty="0">
                <a:solidFill>
                  <a:srgbClr val="132030"/>
                </a:solidFill>
                <a:latin typeface="Arial" pitchFamily="34" charset="0"/>
                <a:ea typeface="Arial" pitchFamily="34" charset="-122"/>
                <a:cs typeface="Arial" pitchFamily="34" charset="-120"/>
              </a:rPr>
              <a:t>Why three agents, and why not more</a:t>
            </a:r>
            <a:endParaRPr lang="en-US" sz="3200" dirty="0"/>
          </a:p>
        </p:txBody>
      </p:sp>
      <p:sp>
        <p:nvSpPr>
          <p:cNvPr id="3" name="Text 1"/>
          <p:cNvSpPr txBox="1"/>
          <p:nvPr/>
        </p:nvSpPr>
        <p:spPr>
          <a:xfrm>
            <a:off x="640080" y="969264"/>
            <a:ext cx="10908792" cy="310896"/>
          </a:xfrm>
          <a:prstGeom prst="rect">
            <a:avLst/>
          </a:prstGeom>
          <a:noFill/>
          <a:ln/>
        </p:spPr>
        <p:txBody>
          <a:bodyPr wrap="square" lIns="0" tIns="0" rIns="0" bIns="0" rtlCol="0" anchor="t"/>
          <a:lstStyle/>
          <a:p>
            <a:pPr marL="0" indent="0">
              <a:buNone/>
            </a:pPr>
            <a:r>
              <a:rPr lang="en-US" sz="1400" dirty="0">
                <a:solidFill>
                  <a:srgbClr val="4A5A69"/>
                </a:solidFill>
                <a:latin typeface="Calibri" pitchFamily="34" charset="0"/>
                <a:ea typeface="Calibri" pitchFamily="34" charset="-122"/>
                <a:cs typeface="Calibri" pitchFamily="34" charset="-120"/>
              </a:rPr>
              <a:t>The dataset splits into three domains, and the access model is defined on exactly those three.</a:t>
            </a:r>
            <a:endParaRPr lang="en-US" sz="1400" dirty="0"/>
          </a:p>
        </p:txBody>
      </p:sp>
      <p:sp>
        <p:nvSpPr>
          <p:cNvPr id="4" name="Shape 2"/>
          <p:cNvSpPr/>
          <p:nvPr/>
        </p:nvSpPr>
        <p:spPr>
          <a:xfrm>
            <a:off x="640080" y="1554480"/>
            <a:ext cx="3566160" cy="2148840"/>
          </a:xfrm>
          <a:prstGeom prst="roundRect">
            <a:avLst>
              <a:gd name="adj" fmla="val 2553"/>
            </a:avLst>
          </a:prstGeom>
          <a:solidFill>
            <a:srgbClr val="EEF2F6"/>
          </a:solidFill>
          <a:ln w="12700">
            <a:solidFill>
              <a:srgbClr val="D6DEE6"/>
            </a:solidFill>
            <a:prstDash val="solid"/>
          </a:ln>
        </p:spPr>
        <p:txBody>
          <a:bodyPr/>
          <a:lstStyle/>
          <a:p>
            <a:endParaRPr/>
          </a:p>
        </p:txBody>
      </p:sp>
      <p:sp>
        <p:nvSpPr>
          <p:cNvPr id="5" name="Shape 3"/>
          <p:cNvSpPr/>
          <p:nvPr/>
        </p:nvSpPr>
        <p:spPr>
          <a:xfrm>
            <a:off x="868680" y="1783080"/>
            <a:ext cx="502920" cy="274320"/>
          </a:xfrm>
          <a:prstGeom prst="roundRect">
            <a:avLst>
              <a:gd name="adj" fmla="val 46667"/>
            </a:avLst>
          </a:prstGeom>
          <a:solidFill>
            <a:srgbClr val="1F6FB2"/>
          </a:solidFill>
          <a:ln w="12700">
            <a:solidFill>
              <a:srgbClr val="1F6FB2"/>
            </a:solidFill>
            <a:prstDash val="solid"/>
          </a:ln>
        </p:spPr>
        <p:txBody>
          <a:bodyPr/>
          <a:lstStyle/>
          <a:p>
            <a:endParaRPr/>
          </a:p>
        </p:txBody>
      </p:sp>
      <p:sp>
        <p:nvSpPr>
          <p:cNvPr id="6" name="Text 4"/>
          <p:cNvSpPr txBox="1"/>
          <p:nvPr/>
        </p:nvSpPr>
        <p:spPr>
          <a:xfrm>
            <a:off x="868680" y="1783080"/>
            <a:ext cx="5029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01</a:t>
            </a:r>
            <a:endParaRPr lang="en-US" sz="1050" dirty="0"/>
          </a:p>
        </p:txBody>
      </p:sp>
      <p:sp>
        <p:nvSpPr>
          <p:cNvPr id="7" name="Text 5"/>
          <p:cNvSpPr txBox="1"/>
          <p:nvPr/>
        </p:nvSpPr>
        <p:spPr>
          <a:xfrm>
            <a:off x="868680" y="2212848"/>
            <a:ext cx="3108960" cy="548640"/>
          </a:xfrm>
          <a:prstGeom prst="rect">
            <a:avLst/>
          </a:prstGeom>
          <a:noFill/>
          <a:ln/>
        </p:spPr>
        <p:txBody>
          <a:bodyPr wrap="square" lIns="0" tIns="0" rIns="0" bIns="0" rtlCol="0" anchor="t"/>
          <a:lstStyle/>
          <a:p>
            <a:pPr marL="0" indent="0">
              <a:buNone/>
            </a:pPr>
            <a:r>
              <a:rPr lang="en-US" sz="1450" b="1" dirty="0">
                <a:solidFill>
                  <a:srgbClr val="132030"/>
                </a:solidFill>
                <a:latin typeface="Arial" pitchFamily="34" charset="0"/>
                <a:ea typeface="Arial" pitchFamily="34" charset="-122"/>
                <a:cs typeface="Arial" pitchFamily="34" charset="-120"/>
              </a:rPr>
              <a:t>One agent per data domain</a:t>
            </a:r>
            <a:endParaRPr lang="en-US" sz="1450" dirty="0"/>
          </a:p>
        </p:txBody>
      </p:sp>
      <p:sp>
        <p:nvSpPr>
          <p:cNvPr id="8" name="Text 6"/>
          <p:cNvSpPr txBox="1"/>
          <p:nvPr/>
        </p:nvSpPr>
        <p:spPr>
          <a:xfrm>
            <a:off x="868680" y="2761488"/>
            <a:ext cx="3127248" cy="868680"/>
          </a:xfrm>
          <a:prstGeom prst="rect">
            <a:avLst/>
          </a:prstGeom>
          <a:noFill/>
          <a:ln/>
        </p:spPr>
        <p:txBody>
          <a:bodyPr wrap="square" lIns="0" tIns="0" rIns="0" bIns="0" rtlCol="0" anchor="t"/>
          <a:lstStyle/>
          <a:p>
            <a:pPr marL="0" indent="0">
              <a:lnSpc>
                <a:spcPts val="1600"/>
              </a:lnSpc>
              <a:buNone/>
            </a:pPr>
            <a:r>
              <a:rPr lang="en-US" sz="1200" dirty="0">
                <a:solidFill>
                  <a:srgbClr val="4A5A69"/>
                </a:solidFill>
                <a:latin typeface="Calibri" pitchFamily="34" charset="0"/>
                <a:ea typeface="Calibri" pitchFamily="34" charset="-122"/>
                <a:cs typeface="Calibri" pitchFamily="34" charset="-120"/>
              </a:rPr>
              <a:t>Routing and permission become one decision: if the router picks the diagnostics agent, the check is 'may this user read operational data'.</a:t>
            </a:r>
            <a:endParaRPr lang="en-US" sz="1200" dirty="0"/>
          </a:p>
        </p:txBody>
      </p:sp>
      <p:sp>
        <p:nvSpPr>
          <p:cNvPr id="9" name="Shape 7"/>
          <p:cNvSpPr/>
          <p:nvPr/>
        </p:nvSpPr>
        <p:spPr>
          <a:xfrm>
            <a:off x="4398264" y="1554480"/>
            <a:ext cx="3566160" cy="2148840"/>
          </a:xfrm>
          <a:prstGeom prst="roundRect">
            <a:avLst>
              <a:gd name="adj" fmla="val 2553"/>
            </a:avLst>
          </a:prstGeom>
          <a:solidFill>
            <a:srgbClr val="EEF2F6"/>
          </a:solidFill>
          <a:ln w="12700">
            <a:solidFill>
              <a:srgbClr val="D6DEE6"/>
            </a:solidFill>
            <a:prstDash val="solid"/>
          </a:ln>
        </p:spPr>
        <p:txBody>
          <a:bodyPr/>
          <a:lstStyle/>
          <a:p>
            <a:endParaRPr/>
          </a:p>
        </p:txBody>
      </p:sp>
      <p:sp>
        <p:nvSpPr>
          <p:cNvPr id="10" name="Shape 8"/>
          <p:cNvSpPr/>
          <p:nvPr/>
        </p:nvSpPr>
        <p:spPr>
          <a:xfrm>
            <a:off x="4626864" y="1783080"/>
            <a:ext cx="502920" cy="274320"/>
          </a:xfrm>
          <a:prstGeom prst="roundRect">
            <a:avLst>
              <a:gd name="adj" fmla="val 46667"/>
            </a:avLst>
          </a:prstGeom>
          <a:solidFill>
            <a:srgbClr val="2E7D5B"/>
          </a:solidFill>
          <a:ln w="12700">
            <a:solidFill>
              <a:srgbClr val="2E7D5B"/>
            </a:solidFill>
            <a:prstDash val="solid"/>
          </a:ln>
        </p:spPr>
        <p:txBody>
          <a:bodyPr/>
          <a:lstStyle/>
          <a:p>
            <a:endParaRPr/>
          </a:p>
        </p:txBody>
      </p:sp>
      <p:sp>
        <p:nvSpPr>
          <p:cNvPr id="11" name="Text 9"/>
          <p:cNvSpPr txBox="1"/>
          <p:nvPr/>
        </p:nvSpPr>
        <p:spPr>
          <a:xfrm>
            <a:off x="4626864" y="1783080"/>
            <a:ext cx="5029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02</a:t>
            </a:r>
            <a:endParaRPr lang="en-US" sz="1050" dirty="0"/>
          </a:p>
        </p:txBody>
      </p:sp>
      <p:sp>
        <p:nvSpPr>
          <p:cNvPr id="12" name="Text 10"/>
          <p:cNvSpPr txBox="1"/>
          <p:nvPr/>
        </p:nvSpPr>
        <p:spPr>
          <a:xfrm>
            <a:off x="4626864" y="2212848"/>
            <a:ext cx="3108960" cy="548640"/>
          </a:xfrm>
          <a:prstGeom prst="rect">
            <a:avLst/>
          </a:prstGeom>
          <a:noFill/>
          <a:ln/>
        </p:spPr>
        <p:txBody>
          <a:bodyPr wrap="square" lIns="0" tIns="0" rIns="0" bIns="0" rtlCol="0" anchor="t"/>
          <a:lstStyle/>
          <a:p>
            <a:pPr marL="0" indent="0">
              <a:buNone/>
            </a:pPr>
            <a:r>
              <a:rPr lang="en-US" sz="1450" b="1" dirty="0">
                <a:solidFill>
                  <a:srgbClr val="132030"/>
                </a:solidFill>
                <a:latin typeface="Arial" pitchFamily="34" charset="0"/>
                <a:ea typeface="Arial" pitchFamily="34" charset="-122"/>
                <a:cs typeface="Arial" pitchFamily="34" charset="-120"/>
              </a:rPr>
              <a:t>3 to 7 tools instead of 12</a:t>
            </a:r>
            <a:endParaRPr lang="en-US" sz="1450" dirty="0"/>
          </a:p>
        </p:txBody>
      </p:sp>
      <p:sp>
        <p:nvSpPr>
          <p:cNvPr id="13" name="Text 11"/>
          <p:cNvSpPr txBox="1"/>
          <p:nvPr/>
        </p:nvSpPr>
        <p:spPr>
          <a:xfrm>
            <a:off x="4626864" y="2761488"/>
            <a:ext cx="3127248" cy="868680"/>
          </a:xfrm>
          <a:prstGeom prst="rect">
            <a:avLst/>
          </a:prstGeom>
          <a:noFill/>
          <a:ln/>
        </p:spPr>
        <p:txBody>
          <a:bodyPr wrap="square" lIns="0" tIns="0" rIns="0" bIns="0" rtlCol="0" anchor="t"/>
          <a:lstStyle/>
          <a:p>
            <a:pPr marL="0" indent="0">
              <a:lnSpc>
                <a:spcPts val="1600"/>
              </a:lnSpc>
              <a:buNone/>
            </a:pPr>
            <a:r>
              <a:rPr lang="en-US" sz="1200" dirty="0">
                <a:solidFill>
                  <a:srgbClr val="4A5A69"/>
                </a:solidFill>
                <a:latin typeface="Calibri" pitchFamily="34" charset="0"/>
                <a:ea typeface="Calibri" pitchFamily="34" charset="-122"/>
                <a:cs typeface="Calibri" pitchFamily="34" charset="-120"/>
              </a:rPr>
              <a:t>The model picks the right tool more easily from a short list than from twelve.</a:t>
            </a:r>
            <a:endParaRPr lang="en-US" sz="1200" dirty="0"/>
          </a:p>
        </p:txBody>
      </p:sp>
      <p:sp>
        <p:nvSpPr>
          <p:cNvPr id="14" name="Shape 12"/>
          <p:cNvSpPr/>
          <p:nvPr/>
        </p:nvSpPr>
        <p:spPr>
          <a:xfrm>
            <a:off x="8156448" y="1554480"/>
            <a:ext cx="3566160" cy="2148840"/>
          </a:xfrm>
          <a:prstGeom prst="roundRect">
            <a:avLst>
              <a:gd name="adj" fmla="val 2553"/>
            </a:avLst>
          </a:prstGeom>
          <a:solidFill>
            <a:srgbClr val="EEF2F6"/>
          </a:solidFill>
          <a:ln w="12700">
            <a:solidFill>
              <a:srgbClr val="D6DEE6"/>
            </a:solidFill>
            <a:prstDash val="solid"/>
          </a:ln>
        </p:spPr>
        <p:txBody>
          <a:bodyPr/>
          <a:lstStyle/>
          <a:p>
            <a:endParaRPr lang="en-TR"/>
          </a:p>
        </p:txBody>
      </p:sp>
      <p:sp>
        <p:nvSpPr>
          <p:cNvPr id="15" name="Shape 13"/>
          <p:cNvSpPr/>
          <p:nvPr/>
        </p:nvSpPr>
        <p:spPr>
          <a:xfrm>
            <a:off x="8385048" y="1783080"/>
            <a:ext cx="502920" cy="274320"/>
          </a:xfrm>
          <a:prstGeom prst="roundRect">
            <a:avLst>
              <a:gd name="adj" fmla="val 46667"/>
            </a:avLst>
          </a:prstGeom>
          <a:solidFill>
            <a:srgbClr val="E09A2B"/>
          </a:solidFill>
          <a:ln w="12700">
            <a:solidFill>
              <a:srgbClr val="E09A2B"/>
            </a:solidFill>
            <a:prstDash val="solid"/>
          </a:ln>
        </p:spPr>
        <p:txBody>
          <a:bodyPr/>
          <a:lstStyle/>
          <a:p>
            <a:endParaRPr lang="en-TR"/>
          </a:p>
        </p:txBody>
      </p:sp>
      <p:sp>
        <p:nvSpPr>
          <p:cNvPr id="16" name="Text 14"/>
          <p:cNvSpPr txBox="1"/>
          <p:nvPr/>
        </p:nvSpPr>
        <p:spPr>
          <a:xfrm>
            <a:off x="8385048" y="1783080"/>
            <a:ext cx="5029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03</a:t>
            </a:r>
            <a:endParaRPr lang="en-US" sz="1050" dirty="0"/>
          </a:p>
        </p:txBody>
      </p:sp>
      <p:sp>
        <p:nvSpPr>
          <p:cNvPr id="17" name="Text 15"/>
          <p:cNvSpPr txBox="1"/>
          <p:nvPr/>
        </p:nvSpPr>
        <p:spPr>
          <a:xfrm>
            <a:off x="8385048" y="2212848"/>
            <a:ext cx="3108960" cy="548640"/>
          </a:xfrm>
          <a:prstGeom prst="rect">
            <a:avLst/>
          </a:prstGeom>
          <a:noFill/>
          <a:ln/>
        </p:spPr>
        <p:txBody>
          <a:bodyPr wrap="square" lIns="0" tIns="0" rIns="0" bIns="0" rtlCol="0" anchor="t"/>
          <a:lstStyle/>
          <a:p>
            <a:pPr marL="0" indent="0">
              <a:buNone/>
            </a:pPr>
            <a:r>
              <a:rPr lang="en-US" sz="1450" b="1" dirty="0">
                <a:solidFill>
                  <a:srgbClr val="132030"/>
                </a:solidFill>
                <a:latin typeface="Arial" pitchFamily="34" charset="0"/>
                <a:ea typeface="Arial" pitchFamily="34" charset="-122"/>
                <a:cs typeface="Arial" pitchFamily="34" charset="-120"/>
              </a:rPr>
              <a:t>No separate troubleshooting agent</a:t>
            </a:r>
            <a:endParaRPr lang="en-US" sz="1450" dirty="0"/>
          </a:p>
        </p:txBody>
      </p:sp>
      <p:sp>
        <p:nvSpPr>
          <p:cNvPr id="18" name="Text 16"/>
          <p:cNvSpPr txBox="1"/>
          <p:nvPr/>
        </p:nvSpPr>
        <p:spPr>
          <a:xfrm>
            <a:off x="8385048" y="2761488"/>
            <a:ext cx="3127248" cy="868680"/>
          </a:xfrm>
          <a:prstGeom prst="rect">
            <a:avLst/>
          </a:prstGeom>
          <a:noFill/>
          <a:ln/>
        </p:spPr>
        <p:txBody>
          <a:bodyPr wrap="square" lIns="0" tIns="0" rIns="0" bIns="0" rtlCol="0" anchor="t"/>
          <a:lstStyle/>
          <a:p>
            <a:pPr marL="0" indent="0">
              <a:lnSpc>
                <a:spcPts val="1600"/>
              </a:lnSpc>
              <a:buNone/>
            </a:pPr>
            <a:r>
              <a:rPr lang="en-US" sz="1200" dirty="0">
                <a:solidFill>
                  <a:srgbClr val="4A5A69"/>
                </a:solidFill>
                <a:latin typeface="Calibri" pitchFamily="34" charset="0"/>
                <a:ea typeface="Calibri" pitchFamily="34" charset="-122"/>
                <a:cs typeface="Calibri" pitchFamily="34" charset="-120"/>
              </a:rPr>
              <a:t>Troubleshooting is the one workflow that crosses two sources, so the diagnostics agent simply also has search_manual. A fourth agent would add a layer, not a capability.</a:t>
            </a:r>
            <a:endParaRPr lang="en-US" sz="1200" dirty="0"/>
          </a:p>
        </p:txBody>
      </p:sp>
      <p:sp>
        <p:nvSpPr>
          <p:cNvPr id="19" name="Shape 17"/>
          <p:cNvSpPr/>
          <p:nvPr/>
        </p:nvSpPr>
        <p:spPr>
          <a:xfrm>
            <a:off x="640080" y="3931920"/>
            <a:ext cx="10908792" cy="1828800"/>
          </a:xfrm>
          <a:prstGeom prst="roundRect">
            <a:avLst>
              <a:gd name="adj" fmla="val 3000"/>
            </a:avLst>
          </a:prstGeom>
          <a:solidFill>
            <a:srgbClr val="F7F9FB"/>
          </a:solidFill>
          <a:ln w="12700">
            <a:solidFill>
              <a:srgbClr val="D6DEE6"/>
            </a:solidFill>
            <a:prstDash val="solid"/>
          </a:ln>
        </p:spPr>
        <p:txBody>
          <a:bodyPr/>
          <a:lstStyle/>
          <a:p>
            <a:endParaRPr lang="en-TR"/>
          </a:p>
        </p:txBody>
      </p:sp>
      <p:sp>
        <p:nvSpPr>
          <p:cNvPr id="20" name="Text 18"/>
          <p:cNvSpPr txBox="1"/>
          <p:nvPr/>
        </p:nvSpPr>
        <p:spPr>
          <a:xfrm>
            <a:off x="960120" y="4114800"/>
            <a:ext cx="10058400" cy="320040"/>
          </a:xfrm>
          <a:prstGeom prst="rect">
            <a:avLst/>
          </a:prstGeom>
          <a:noFill/>
          <a:ln/>
        </p:spPr>
        <p:txBody>
          <a:bodyPr wrap="square" lIns="0" tIns="0" rIns="0" bIns="0" rtlCol="0" anchor="t"/>
          <a:lstStyle/>
          <a:p>
            <a:pPr marL="0" indent="0">
              <a:buNone/>
            </a:pPr>
            <a:r>
              <a:rPr lang="en-US" sz="1500" b="1" dirty="0">
                <a:solidFill>
                  <a:srgbClr val="132030"/>
                </a:solidFill>
                <a:latin typeface="Arial" pitchFamily="34" charset="0"/>
                <a:ea typeface="Arial" pitchFamily="34" charset="-122"/>
                <a:cs typeface="Arial" pitchFamily="34" charset="-120"/>
              </a:rPr>
              <a:t>The alternative we rejected: one agent with all twelve tools</a:t>
            </a:r>
            <a:endParaRPr lang="en-US" sz="1500" dirty="0"/>
          </a:p>
        </p:txBody>
      </p:sp>
      <p:sp>
        <p:nvSpPr>
          <p:cNvPr id="21" name="Text 19"/>
          <p:cNvSpPr txBox="1"/>
          <p:nvPr/>
        </p:nvSpPr>
        <p:spPr>
          <a:xfrm>
            <a:off x="960120" y="4480560"/>
            <a:ext cx="10241280" cy="914400"/>
          </a:xfrm>
          <a:prstGeom prst="rect">
            <a:avLst/>
          </a:prstGeom>
          <a:noFill/>
          <a:ln/>
        </p:spPr>
        <p:txBody>
          <a:bodyPr wrap="square" lIns="0" tIns="0" rIns="0" bIns="0" rtlCol="0" anchor="t"/>
          <a:lstStyle/>
          <a:p>
            <a:pPr marL="0" indent="0">
              <a:lnSpc>
                <a:spcPts val="1900"/>
              </a:lnSpc>
              <a:buNone/>
            </a:pPr>
            <a:r>
              <a:rPr lang="en-US" sz="1300" dirty="0">
                <a:solidFill>
                  <a:srgbClr val="4A5A69"/>
                </a:solidFill>
                <a:latin typeface="Calibri" pitchFamily="34" charset="0"/>
                <a:ea typeface="Calibri" pitchFamily="34" charset="-122"/>
                <a:cs typeface="Calibri" pitchFamily="34" charset="-120"/>
              </a:rPr>
              <a:t>It would still work, but the permission check could then only happen inside each tool, after the model had already decided to reach for commercial data on behalf of a technician. Routing first lets the platform refuse before any data is touched, and the refusal is a sentence written by us, not by the model.</a:t>
            </a:r>
            <a:endParaRPr lang="en-US" sz="1300" dirty="0"/>
          </a:p>
        </p:txBody>
      </p:sp>
      <p:sp>
        <p:nvSpPr>
          <p:cNvPr id="22" name="Text 20"/>
          <p:cNvSpPr txBox="1"/>
          <p:nvPr/>
        </p:nvSpPr>
        <p:spPr>
          <a:xfrm>
            <a:off x="960120" y="5349240"/>
            <a:ext cx="10241280" cy="274320"/>
          </a:xfrm>
          <a:prstGeom prst="rect">
            <a:avLst/>
          </a:prstGeom>
          <a:noFill/>
          <a:ln/>
        </p:spPr>
        <p:txBody>
          <a:bodyPr wrap="square" lIns="0" tIns="0" rIns="0" bIns="0" rtlCol="0" anchor="t"/>
          <a:lstStyle/>
          <a:p>
            <a:pPr marL="0" indent="0">
              <a:buNone/>
            </a:pPr>
            <a:r>
              <a:rPr lang="en-US" sz="1200" dirty="0">
                <a:solidFill>
                  <a:srgbClr val="7C8B99"/>
                </a:solidFill>
                <a:latin typeface="Calibri" pitchFamily="34" charset="0"/>
                <a:ea typeface="Calibri" pitchFamily="34" charset="-122"/>
                <a:cs typeface="Calibri" pitchFamily="34" charset="-120"/>
              </a:rPr>
              <a:t>Cost of routing: one extra model call per turn.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566928"/>
          </a:xfrm>
          <a:prstGeom prst="rect">
            <a:avLst/>
          </a:prstGeom>
          <a:noFill/>
          <a:ln/>
        </p:spPr>
        <p:txBody>
          <a:bodyPr wrap="square" lIns="0" tIns="0" rIns="0" bIns="0" rtlCol="0" anchor="t"/>
          <a:lstStyle/>
          <a:p>
            <a:pPr marL="0" indent="0">
              <a:buNone/>
            </a:pPr>
            <a:r>
              <a:rPr lang="en-US" sz="3200" b="1" dirty="0">
                <a:solidFill>
                  <a:srgbClr val="132030"/>
                </a:solidFill>
                <a:latin typeface="Arial" pitchFamily="34" charset="0"/>
                <a:ea typeface="Arial" pitchFamily="34" charset="-122"/>
                <a:cs typeface="Arial" pitchFamily="34" charset="-120"/>
              </a:rPr>
              <a:t>From raw files to answerable data</a:t>
            </a:r>
            <a:endParaRPr lang="en-US" sz="3200" dirty="0"/>
          </a:p>
        </p:txBody>
      </p:sp>
      <p:sp>
        <p:nvSpPr>
          <p:cNvPr id="3" name="Text 1"/>
          <p:cNvSpPr txBox="1"/>
          <p:nvPr/>
        </p:nvSpPr>
        <p:spPr>
          <a:xfrm>
            <a:off x="640080" y="969264"/>
            <a:ext cx="10908792" cy="310896"/>
          </a:xfrm>
          <a:prstGeom prst="rect">
            <a:avLst/>
          </a:prstGeom>
          <a:noFill/>
          <a:ln/>
        </p:spPr>
        <p:txBody>
          <a:bodyPr wrap="square" lIns="0" tIns="0" rIns="0" bIns="0" rtlCol="0" anchor="t"/>
          <a:lstStyle/>
          <a:p>
            <a:pPr marL="0" indent="0">
              <a:buNone/>
            </a:pPr>
            <a:r>
              <a:rPr lang="en-US" sz="1400" dirty="0">
                <a:solidFill>
                  <a:srgbClr val="4A5A69"/>
                </a:solidFill>
                <a:latin typeface="Calibri" pitchFamily="34" charset="0"/>
                <a:ea typeface="Calibri" pitchFamily="34" charset="-122"/>
                <a:cs typeface="Calibri" pitchFamily="34" charset="-120"/>
              </a:rPr>
              <a:t>Two loader scripts, run once. Both outputs can be rebuilt from the dataset.</a:t>
            </a:r>
            <a:endParaRPr lang="en-US" sz="1400" dirty="0"/>
          </a:p>
        </p:txBody>
      </p:sp>
      <p:sp>
        <p:nvSpPr>
          <p:cNvPr id="4" name="Shape 2"/>
          <p:cNvSpPr/>
          <p:nvPr/>
        </p:nvSpPr>
        <p:spPr>
          <a:xfrm>
            <a:off x="640080" y="1554480"/>
            <a:ext cx="5349240" cy="4114800"/>
          </a:xfrm>
          <a:prstGeom prst="roundRect">
            <a:avLst>
              <a:gd name="adj" fmla="val 1333"/>
            </a:avLst>
          </a:prstGeom>
          <a:solidFill>
            <a:srgbClr val="EEF2F6"/>
          </a:solidFill>
          <a:ln w="12700">
            <a:solidFill>
              <a:srgbClr val="D6DEE6"/>
            </a:solidFill>
            <a:prstDash val="solid"/>
          </a:ln>
        </p:spPr>
        <p:txBody>
          <a:bodyPr/>
          <a:lstStyle/>
          <a:p>
            <a:endParaRPr lang="en-TR"/>
          </a:p>
        </p:txBody>
      </p:sp>
      <p:sp>
        <p:nvSpPr>
          <p:cNvPr id="5" name="Shape 3"/>
          <p:cNvSpPr/>
          <p:nvPr/>
        </p:nvSpPr>
        <p:spPr>
          <a:xfrm>
            <a:off x="914400" y="1783080"/>
            <a:ext cx="1371600" cy="274320"/>
          </a:xfrm>
          <a:prstGeom prst="roundRect">
            <a:avLst>
              <a:gd name="adj" fmla="val 46667"/>
            </a:avLst>
          </a:prstGeom>
          <a:solidFill>
            <a:srgbClr val="1F6FB2"/>
          </a:solidFill>
          <a:ln w="12700">
            <a:solidFill>
              <a:srgbClr val="1F6FB2"/>
            </a:solidFill>
            <a:prstDash val="solid"/>
          </a:ln>
        </p:spPr>
        <p:txBody>
          <a:bodyPr/>
          <a:lstStyle/>
          <a:p>
            <a:endParaRPr lang="en-TR"/>
          </a:p>
        </p:txBody>
      </p:sp>
      <p:sp>
        <p:nvSpPr>
          <p:cNvPr id="6" name="Text 4"/>
          <p:cNvSpPr txBox="1"/>
          <p:nvPr/>
        </p:nvSpPr>
        <p:spPr>
          <a:xfrm>
            <a:off x="914400" y="1783080"/>
            <a:ext cx="137160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STRUCTURED</a:t>
            </a:r>
            <a:endParaRPr lang="en-US" sz="1050" dirty="0"/>
          </a:p>
        </p:txBody>
      </p:sp>
      <p:sp>
        <p:nvSpPr>
          <p:cNvPr id="7" name="Text 5"/>
          <p:cNvSpPr txBox="1"/>
          <p:nvPr/>
        </p:nvSpPr>
        <p:spPr>
          <a:xfrm>
            <a:off x="914400" y="2194560"/>
            <a:ext cx="4754880" cy="320040"/>
          </a:xfrm>
          <a:prstGeom prst="rect">
            <a:avLst/>
          </a:prstGeom>
          <a:noFill/>
          <a:ln/>
        </p:spPr>
        <p:txBody>
          <a:bodyPr wrap="square" lIns="0" tIns="0" rIns="0" bIns="0" rtlCol="0" anchor="t"/>
          <a:lstStyle/>
          <a:p>
            <a:pPr marL="0" indent="0">
              <a:buNone/>
            </a:pPr>
            <a:r>
              <a:rPr lang="en-US" sz="1600" b="1" dirty="0">
                <a:solidFill>
                  <a:srgbClr val="132030"/>
                </a:solidFill>
                <a:latin typeface="Arial" pitchFamily="34" charset="0"/>
                <a:ea typeface="Arial" pitchFamily="34" charset="-122"/>
                <a:cs typeface="Arial" pitchFamily="34" charset="-120"/>
              </a:rPr>
              <a:t>Excel workbook  →  SQLite</a:t>
            </a:r>
            <a:endParaRPr lang="en-US" sz="1600" dirty="0"/>
          </a:p>
        </p:txBody>
      </p:sp>
      <p:sp>
        <p:nvSpPr>
          <p:cNvPr id="8" name="Text 6"/>
          <p:cNvSpPr txBox="1"/>
          <p:nvPr/>
        </p:nvSpPr>
        <p:spPr>
          <a:xfrm>
            <a:off x="914400" y="2578608"/>
            <a:ext cx="4754880" cy="548640"/>
          </a:xfrm>
          <a:prstGeom prst="rect">
            <a:avLst/>
          </a:prstGeom>
          <a:noFill/>
          <a:ln/>
        </p:spPr>
        <p:txBody>
          <a:bodyPr wrap="square" lIns="0" tIns="0" rIns="0" bIns="0" rtlCol="0" anchor="t"/>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One table per sheet, empty cells kept as NULL because some</a:t>
            </a:r>
            <a:endParaRPr lang="en-US" sz="1250" dirty="0"/>
          </a:p>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foreign keys are empty in the dataset.</a:t>
            </a:r>
            <a:endParaRPr lang="en-US" sz="1250" dirty="0"/>
          </a:p>
        </p:txBody>
      </p:sp>
      <p:sp>
        <p:nvSpPr>
          <p:cNvPr id="9" name="Text 7"/>
          <p:cNvSpPr txBox="1"/>
          <p:nvPr/>
        </p:nvSpPr>
        <p:spPr>
          <a:xfrm>
            <a:off x="914400" y="3200400"/>
            <a:ext cx="4754880" cy="274320"/>
          </a:xfrm>
          <a:prstGeom prst="rect">
            <a:avLst/>
          </a:prstGeom>
          <a:noFill/>
          <a:ln/>
        </p:spPr>
        <p:txBody>
          <a:bodyPr wrap="square" lIns="0" tIns="0" rIns="0" bIns="0" rtlCol="0" anchor="t"/>
          <a:lstStyle/>
          <a:p>
            <a:pPr marL="0" indent="0">
              <a:buNone/>
            </a:pPr>
            <a:r>
              <a:rPr lang="en-US" sz="1250" b="1" dirty="0">
                <a:solidFill>
                  <a:srgbClr val="132030"/>
                </a:solidFill>
                <a:latin typeface="Calibri" pitchFamily="34" charset="0"/>
                <a:ea typeface="Calibri" pitchFamily="34" charset="-122"/>
                <a:cs typeface="Calibri" pitchFamily="34" charset="-120"/>
              </a:rPr>
              <a:t>Why it matters for the agents:</a:t>
            </a:r>
            <a:endParaRPr lang="en-US" sz="1250" dirty="0"/>
          </a:p>
        </p:txBody>
      </p:sp>
      <p:sp>
        <p:nvSpPr>
          <p:cNvPr id="10" name="Text 8"/>
          <p:cNvSpPr txBox="1"/>
          <p:nvPr/>
        </p:nvSpPr>
        <p:spPr>
          <a:xfrm>
            <a:off x="914400" y="3520440"/>
            <a:ext cx="4754880" cy="1280160"/>
          </a:xfrm>
          <a:prstGeom prst="rect">
            <a:avLst/>
          </a:prstGeom>
          <a:noFill/>
          <a:ln/>
        </p:spPr>
        <p:txBody>
          <a:bodyPr wrap="square" lIns="0" tIns="0" rIns="0" bIns="0" rtlCol="0" anchor="t"/>
          <a:lstStyle/>
          <a:p>
            <a:pPr marL="0" indent="0">
              <a:lnSpc>
                <a:spcPts val="1900"/>
              </a:lnSpc>
              <a:buNone/>
            </a:pPr>
            <a:r>
              <a:rPr lang="en-US" sz="1250" dirty="0">
                <a:solidFill>
                  <a:srgbClr val="4A5A69"/>
                </a:solidFill>
                <a:latin typeface="Calibri" pitchFamily="34" charset="0"/>
                <a:ea typeface="Calibri" pitchFamily="34" charset="-122"/>
                <a:cs typeface="Calibri" pitchFamily="34" charset="-120"/>
              </a:rPr>
              <a:t>•  aggregation happens in SQL, not in the model</a:t>
            </a:r>
            <a:endParaRPr lang="en-US" sz="1250" dirty="0"/>
          </a:p>
          <a:p>
            <a:pPr marL="0" indent="0">
              <a:lnSpc>
                <a:spcPts val="1900"/>
              </a:lnSpc>
              <a:buNone/>
            </a:pPr>
            <a:r>
              <a:rPr lang="en-US" sz="1250" dirty="0">
                <a:solidFill>
                  <a:srgbClr val="4A5A69"/>
                </a:solidFill>
                <a:latin typeface="Calibri" pitchFamily="34" charset="0"/>
                <a:ea typeface="Calibri" pitchFamily="34" charset="-122"/>
                <a:cs typeface="Calibri" pitchFamily="34" charset="-120"/>
              </a:rPr>
              <a:t>•  720 telemetry rows become a dozen numbers</a:t>
            </a:r>
            <a:endParaRPr lang="en-US" sz="1250" dirty="0"/>
          </a:p>
          <a:p>
            <a:pPr marL="0" indent="0">
              <a:lnSpc>
                <a:spcPts val="1900"/>
              </a:lnSpc>
              <a:buNone/>
            </a:pPr>
            <a:r>
              <a:rPr lang="en-US" sz="1250" dirty="0">
                <a:solidFill>
                  <a:srgbClr val="4A5A69"/>
                </a:solidFill>
                <a:latin typeface="Calibri" pitchFamily="34" charset="0"/>
                <a:ea typeface="Calibri" pitchFamily="34" charset="-122"/>
                <a:cs typeface="Calibri" pitchFamily="34" charset="-120"/>
              </a:rPr>
              <a:t>•  every list is capped before it reaches the model</a:t>
            </a:r>
            <a:endParaRPr lang="en-US" sz="1250" dirty="0"/>
          </a:p>
          <a:p>
            <a:pPr marL="0" indent="0">
              <a:lnSpc>
                <a:spcPts val="1900"/>
              </a:lnSpc>
              <a:buNone/>
            </a:pPr>
            <a:r>
              <a:rPr lang="en-US" sz="1250" dirty="0">
                <a:solidFill>
                  <a:srgbClr val="4A5A69"/>
                </a:solidFill>
                <a:latin typeface="Calibri" pitchFamily="34" charset="0"/>
                <a:ea typeface="Calibri" pitchFamily="34" charset="-122"/>
                <a:cs typeface="Calibri" pitchFamily="34" charset="-120"/>
              </a:rPr>
              <a:t>•  LEFT JOIN everywhere, so empty keys drop no rows</a:t>
            </a:r>
            <a:endParaRPr lang="en-US" sz="1250" dirty="0"/>
          </a:p>
        </p:txBody>
      </p:sp>
      <p:sp>
        <p:nvSpPr>
          <p:cNvPr id="11" name="Text 9"/>
          <p:cNvSpPr txBox="1"/>
          <p:nvPr/>
        </p:nvSpPr>
        <p:spPr>
          <a:xfrm>
            <a:off x="914400" y="5166360"/>
            <a:ext cx="4754880" cy="274320"/>
          </a:xfrm>
          <a:prstGeom prst="rect">
            <a:avLst/>
          </a:prstGeom>
          <a:noFill/>
          <a:ln/>
        </p:spPr>
        <p:txBody>
          <a:bodyPr wrap="square" lIns="0" tIns="0" rIns="0" bIns="0" rtlCol="0" anchor="t"/>
          <a:lstStyle/>
          <a:p>
            <a:pPr marL="0" indent="0">
              <a:buNone/>
            </a:pPr>
            <a:r>
              <a:rPr lang="en-US" sz="1200" dirty="0">
                <a:solidFill>
                  <a:srgbClr val="7C8B99"/>
                </a:solidFill>
                <a:latin typeface="Calibri" pitchFamily="34" charset="0"/>
                <a:ea typeface="Calibri" pitchFamily="34" charset="-122"/>
                <a:cs typeface="Calibri" pitchFamily="34" charset="-120"/>
              </a:rPr>
              <a:t>Result: data/arol.db, 0.8 MB</a:t>
            </a:r>
            <a:endParaRPr lang="en-US" sz="1200" dirty="0"/>
          </a:p>
        </p:txBody>
      </p:sp>
      <p:sp>
        <p:nvSpPr>
          <p:cNvPr id="12" name="Shape 10"/>
          <p:cNvSpPr/>
          <p:nvPr/>
        </p:nvSpPr>
        <p:spPr>
          <a:xfrm>
            <a:off x="6199632" y="1554480"/>
            <a:ext cx="5349240" cy="4114800"/>
          </a:xfrm>
          <a:prstGeom prst="roundRect">
            <a:avLst>
              <a:gd name="adj" fmla="val 1333"/>
            </a:avLst>
          </a:prstGeom>
          <a:solidFill>
            <a:srgbClr val="EEF2F6"/>
          </a:solidFill>
          <a:ln w="12700">
            <a:solidFill>
              <a:srgbClr val="D6DEE6"/>
            </a:solidFill>
            <a:prstDash val="solid"/>
          </a:ln>
        </p:spPr>
        <p:txBody>
          <a:bodyPr/>
          <a:lstStyle/>
          <a:p>
            <a:endParaRPr lang="en-TR"/>
          </a:p>
        </p:txBody>
      </p:sp>
      <p:sp>
        <p:nvSpPr>
          <p:cNvPr id="13" name="Shape 11"/>
          <p:cNvSpPr/>
          <p:nvPr/>
        </p:nvSpPr>
        <p:spPr>
          <a:xfrm>
            <a:off x="6473952" y="1783080"/>
            <a:ext cx="1691640" cy="274320"/>
          </a:xfrm>
          <a:prstGeom prst="roundRect">
            <a:avLst>
              <a:gd name="adj" fmla="val 46667"/>
            </a:avLst>
          </a:prstGeom>
          <a:solidFill>
            <a:srgbClr val="E09A2B"/>
          </a:solidFill>
          <a:ln w="12700">
            <a:solidFill>
              <a:srgbClr val="E09A2B"/>
            </a:solidFill>
            <a:prstDash val="solid"/>
          </a:ln>
        </p:spPr>
        <p:txBody>
          <a:bodyPr/>
          <a:lstStyle/>
          <a:p>
            <a:endParaRPr lang="en-TR"/>
          </a:p>
        </p:txBody>
      </p:sp>
      <p:sp>
        <p:nvSpPr>
          <p:cNvPr id="14" name="Text 12"/>
          <p:cNvSpPr txBox="1"/>
          <p:nvPr/>
        </p:nvSpPr>
        <p:spPr>
          <a:xfrm>
            <a:off x="6473952" y="1783080"/>
            <a:ext cx="169164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UNSTRUCTURED</a:t>
            </a:r>
            <a:endParaRPr lang="en-US" sz="1050" dirty="0"/>
          </a:p>
        </p:txBody>
      </p:sp>
      <p:sp>
        <p:nvSpPr>
          <p:cNvPr id="15" name="Text 13"/>
          <p:cNvSpPr txBox="1"/>
          <p:nvPr/>
        </p:nvSpPr>
        <p:spPr>
          <a:xfrm>
            <a:off x="6473952" y="2194560"/>
            <a:ext cx="4754880" cy="320040"/>
          </a:xfrm>
          <a:prstGeom prst="rect">
            <a:avLst/>
          </a:prstGeom>
          <a:noFill/>
          <a:ln/>
        </p:spPr>
        <p:txBody>
          <a:bodyPr wrap="square" lIns="0" tIns="0" rIns="0" bIns="0" rtlCol="0" anchor="t"/>
          <a:lstStyle/>
          <a:p>
            <a:pPr marL="0" indent="0">
              <a:buNone/>
            </a:pPr>
            <a:r>
              <a:rPr lang="en-US" sz="1600" b="1" dirty="0">
                <a:solidFill>
                  <a:srgbClr val="132030"/>
                </a:solidFill>
                <a:latin typeface="Arial" pitchFamily="34" charset="0"/>
                <a:ea typeface="Arial" pitchFamily="34" charset="-122"/>
                <a:cs typeface="Arial" pitchFamily="34" charset="-120"/>
              </a:rPr>
              <a:t>Manual PDFs  →  TF-IDF index (RAG)</a:t>
            </a:r>
            <a:endParaRPr lang="en-US" sz="1600" dirty="0"/>
          </a:p>
        </p:txBody>
      </p:sp>
      <p:sp>
        <p:nvSpPr>
          <p:cNvPr id="16" name="Text 14"/>
          <p:cNvSpPr txBox="1"/>
          <p:nvPr/>
        </p:nvSpPr>
        <p:spPr>
          <a:xfrm>
            <a:off x="6473952" y="2578608"/>
            <a:ext cx="4754880" cy="548640"/>
          </a:xfrm>
          <a:prstGeom prst="rect">
            <a:avLst/>
          </a:prstGeom>
          <a:noFill/>
          <a:ln/>
        </p:spPr>
        <p:txBody>
          <a:bodyPr wrap="square" lIns="0" tIns="0" rIns="0" bIns="0" rtlCol="0" anchor="t"/>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One chunk = one PDF page. Page numbers survive retrieval,</a:t>
            </a:r>
            <a:endParaRPr lang="en-US" sz="1250" dirty="0"/>
          </a:p>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which is what makes citations possible.</a:t>
            </a:r>
            <a:endParaRPr lang="en-US" sz="1250" dirty="0"/>
          </a:p>
        </p:txBody>
      </p:sp>
      <p:sp>
        <p:nvSpPr>
          <p:cNvPr id="17" name="Text 15"/>
          <p:cNvSpPr txBox="1"/>
          <p:nvPr/>
        </p:nvSpPr>
        <p:spPr>
          <a:xfrm>
            <a:off x="6473952" y="3200400"/>
            <a:ext cx="4754880" cy="274320"/>
          </a:xfrm>
          <a:prstGeom prst="rect">
            <a:avLst/>
          </a:prstGeom>
          <a:noFill/>
          <a:ln/>
        </p:spPr>
        <p:txBody>
          <a:bodyPr wrap="square" lIns="0" tIns="0" rIns="0" bIns="0" rtlCol="0" anchor="t"/>
          <a:lstStyle/>
          <a:p>
            <a:pPr marL="0" indent="0">
              <a:buNone/>
            </a:pPr>
            <a:r>
              <a:rPr lang="en-US" sz="1250" b="1" dirty="0">
                <a:solidFill>
                  <a:srgbClr val="132030"/>
                </a:solidFill>
                <a:latin typeface="Calibri" pitchFamily="34" charset="0"/>
                <a:ea typeface="Calibri" pitchFamily="34" charset="-122"/>
                <a:cs typeface="Calibri" pitchFamily="34" charset="-120"/>
              </a:rPr>
              <a:t>Retrieval order matters:</a:t>
            </a:r>
            <a:endParaRPr lang="en-US" sz="1250" dirty="0"/>
          </a:p>
        </p:txBody>
      </p:sp>
      <p:sp>
        <p:nvSpPr>
          <p:cNvPr id="18" name="Text 16"/>
          <p:cNvSpPr txBox="1"/>
          <p:nvPr/>
        </p:nvSpPr>
        <p:spPr>
          <a:xfrm>
            <a:off x="6473952" y="3520440"/>
            <a:ext cx="4754880" cy="1280160"/>
          </a:xfrm>
          <a:prstGeom prst="rect">
            <a:avLst/>
          </a:prstGeom>
          <a:noFill/>
          <a:ln/>
        </p:spPr>
        <p:txBody>
          <a:bodyPr wrap="square" lIns="0" tIns="0" rIns="0" bIns="0" rtlCol="0" anchor="t"/>
          <a:lstStyle/>
          <a:p>
            <a:pPr marL="0" indent="0">
              <a:lnSpc>
                <a:spcPts val="1900"/>
              </a:lnSpc>
              <a:buNone/>
            </a:pPr>
            <a:r>
              <a:rPr lang="en-US" sz="1250" dirty="0">
                <a:solidFill>
                  <a:srgbClr val="4A5A69"/>
                </a:solidFill>
                <a:latin typeface="Calibri" pitchFamily="34" charset="0"/>
                <a:ea typeface="Calibri" pitchFamily="34" charset="-122"/>
                <a:cs typeface="Calibri" pitchFamily="34" charset="-120"/>
              </a:rPr>
              <a:t>•  filter by serial number first, then rank</a:t>
            </a:r>
            <a:endParaRPr lang="en-US" sz="1250" dirty="0"/>
          </a:p>
          <a:p>
            <a:pPr marL="0" indent="0">
              <a:lnSpc>
                <a:spcPts val="1900"/>
              </a:lnSpc>
              <a:buNone/>
            </a:pPr>
            <a:r>
              <a:rPr lang="en-US" sz="1250" dirty="0">
                <a:solidFill>
                  <a:srgbClr val="4A5A69"/>
                </a:solidFill>
                <a:latin typeface="Calibri" pitchFamily="34" charset="0"/>
                <a:ea typeface="Calibri" pitchFamily="34" charset="-122"/>
                <a:cs typeface="Calibri" pitchFamily="34" charset="-120"/>
              </a:rPr>
              <a:t>•  manuals are per machine, so ranking first would</a:t>
            </a:r>
            <a:endParaRPr lang="en-US" sz="1250" dirty="0"/>
          </a:p>
          <a:p>
            <a:pPr marL="0" indent="0">
              <a:lnSpc>
                <a:spcPts val="1900"/>
              </a:lnSpc>
              <a:buNone/>
            </a:pPr>
            <a:r>
              <a:rPr lang="en-US" sz="1250" dirty="0">
                <a:solidFill>
                  <a:srgbClr val="4A5A69"/>
                </a:solidFill>
                <a:latin typeface="Calibri" pitchFamily="34" charset="0"/>
                <a:ea typeface="Calibri" pitchFamily="34" charset="-122"/>
                <a:cs typeface="Calibri" pitchFamily="34" charset="-120"/>
              </a:rPr>
              <a:t>    surface another machine's page as the best hit</a:t>
            </a:r>
            <a:endParaRPr lang="en-US" sz="1250" dirty="0"/>
          </a:p>
          <a:p>
            <a:pPr marL="0" indent="0">
              <a:lnSpc>
                <a:spcPts val="1900"/>
              </a:lnSpc>
              <a:buNone/>
            </a:pPr>
            <a:r>
              <a:rPr lang="en-US" sz="1250" dirty="0">
                <a:solidFill>
                  <a:srgbClr val="4A5A69"/>
                </a:solidFill>
                <a:latin typeface="Calibri" pitchFamily="34" charset="0"/>
                <a:ea typeface="Calibri" pitchFamily="34" charset="-122"/>
                <a:cs typeface="Calibri" pitchFamily="34" charset="-120"/>
              </a:rPr>
              <a:t>•  top 3 pages, each trimmed to 1,500 characters</a:t>
            </a:r>
            <a:endParaRPr lang="en-US" sz="1250" dirty="0"/>
          </a:p>
        </p:txBody>
      </p:sp>
      <p:sp>
        <p:nvSpPr>
          <p:cNvPr id="19" name="Text 17"/>
          <p:cNvSpPr txBox="1"/>
          <p:nvPr/>
        </p:nvSpPr>
        <p:spPr>
          <a:xfrm>
            <a:off x="6473952" y="5166360"/>
            <a:ext cx="4754880" cy="274320"/>
          </a:xfrm>
          <a:prstGeom prst="rect">
            <a:avLst/>
          </a:prstGeom>
          <a:noFill/>
          <a:ln/>
        </p:spPr>
        <p:txBody>
          <a:bodyPr wrap="square" lIns="0" tIns="0" rIns="0" bIns="0" rtlCol="0" anchor="t"/>
          <a:lstStyle/>
          <a:p>
            <a:pPr marL="0" indent="0">
              <a:buNone/>
            </a:pPr>
            <a:r>
              <a:rPr lang="en-US" sz="1200" dirty="0">
                <a:solidFill>
                  <a:srgbClr val="7C8B99"/>
                </a:solidFill>
                <a:latin typeface="Calibri" pitchFamily="34" charset="0"/>
                <a:ea typeface="Calibri" pitchFamily="34" charset="-122"/>
                <a:cs typeface="Calibri" pitchFamily="34" charset="-120"/>
              </a:rPr>
              <a:t>Result: 1,117 pages x 4,365 terms, 1.7 MB</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566928"/>
          </a:xfrm>
          <a:prstGeom prst="rect">
            <a:avLst/>
          </a:prstGeom>
          <a:noFill/>
          <a:ln/>
        </p:spPr>
        <p:txBody>
          <a:bodyPr wrap="square" lIns="0" tIns="0" rIns="0" bIns="0" rtlCol="0" anchor="t"/>
          <a:lstStyle/>
          <a:p>
            <a:pPr marL="0" indent="0">
              <a:buNone/>
            </a:pPr>
            <a:r>
              <a:rPr lang="en-US" sz="3200" b="1" dirty="0">
                <a:solidFill>
                  <a:srgbClr val="132030"/>
                </a:solidFill>
                <a:latin typeface="Arial" pitchFamily="34" charset="0"/>
                <a:ea typeface="Arial" pitchFamily="34" charset="-122"/>
                <a:cs typeface="Arial" pitchFamily="34" charset="-120"/>
              </a:rPr>
              <a:t>Twelve tools, all the same shape</a:t>
            </a:r>
            <a:endParaRPr lang="en-US" sz="3200" dirty="0"/>
          </a:p>
        </p:txBody>
      </p:sp>
      <p:sp>
        <p:nvSpPr>
          <p:cNvPr id="3" name="Text 1"/>
          <p:cNvSpPr txBox="1"/>
          <p:nvPr/>
        </p:nvSpPr>
        <p:spPr>
          <a:xfrm>
            <a:off x="640080" y="969264"/>
            <a:ext cx="10908792" cy="310896"/>
          </a:xfrm>
          <a:prstGeom prst="rect">
            <a:avLst/>
          </a:prstGeom>
          <a:noFill/>
          <a:ln/>
        </p:spPr>
        <p:txBody>
          <a:bodyPr wrap="square" lIns="0" tIns="0" rIns="0" bIns="0" rtlCol="0" anchor="t"/>
          <a:lstStyle/>
          <a:p>
            <a:pPr marL="0" indent="0">
              <a:buNone/>
            </a:pPr>
            <a:r>
              <a:rPr lang="en-US" sz="1400" dirty="0">
                <a:solidFill>
                  <a:srgbClr val="4A5A69"/>
                </a:solidFill>
                <a:latin typeface="Calibri" pitchFamily="34" charset="0"/>
                <a:ea typeface="Calibri" pitchFamily="34" charset="-122"/>
                <a:cs typeface="Calibri" pitchFamily="34" charset="-120"/>
              </a:rPr>
              <a:t>The model chooses which function to call. We wrote the queries.</a:t>
            </a:r>
            <a:endParaRPr lang="en-US" sz="1400" dirty="0"/>
          </a:p>
        </p:txBody>
      </p:sp>
      <p:sp>
        <p:nvSpPr>
          <p:cNvPr id="4" name="Shape 2"/>
          <p:cNvSpPr/>
          <p:nvPr/>
        </p:nvSpPr>
        <p:spPr>
          <a:xfrm>
            <a:off x="640080" y="1554480"/>
            <a:ext cx="4846320" cy="2286000"/>
          </a:xfrm>
          <a:prstGeom prst="roundRect">
            <a:avLst>
              <a:gd name="adj" fmla="val 2400"/>
            </a:avLst>
          </a:prstGeom>
          <a:solidFill>
            <a:srgbClr val="132030"/>
          </a:solidFill>
          <a:ln w="12700">
            <a:solidFill>
              <a:srgbClr val="D6DEE6"/>
            </a:solidFill>
            <a:prstDash val="solid"/>
          </a:ln>
        </p:spPr>
        <p:txBody>
          <a:bodyPr/>
          <a:lstStyle/>
          <a:p>
            <a:endParaRPr lang="en-TR"/>
          </a:p>
        </p:txBody>
      </p:sp>
      <p:sp>
        <p:nvSpPr>
          <p:cNvPr id="5" name="Text 3"/>
          <p:cNvSpPr txBox="1"/>
          <p:nvPr/>
        </p:nvSpPr>
        <p:spPr>
          <a:xfrm>
            <a:off x="914400" y="1783080"/>
            <a:ext cx="4389120" cy="274320"/>
          </a:xfrm>
          <a:prstGeom prst="rect">
            <a:avLst/>
          </a:prstGeom>
          <a:noFill/>
          <a:ln/>
        </p:spPr>
        <p:txBody>
          <a:bodyPr wrap="square" lIns="0" tIns="0" rIns="0" bIns="0" rtlCol="0" anchor="ctr"/>
          <a:lstStyle/>
          <a:p>
            <a:pPr marL="0" indent="0">
              <a:buNone/>
            </a:pPr>
            <a:r>
              <a:rPr lang="en-US" sz="1250" dirty="0">
                <a:solidFill>
                  <a:srgbClr val="E09A2B"/>
                </a:solidFill>
                <a:latin typeface="Courier New" pitchFamily="34" charset="0"/>
                <a:ea typeface="Courier New" pitchFamily="34" charset="-122"/>
                <a:cs typeface="Courier New" pitchFamily="34" charset="-120"/>
              </a:rPr>
              <a:t>def get_alarms(user, machine, days=30, ...):</a:t>
            </a:r>
            <a:endParaRPr lang="en-US" sz="1250" dirty="0"/>
          </a:p>
        </p:txBody>
      </p:sp>
      <p:sp>
        <p:nvSpPr>
          <p:cNvPr id="6" name="Text 4"/>
          <p:cNvSpPr txBox="1"/>
          <p:nvPr/>
        </p:nvSpPr>
        <p:spPr>
          <a:xfrm>
            <a:off x="914400" y="2148840"/>
            <a:ext cx="4389120" cy="1280160"/>
          </a:xfrm>
          <a:prstGeom prst="rect">
            <a:avLst/>
          </a:prstGeom>
          <a:noFill/>
          <a:ln/>
        </p:spPr>
        <p:txBody>
          <a:bodyPr wrap="square" lIns="0" tIns="0" rIns="0" bIns="0" rtlCol="0" anchor="ctr"/>
          <a:lstStyle/>
          <a:p>
            <a:pPr marL="0" indent="0">
              <a:lnSpc>
                <a:spcPts val="1800"/>
              </a:lnSpc>
              <a:buNone/>
            </a:pPr>
            <a:r>
              <a:rPr lang="en-US" sz="1250" dirty="0">
                <a:solidFill>
                  <a:srgbClr val="D5DEE6"/>
                </a:solidFill>
                <a:latin typeface="Courier New" pitchFamily="34" charset="0"/>
                <a:ea typeface="Courier New" pitchFamily="34" charset="-122"/>
                <a:cs typeface="Courier New" pitchFamily="34" charset="-120"/>
              </a:rPr>
              <a:t>    1.  check visibility for this domain</a:t>
            </a:r>
            <a:endParaRPr lang="en-US" sz="1250" dirty="0"/>
          </a:p>
          <a:p>
            <a:pPr marL="0" indent="0">
              <a:lnSpc>
                <a:spcPts val="1800"/>
              </a:lnSpc>
              <a:buNone/>
            </a:pPr>
            <a:r>
              <a:rPr lang="en-US" sz="1250" dirty="0">
                <a:solidFill>
                  <a:srgbClr val="D5DEE6"/>
                </a:solidFill>
                <a:latin typeface="Courier New" pitchFamily="34" charset="0"/>
                <a:ea typeface="Courier New" pitchFamily="34" charset="-122"/>
                <a:cs typeface="Courier New" pitchFamily="34" charset="-120"/>
              </a:rPr>
              <a:t>    2.  resolve the machine inside the</a:t>
            </a:r>
            <a:endParaRPr lang="en-US" sz="1250" dirty="0"/>
          </a:p>
          <a:p>
            <a:pPr marL="0" indent="0">
              <a:lnSpc>
                <a:spcPts val="1800"/>
              </a:lnSpc>
              <a:buNone/>
            </a:pPr>
            <a:r>
              <a:rPr lang="en-US" sz="1250" dirty="0">
                <a:solidFill>
                  <a:srgbClr val="D5DEE6"/>
                </a:solidFill>
                <a:latin typeface="Courier New" pitchFamily="34" charset="0"/>
                <a:ea typeface="Courier New" pitchFamily="34" charset="-122"/>
                <a:cs typeface="Courier New" pitchFamily="34" charset="-120"/>
              </a:rPr>
              <a:t>        user's own company</a:t>
            </a:r>
            <a:endParaRPr lang="en-US" sz="1250" dirty="0"/>
          </a:p>
          <a:p>
            <a:pPr marL="0" indent="0">
              <a:lnSpc>
                <a:spcPts val="1800"/>
              </a:lnSpc>
              <a:buNone/>
            </a:pPr>
            <a:r>
              <a:rPr lang="en-US" sz="1250" dirty="0">
                <a:solidFill>
                  <a:srgbClr val="D5DEE6"/>
                </a:solidFill>
                <a:latin typeface="Courier New" pitchFamily="34" charset="0"/>
                <a:ea typeface="Courier New" pitchFamily="34" charset="-122"/>
                <a:cs typeface="Courier New" pitchFamily="34" charset="-120"/>
              </a:rPr>
              <a:t>    3.  run a fixed, parameterised query</a:t>
            </a:r>
            <a:endParaRPr lang="en-US" sz="1250" dirty="0"/>
          </a:p>
          <a:p>
            <a:pPr marL="0" indent="0">
              <a:lnSpc>
                <a:spcPts val="1800"/>
              </a:lnSpc>
              <a:buNone/>
            </a:pPr>
            <a:r>
              <a:rPr lang="en-US" sz="1250" dirty="0">
                <a:solidFill>
                  <a:srgbClr val="D5DEE6"/>
                </a:solidFill>
                <a:latin typeface="Courier New" pitchFamily="34" charset="0"/>
                <a:ea typeface="Courier New" pitchFamily="34" charset="-122"/>
                <a:cs typeface="Courier New" pitchFamily="34" charset="-120"/>
              </a:rPr>
              <a:t>    4.  return a small dictionary</a:t>
            </a:r>
            <a:endParaRPr lang="en-US" sz="1250" dirty="0"/>
          </a:p>
        </p:txBody>
      </p:sp>
      <p:sp>
        <p:nvSpPr>
          <p:cNvPr id="7" name="Text 5"/>
          <p:cNvSpPr txBox="1"/>
          <p:nvPr/>
        </p:nvSpPr>
        <p:spPr>
          <a:xfrm>
            <a:off x="914400" y="3493008"/>
            <a:ext cx="4389120" cy="274320"/>
          </a:xfrm>
          <a:prstGeom prst="rect">
            <a:avLst/>
          </a:prstGeom>
          <a:noFill/>
          <a:ln/>
        </p:spPr>
        <p:txBody>
          <a:bodyPr wrap="square" lIns="0" tIns="0" rIns="0" bIns="0" rtlCol="0" anchor="t"/>
          <a:lstStyle/>
          <a:p>
            <a:pPr marL="0" indent="0">
              <a:buNone/>
            </a:pPr>
            <a:r>
              <a:rPr lang="en-US" sz="1200" dirty="0">
                <a:solidFill>
                  <a:srgbClr val="7C8B99"/>
                </a:solidFill>
                <a:latin typeface="Calibri" pitchFamily="34" charset="0"/>
                <a:ea typeface="Calibri" pitchFamily="34" charset="-122"/>
                <a:cs typeface="Calibri" pitchFamily="34" charset="-120"/>
              </a:rPr>
              <a:t>The same four steps in all twelve tools.</a:t>
            </a:r>
            <a:endParaRPr lang="en-US" sz="1200" dirty="0"/>
          </a:p>
        </p:txBody>
      </p:sp>
      <p:sp>
        <p:nvSpPr>
          <p:cNvPr id="8" name="Shape 6"/>
          <p:cNvSpPr/>
          <p:nvPr/>
        </p:nvSpPr>
        <p:spPr>
          <a:xfrm>
            <a:off x="5760720" y="1554480"/>
            <a:ext cx="5788152" cy="1243584"/>
          </a:xfrm>
          <a:prstGeom prst="roundRect">
            <a:avLst>
              <a:gd name="adj" fmla="val 4412"/>
            </a:avLst>
          </a:prstGeom>
          <a:solidFill>
            <a:srgbClr val="EEF2F6"/>
          </a:solidFill>
          <a:ln w="12700">
            <a:solidFill>
              <a:srgbClr val="D6DEE6"/>
            </a:solidFill>
            <a:prstDash val="solid"/>
          </a:ln>
        </p:spPr>
        <p:txBody>
          <a:bodyPr/>
          <a:lstStyle/>
          <a:p>
            <a:endParaRPr lang="en-TR"/>
          </a:p>
        </p:txBody>
      </p:sp>
      <p:sp>
        <p:nvSpPr>
          <p:cNvPr id="9" name="Shape 7"/>
          <p:cNvSpPr/>
          <p:nvPr/>
        </p:nvSpPr>
        <p:spPr>
          <a:xfrm>
            <a:off x="5989320" y="1700784"/>
            <a:ext cx="2148840" cy="274320"/>
          </a:xfrm>
          <a:prstGeom prst="roundRect">
            <a:avLst>
              <a:gd name="adj" fmla="val 46667"/>
            </a:avLst>
          </a:prstGeom>
          <a:solidFill>
            <a:srgbClr val="1F6FB2"/>
          </a:solidFill>
          <a:ln w="12700">
            <a:solidFill>
              <a:srgbClr val="1F6FB2"/>
            </a:solidFill>
            <a:prstDash val="solid"/>
          </a:ln>
        </p:spPr>
        <p:txBody>
          <a:bodyPr/>
          <a:lstStyle/>
          <a:p>
            <a:endParaRPr lang="en-TR"/>
          </a:p>
        </p:txBody>
      </p:sp>
      <p:sp>
        <p:nvSpPr>
          <p:cNvPr id="10" name="Text 8"/>
          <p:cNvSpPr txBox="1"/>
          <p:nvPr/>
        </p:nvSpPr>
        <p:spPr>
          <a:xfrm>
            <a:off x="5989320" y="1700784"/>
            <a:ext cx="214884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Identity &amp; documentation</a:t>
            </a:r>
            <a:endParaRPr lang="en-US" sz="1050" dirty="0"/>
          </a:p>
        </p:txBody>
      </p:sp>
      <p:sp>
        <p:nvSpPr>
          <p:cNvPr id="11" name="Text 9"/>
          <p:cNvSpPr txBox="1"/>
          <p:nvPr/>
        </p:nvSpPr>
        <p:spPr>
          <a:xfrm>
            <a:off x="8275320" y="1673352"/>
            <a:ext cx="3108960" cy="246888"/>
          </a:xfrm>
          <a:prstGeom prst="rect">
            <a:avLst/>
          </a:prstGeom>
          <a:noFill/>
          <a:ln/>
        </p:spPr>
        <p:txBody>
          <a:bodyPr wrap="square" lIns="0" tIns="0" rIns="0" bIns="0" rtlCol="0" anchor="ctr"/>
          <a:lstStyle/>
          <a:p>
            <a:pPr marL="0" indent="0">
              <a:buNone/>
            </a:pPr>
            <a:r>
              <a:rPr lang="en-US" sz="1150" dirty="0">
                <a:solidFill>
                  <a:srgbClr val="132030"/>
                </a:solidFill>
                <a:latin typeface="Courier New" pitchFamily="34" charset="0"/>
                <a:ea typeface="Courier New" pitchFamily="34" charset="-122"/>
                <a:cs typeface="Courier New" pitchFamily="34" charset="-120"/>
              </a:rPr>
              <a:t>·  list_machines</a:t>
            </a:r>
            <a:endParaRPr lang="en-US" sz="1150" dirty="0"/>
          </a:p>
        </p:txBody>
      </p:sp>
      <p:sp>
        <p:nvSpPr>
          <p:cNvPr id="12" name="Text 10"/>
          <p:cNvSpPr txBox="1"/>
          <p:nvPr/>
        </p:nvSpPr>
        <p:spPr>
          <a:xfrm>
            <a:off x="8275320" y="1920240"/>
            <a:ext cx="3108960" cy="246888"/>
          </a:xfrm>
          <a:prstGeom prst="rect">
            <a:avLst/>
          </a:prstGeom>
          <a:noFill/>
          <a:ln/>
        </p:spPr>
        <p:txBody>
          <a:bodyPr wrap="square" lIns="0" tIns="0" rIns="0" bIns="0" rtlCol="0" anchor="ctr"/>
          <a:lstStyle/>
          <a:p>
            <a:pPr marL="0" indent="0">
              <a:buNone/>
            </a:pPr>
            <a:r>
              <a:rPr lang="en-US" sz="1150" dirty="0">
                <a:solidFill>
                  <a:srgbClr val="132030"/>
                </a:solidFill>
                <a:latin typeface="Courier New" pitchFamily="34" charset="0"/>
                <a:ea typeface="Courier New" pitchFamily="34" charset="-122"/>
                <a:cs typeface="Courier New" pitchFamily="34" charset="-120"/>
              </a:rPr>
              <a:t>·  get_machine_details</a:t>
            </a:r>
            <a:endParaRPr lang="en-US" sz="1150" dirty="0"/>
          </a:p>
        </p:txBody>
      </p:sp>
      <p:sp>
        <p:nvSpPr>
          <p:cNvPr id="13" name="Text 11"/>
          <p:cNvSpPr txBox="1"/>
          <p:nvPr/>
        </p:nvSpPr>
        <p:spPr>
          <a:xfrm>
            <a:off x="8275320" y="2167128"/>
            <a:ext cx="3108960" cy="246888"/>
          </a:xfrm>
          <a:prstGeom prst="rect">
            <a:avLst/>
          </a:prstGeom>
          <a:noFill/>
          <a:ln/>
        </p:spPr>
        <p:txBody>
          <a:bodyPr wrap="square" lIns="0" tIns="0" rIns="0" bIns="0" rtlCol="0" anchor="ctr"/>
          <a:lstStyle/>
          <a:p>
            <a:pPr marL="0" indent="0">
              <a:buNone/>
            </a:pPr>
            <a:r>
              <a:rPr lang="en-US" sz="1150" dirty="0">
                <a:solidFill>
                  <a:srgbClr val="132030"/>
                </a:solidFill>
                <a:latin typeface="Courier New" pitchFamily="34" charset="0"/>
                <a:ea typeface="Courier New" pitchFamily="34" charset="-122"/>
                <a:cs typeface="Courier New" pitchFamily="34" charset="-120"/>
              </a:rPr>
              <a:t>·  search_manual</a:t>
            </a:r>
            <a:endParaRPr lang="en-US" sz="1150" dirty="0"/>
          </a:p>
        </p:txBody>
      </p:sp>
      <p:sp>
        <p:nvSpPr>
          <p:cNvPr id="14" name="Shape 12"/>
          <p:cNvSpPr/>
          <p:nvPr/>
        </p:nvSpPr>
        <p:spPr>
          <a:xfrm>
            <a:off x="5760720" y="2962656"/>
            <a:ext cx="5788152" cy="1737360"/>
          </a:xfrm>
          <a:prstGeom prst="roundRect">
            <a:avLst>
              <a:gd name="adj" fmla="val 3158"/>
            </a:avLst>
          </a:prstGeom>
          <a:solidFill>
            <a:srgbClr val="EEF2F6"/>
          </a:solidFill>
          <a:ln w="12700">
            <a:solidFill>
              <a:srgbClr val="D6DEE6"/>
            </a:solidFill>
            <a:prstDash val="solid"/>
          </a:ln>
        </p:spPr>
        <p:txBody>
          <a:bodyPr/>
          <a:lstStyle/>
          <a:p>
            <a:endParaRPr lang="en-TR"/>
          </a:p>
        </p:txBody>
      </p:sp>
      <p:sp>
        <p:nvSpPr>
          <p:cNvPr id="15" name="Shape 13"/>
          <p:cNvSpPr/>
          <p:nvPr/>
        </p:nvSpPr>
        <p:spPr>
          <a:xfrm>
            <a:off x="5989320" y="3108960"/>
            <a:ext cx="2148840" cy="274320"/>
          </a:xfrm>
          <a:prstGeom prst="roundRect">
            <a:avLst>
              <a:gd name="adj" fmla="val 46667"/>
            </a:avLst>
          </a:prstGeom>
          <a:solidFill>
            <a:srgbClr val="E09A2B"/>
          </a:solidFill>
          <a:ln w="12700">
            <a:solidFill>
              <a:srgbClr val="E09A2B"/>
            </a:solidFill>
            <a:prstDash val="solid"/>
          </a:ln>
        </p:spPr>
        <p:txBody>
          <a:bodyPr/>
          <a:lstStyle/>
          <a:p>
            <a:endParaRPr lang="en-TR"/>
          </a:p>
        </p:txBody>
      </p:sp>
      <p:sp>
        <p:nvSpPr>
          <p:cNvPr id="16" name="Text 14"/>
          <p:cNvSpPr txBox="1"/>
          <p:nvPr/>
        </p:nvSpPr>
        <p:spPr>
          <a:xfrm>
            <a:off x="5989320" y="3108960"/>
            <a:ext cx="214884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Operational</a:t>
            </a:r>
            <a:endParaRPr lang="en-US" sz="1050" dirty="0"/>
          </a:p>
        </p:txBody>
      </p:sp>
      <p:sp>
        <p:nvSpPr>
          <p:cNvPr id="17" name="Text 15"/>
          <p:cNvSpPr txBox="1"/>
          <p:nvPr/>
        </p:nvSpPr>
        <p:spPr>
          <a:xfrm>
            <a:off x="8275320" y="3081528"/>
            <a:ext cx="3108960" cy="246888"/>
          </a:xfrm>
          <a:prstGeom prst="rect">
            <a:avLst/>
          </a:prstGeom>
          <a:noFill/>
          <a:ln/>
        </p:spPr>
        <p:txBody>
          <a:bodyPr wrap="square" lIns="0" tIns="0" rIns="0" bIns="0" rtlCol="0" anchor="ctr"/>
          <a:lstStyle/>
          <a:p>
            <a:pPr marL="0" indent="0">
              <a:buNone/>
            </a:pPr>
            <a:r>
              <a:rPr lang="en-US" sz="1150" dirty="0">
                <a:solidFill>
                  <a:srgbClr val="132030"/>
                </a:solidFill>
                <a:latin typeface="Courier New" pitchFamily="34" charset="0"/>
                <a:ea typeface="Courier New" pitchFamily="34" charset="-122"/>
                <a:cs typeface="Courier New" pitchFamily="34" charset="-120"/>
              </a:rPr>
              <a:t>·  get_telemetry_summary</a:t>
            </a:r>
            <a:endParaRPr lang="en-US" sz="1150" dirty="0"/>
          </a:p>
        </p:txBody>
      </p:sp>
      <p:sp>
        <p:nvSpPr>
          <p:cNvPr id="18" name="Text 16"/>
          <p:cNvSpPr txBox="1"/>
          <p:nvPr/>
        </p:nvSpPr>
        <p:spPr>
          <a:xfrm>
            <a:off x="8275320" y="3328416"/>
            <a:ext cx="3108960" cy="246888"/>
          </a:xfrm>
          <a:prstGeom prst="rect">
            <a:avLst/>
          </a:prstGeom>
          <a:noFill/>
          <a:ln/>
        </p:spPr>
        <p:txBody>
          <a:bodyPr wrap="square" lIns="0" tIns="0" rIns="0" bIns="0" rtlCol="0" anchor="ctr"/>
          <a:lstStyle/>
          <a:p>
            <a:pPr marL="0" indent="0">
              <a:buNone/>
            </a:pPr>
            <a:r>
              <a:rPr lang="en-US" sz="1150" dirty="0">
                <a:solidFill>
                  <a:srgbClr val="132030"/>
                </a:solidFill>
                <a:latin typeface="Courier New" pitchFamily="34" charset="0"/>
                <a:ea typeface="Courier New" pitchFamily="34" charset="-122"/>
                <a:cs typeface="Courier New" pitchFamily="34" charset="-120"/>
              </a:rPr>
              <a:t>·  get_recent_telemetry</a:t>
            </a:r>
            <a:endParaRPr lang="en-US" sz="1150" dirty="0"/>
          </a:p>
        </p:txBody>
      </p:sp>
      <p:sp>
        <p:nvSpPr>
          <p:cNvPr id="19" name="Text 17"/>
          <p:cNvSpPr txBox="1"/>
          <p:nvPr/>
        </p:nvSpPr>
        <p:spPr>
          <a:xfrm>
            <a:off x="8275320" y="3575304"/>
            <a:ext cx="3108960" cy="246888"/>
          </a:xfrm>
          <a:prstGeom prst="rect">
            <a:avLst/>
          </a:prstGeom>
          <a:noFill/>
          <a:ln/>
        </p:spPr>
        <p:txBody>
          <a:bodyPr wrap="square" lIns="0" tIns="0" rIns="0" bIns="0" rtlCol="0" anchor="ctr"/>
          <a:lstStyle/>
          <a:p>
            <a:pPr marL="0" indent="0">
              <a:buNone/>
            </a:pPr>
            <a:r>
              <a:rPr lang="en-US" sz="1150" dirty="0">
                <a:solidFill>
                  <a:srgbClr val="132030"/>
                </a:solidFill>
                <a:latin typeface="Courier New" pitchFamily="34" charset="0"/>
                <a:ea typeface="Courier New" pitchFamily="34" charset="-122"/>
                <a:cs typeface="Courier New" pitchFamily="34" charset="-120"/>
              </a:rPr>
              <a:t>·  get_alarms</a:t>
            </a:r>
            <a:endParaRPr lang="en-US" sz="1150" dirty="0"/>
          </a:p>
        </p:txBody>
      </p:sp>
      <p:sp>
        <p:nvSpPr>
          <p:cNvPr id="20" name="Text 18"/>
          <p:cNvSpPr txBox="1"/>
          <p:nvPr/>
        </p:nvSpPr>
        <p:spPr>
          <a:xfrm>
            <a:off x="8275320" y="3822192"/>
            <a:ext cx="3108960" cy="246888"/>
          </a:xfrm>
          <a:prstGeom prst="rect">
            <a:avLst/>
          </a:prstGeom>
          <a:noFill/>
          <a:ln/>
        </p:spPr>
        <p:txBody>
          <a:bodyPr wrap="square" lIns="0" tIns="0" rIns="0" bIns="0" rtlCol="0" anchor="ctr"/>
          <a:lstStyle/>
          <a:p>
            <a:pPr marL="0" indent="0">
              <a:buNone/>
            </a:pPr>
            <a:r>
              <a:rPr lang="en-US" sz="1150" dirty="0">
                <a:solidFill>
                  <a:srgbClr val="132030"/>
                </a:solidFill>
                <a:latin typeface="Courier New" pitchFamily="34" charset="0"/>
                <a:ea typeface="Courier New" pitchFamily="34" charset="-122"/>
                <a:cs typeface="Courier New" pitchFamily="34" charset="-120"/>
              </a:rPr>
              <a:t>·  get_alarm_statistics</a:t>
            </a:r>
            <a:endParaRPr lang="en-US" sz="1150" dirty="0"/>
          </a:p>
        </p:txBody>
      </p:sp>
      <p:sp>
        <p:nvSpPr>
          <p:cNvPr id="21" name="Text 19"/>
          <p:cNvSpPr txBox="1"/>
          <p:nvPr/>
        </p:nvSpPr>
        <p:spPr>
          <a:xfrm>
            <a:off x="8275320" y="4069080"/>
            <a:ext cx="3108960" cy="246888"/>
          </a:xfrm>
          <a:prstGeom prst="rect">
            <a:avLst/>
          </a:prstGeom>
          <a:noFill/>
          <a:ln/>
        </p:spPr>
        <p:txBody>
          <a:bodyPr wrap="square" lIns="0" tIns="0" rIns="0" bIns="0" rtlCol="0" anchor="ctr"/>
          <a:lstStyle/>
          <a:p>
            <a:pPr marL="0" indent="0">
              <a:buNone/>
            </a:pPr>
            <a:r>
              <a:rPr lang="en-US" sz="1150" dirty="0">
                <a:solidFill>
                  <a:srgbClr val="132030"/>
                </a:solidFill>
                <a:latin typeface="Courier New" pitchFamily="34" charset="0"/>
                <a:ea typeface="Courier New" pitchFamily="34" charset="-122"/>
                <a:cs typeface="Courier New" pitchFamily="34" charset="-120"/>
              </a:rPr>
              <a:t>·  get_maintenance_tickets</a:t>
            </a:r>
            <a:endParaRPr lang="en-US" sz="1150" dirty="0"/>
          </a:p>
        </p:txBody>
      </p:sp>
      <p:sp>
        <p:nvSpPr>
          <p:cNvPr id="22" name="Shape 20"/>
          <p:cNvSpPr/>
          <p:nvPr/>
        </p:nvSpPr>
        <p:spPr>
          <a:xfrm>
            <a:off x="5760720" y="4864608"/>
            <a:ext cx="5788152" cy="1490472"/>
          </a:xfrm>
          <a:prstGeom prst="roundRect">
            <a:avLst>
              <a:gd name="adj" fmla="val 3681"/>
            </a:avLst>
          </a:prstGeom>
          <a:solidFill>
            <a:srgbClr val="EEF2F6"/>
          </a:solidFill>
          <a:ln w="12700">
            <a:solidFill>
              <a:srgbClr val="D6DEE6"/>
            </a:solidFill>
            <a:prstDash val="solid"/>
          </a:ln>
        </p:spPr>
        <p:txBody>
          <a:bodyPr/>
          <a:lstStyle/>
          <a:p>
            <a:endParaRPr lang="en-TR"/>
          </a:p>
        </p:txBody>
      </p:sp>
      <p:sp>
        <p:nvSpPr>
          <p:cNvPr id="23" name="Shape 21"/>
          <p:cNvSpPr/>
          <p:nvPr/>
        </p:nvSpPr>
        <p:spPr>
          <a:xfrm>
            <a:off x="5989320" y="5010912"/>
            <a:ext cx="2148840" cy="274320"/>
          </a:xfrm>
          <a:prstGeom prst="roundRect">
            <a:avLst>
              <a:gd name="adj" fmla="val 46667"/>
            </a:avLst>
          </a:prstGeom>
          <a:solidFill>
            <a:srgbClr val="2E7D5B"/>
          </a:solidFill>
          <a:ln w="12700">
            <a:solidFill>
              <a:srgbClr val="2E7D5B"/>
            </a:solidFill>
            <a:prstDash val="solid"/>
          </a:ln>
        </p:spPr>
        <p:txBody>
          <a:bodyPr/>
          <a:lstStyle/>
          <a:p>
            <a:endParaRPr lang="en-TR"/>
          </a:p>
        </p:txBody>
      </p:sp>
      <p:sp>
        <p:nvSpPr>
          <p:cNvPr id="24" name="Text 22"/>
          <p:cNvSpPr txBox="1"/>
          <p:nvPr/>
        </p:nvSpPr>
        <p:spPr>
          <a:xfrm>
            <a:off x="5989320" y="5010912"/>
            <a:ext cx="214884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Commercial</a:t>
            </a:r>
            <a:endParaRPr lang="en-US" sz="1050" dirty="0"/>
          </a:p>
        </p:txBody>
      </p:sp>
      <p:sp>
        <p:nvSpPr>
          <p:cNvPr id="25" name="Text 23"/>
          <p:cNvSpPr txBox="1"/>
          <p:nvPr/>
        </p:nvSpPr>
        <p:spPr>
          <a:xfrm>
            <a:off x="8275320" y="4983480"/>
            <a:ext cx="3108960" cy="246888"/>
          </a:xfrm>
          <a:prstGeom prst="rect">
            <a:avLst/>
          </a:prstGeom>
          <a:noFill/>
          <a:ln/>
        </p:spPr>
        <p:txBody>
          <a:bodyPr wrap="square" lIns="0" tIns="0" rIns="0" bIns="0" rtlCol="0" anchor="ctr"/>
          <a:lstStyle/>
          <a:p>
            <a:pPr marL="0" indent="0">
              <a:buNone/>
            </a:pPr>
            <a:r>
              <a:rPr lang="en-US" sz="1150" dirty="0">
                <a:solidFill>
                  <a:srgbClr val="132030"/>
                </a:solidFill>
                <a:latin typeface="Courier New" pitchFamily="34" charset="0"/>
                <a:ea typeface="Courier New" pitchFamily="34" charset="-122"/>
                <a:cs typeface="Courier New" pitchFamily="34" charset="-120"/>
              </a:rPr>
              <a:t>·  list_quotes</a:t>
            </a:r>
            <a:endParaRPr lang="en-US" sz="1150" dirty="0"/>
          </a:p>
        </p:txBody>
      </p:sp>
      <p:sp>
        <p:nvSpPr>
          <p:cNvPr id="26" name="Text 24"/>
          <p:cNvSpPr txBox="1"/>
          <p:nvPr/>
        </p:nvSpPr>
        <p:spPr>
          <a:xfrm>
            <a:off x="8275320" y="5230368"/>
            <a:ext cx="3108960" cy="246888"/>
          </a:xfrm>
          <a:prstGeom prst="rect">
            <a:avLst/>
          </a:prstGeom>
          <a:noFill/>
          <a:ln/>
        </p:spPr>
        <p:txBody>
          <a:bodyPr wrap="square" lIns="0" tIns="0" rIns="0" bIns="0" rtlCol="0" anchor="ctr"/>
          <a:lstStyle/>
          <a:p>
            <a:pPr marL="0" indent="0">
              <a:buNone/>
            </a:pPr>
            <a:r>
              <a:rPr lang="en-US" sz="1150" dirty="0">
                <a:solidFill>
                  <a:srgbClr val="132030"/>
                </a:solidFill>
                <a:latin typeface="Courier New" pitchFamily="34" charset="0"/>
                <a:ea typeface="Courier New" pitchFamily="34" charset="-122"/>
                <a:cs typeface="Courier New" pitchFamily="34" charset="-120"/>
              </a:rPr>
              <a:t>·  get_quote_details</a:t>
            </a:r>
            <a:endParaRPr lang="en-US" sz="1150" dirty="0"/>
          </a:p>
        </p:txBody>
      </p:sp>
      <p:sp>
        <p:nvSpPr>
          <p:cNvPr id="27" name="Text 25"/>
          <p:cNvSpPr txBox="1"/>
          <p:nvPr/>
        </p:nvSpPr>
        <p:spPr>
          <a:xfrm>
            <a:off x="8275320" y="5477256"/>
            <a:ext cx="3108960" cy="246888"/>
          </a:xfrm>
          <a:prstGeom prst="rect">
            <a:avLst/>
          </a:prstGeom>
          <a:noFill/>
          <a:ln/>
        </p:spPr>
        <p:txBody>
          <a:bodyPr wrap="square" lIns="0" tIns="0" rIns="0" bIns="0" rtlCol="0" anchor="ctr"/>
          <a:lstStyle/>
          <a:p>
            <a:pPr marL="0" indent="0">
              <a:buNone/>
            </a:pPr>
            <a:r>
              <a:rPr lang="en-US" sz="1150" dirty="0">
                <a:solidFill>
                  <a:srgbClr val="132030"/>
                </a:solidFill>
                <a:latin typeface="Courier New" pitchFamily="34" charset="0"/>
                <a:ea typeface="Courier New" pitchFamily="34" charset="-122"/>
                <a:cs typeface="Courier New" pitchFamily="34" charset="-120"/>
              </a:rPr>
              <a:t>·  list_orders</a:t>
            </a:r>
            <a:endParaRPr lang="en-US" sz="1150" dirty="0"/>
          </a:p>
        </p:txBody>
      </p:sp>
      <p:sp>
        <p:nvSpPr>
          <p:cNvPr id="28" name="Text 26"/>
          <p:cNvSpPr txBox="1"/>
          <p:nvPr/>
        </p:nvSpPr>
        <p:spPr>
          <a:xfrm>
            <a:off x="8275320" y="5724144"/>
            <a:ext cx="3108960" cy="246888"/>
          </a:xfrm>
          <a:prstGeom prst="rect">
            <a:avLst/>
          </a:prstGeom>
          <a:noFill/>
          <a:ln/>
        </p:spPr>
        <p:txBody>
          <a:bodyPr wrap="square" lIns="0" tIns="0" rIns="0" bIns="0" rtlCol="0" anchor="ctr"/>
          <a:lstStyle/>
          <a:p>
            <a:pPr marL="0" indent="0">
              <a:buNone/>
            </a:pPr>
            <a:r>
              <a:rPr lang="en-US" sz="1150" dirty="0">
                <a:solidFill>
                  <a:srgbClr val="132030"/>
                </a:solidFill>
                <a:latin typeface="Courier New" pitchFamily="34" charset="0"/>
                <a:ea typeface="Courier New" pitchFamily="34" charset="-122"/>
                <a:cs typeface="Courier New" pitchFamily="34" charset="-120"/>
              </a:rPr>
              <a:t>·  get_order_details</a:t>
            </a:r>
            <a:endParaRPr lang="en-US" sz="1150" dirty="0"/>
          </a:p>
        </p:txBody>
      </p:sp>
      <p:sp>
        <p:nvSpPr>
          <p:cNvPr id="29" name="Shape 27"/>
          <p:cNvSpPr/>
          <p:nvPr/>
        </p:nvSpPr>
        <p:spPr>
          <a:xfrm>
            <a:off x="640080" y="4023360"/>
            <a:ext cx="4846320" cy="1645920"/>
          </a:xfrm>
          <a:prstGeom prst="roundRect">
            <a:avLst>
              <a:gd name="adj" fmla="val 3333"/>
            </a:avLst>
          </a:prstGeom>
          <a:solidFill>
            <a:srgbClr val="FBF3E4"/>
          </a:solidFill>
          <a:ln w="12700">
            <a:solidFill>
              <a:srgbClr val="D6DEE6"/>
            </a:solidFill>
            <a:prstDash val="solid"/>
          </a:ln>
        </p:spPr>
        <p:txBody>
          <a:bodyPr/>
          <a:lstStyle/>
          <a:p>
            <a:endParaRPr lang="en-TR"/>
          </a:p>
        </p:txBody>
      </p:sp>
      <p:sp>
        <p:nvSpPr>
          <p:cNvPr id="30" name="Text 28"/>
          <p:cNvSpPr txBox="1"/>
          <p:nvPr/>
        </p:nvSpPr>
        <p:spPr>
          <a:xfrm>
            <a:off x="914400" y="4206240"/>
            <a:ext cx="4297680" cy="274320"/>
          </a:xfrm>
          <a:prstGeom prst="rect">
            <a:avLst/>
          </a:prstGeom>
          <a:noFill/>
          <a:ln/>
        </p:spPr>
        <p:txBody>
          <a:bodyPr wrap="square" lIns="0" tIns="0" rIns="0" bIns="0" rtlCol="0" anchor="t"/>
          <a:lstStyle/>
          <a:p>
            <a:pPr marL="0" indent="0">
              <a:buNone/>
            </a:pPr>
            <a:r>
              <a:rPr lang="en-US" sz="1400" b="1" dirty="0">
                <a:solidFill>
                  <a:srgbClr val="132030"/>
                </a:solidFill>
                <a:latin typeface="Arial" pitchFamily="34" charset="0"/>
                <a:ea typeface="Arial" pitchFamily="34" charset="-122"/>
                <a:cs typeface="Arial" pitchFamily="34" charset="-120"/>
              </a:rPr>
              <a:t>Why no text-to-SQL</a:t>
            </a:r>
            <a:endParaRPr lang="en-US" sz="1400" dirty="0"/>
          </a:p>
        </p:txBody>
      </p:sp>
      <p:sp>
        <p:nvSpPr>
          <p:cNvPr id="31" name="Text 29"/>
          <p:cNvSpPr txBox="1"/>
          <p:nvPr/>
        </p:nvSpPr>
        <p:spPr>
          <a:xfrm>
            <a:off x="914400" y="4526280"/>
            <a:ext cx="4389120" cy="914400"/>
          </a:xfrm>
          <a:prstGeom prst="rect">
            <a:avLst/>
          </a:prstGeom>
          <a:noFill/>
          <a:ln/>
        </p:spPr>
        <p:txBody>
          <a:bodyPr wrap="square" lIns="0" tIns="0" rIns="0" bIns="0" rtlCol="0" anchor="t"/>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Letting the model write SQL would move the row-level</a:t>
            </a:r>
            <a:endParaRPr lang="en-US" sz="1250" dirty="0"/>
          </a:p>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access decision into the model. With fixed queries the</a:t>
            </a:r>
            <a:endParaRPr lang="en-US" sz="1250" dirty="0"/>
          </a:p>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boundary stays in code we can read and test.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566928"/>
          </a:xfrm>
          <a:prstGeom prst="rect">
            <a:avLst/>
          </a:prstGeom>
          <a:noFill/>
          <a:ln/>
        </p:spPr>
        <p:txBody>
          <a:bodyPr wrap="square" lIns="0" tIns="0" rIns="0" bIns="0" rtlCol="0" anchor="t"/>
          <a:lstStyle/>
          <a:p>
            <a:pPr marL="0" indent="0">
              <a:buNone/>
            </a:pPr>
            <a:r>
              <a:rPr lang="en-US" sz="3200" b="1" dirty="0">
                <a:solidFill>
                  <a:srgbClr val="132030"/>
                </a:solidFill>
                <a:latin typeface="Arial" pitchFamily="34" charset="0"/>
                <a:ea typeface="Arial" pitchFamily="34" charset="-122"/>
                <a:cs typeface="Arial" pitchFamily="34" charset="-120"/>
              </a:rPr>
              <a:t>One turn of conversation</a:t>
            </a:r>
            <a:endParaRPr lang="en-US" sz="3200" dirty="0"/>
          </a:p>
        </p:txBody>
      </p:sp>
      <p:sp>
        <p:nvSpPr>
          <p:cNvPr id="3" name="Text 1"/>
          <p:cNvSpPr txBox="1"/>
          <p:nvPr/>
        </p:nvSpPr>
        <p:spPr>
          <a:xfrm>
            <a:off x="640080" y="969264"/>
            <a:ext cx="10908792" cy="310896"/>
          </a:xfrm>
          <a:prstGeom prst="rect">
            <a:avLst/>
          </a:prstGeom>
          <a:noFill/>
          <a:ln/>
        </p:spPr>
        <p:txBody>
          <a:bodyPr wrap="square" lIns="0" tIns="0" rIns="0" bIns="0" rtlCol="0" anchor="t"/>
          <a:lstStyle/>
          <a:p>
            <a:pPr marL="0" indent="0">
              <a:buNone/>
            </a:pPr>
            <a:r>
              <a:rPr lang="en-US" sz="1400" dirty="0">
                <a:solidFill>
                  <a:srgbClr val="4A5A69"/>
                </a:solidFill>
                <a:latin typeface="Calibri" pitchFamily="34" charset="0"/>
                <a:ea typeface="Calibri" pitchFamily="34" charset="-122"/>
                <a:cs typeface="Calibri" pitchFamily="34" charset="-120"/>
              </a:rPr>
              <a:t>orchestrator.py, about 190 lines.</a:t>
            </a:r>
            <a:endParaRPr lang="en-US" sz="1400" dirty="0"/>
          </a:p>
        </p:txBody>
      </p:sp>
      <p:sp>
        <p:nvSpPr>
          <p:cNvPr id="4" name="Shape 2"/>
          <p:cNvSpPr/>
          <p:nvPr/>
        </p:nvSpPr>
        <p:spPr>
          <a:xfrm>
            <a:off x="640080" y="1508760"/>
            <a:ext cx="347472" cy="347472"/>
          </a:xfrm>
          <a:prstGeom prst="ellipse">
            <a:avLst/>
          </a:prstGeom>
          <a:solidFill>
            <a:srgbClr val="132030"/>
          </a:solidFill>
          <a:ln w="12700">
            <a:solidFill>
              <a:srgbClr val="132030"/>
            </a:solidFill>
            <a:prstDash val="solid"/>
          </a:ln>
        </p:spPr>
        <p:txBody>
          <a:bodyPr/>
          <a:lstStyle/>
          <a:p>
            <a:endParaRPr lang="en-TR"/>
          </a:p>
        </p:txBody>
      </p:sp>
      <p:sp>
        <p:nvSpPr>
          <p:cNvPr id="5" name="Text 3"/>
          <p:cNvSpPr txBox="1"/>
          <p:nvPr/>
        </p:nvSpPr>
        <p:spPr>
          <a:xfrm>
            <a:off x="640080" y="150876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207008" y="1517904"/>
            <a:ext cx="2834640" cy="292608"/>
          </a:xfrm>
          <a:prstGeom prst="rect">
            <a:avLst/>
          </a:prstGeom>
          <a:noFill/>
          <a:ln/>
        </p:spPr>
        <p:txBody>
          <a:bodyPr wrap="square" lIns="0" tIns="0" rIns="0" bIns="0" rtlCol="0" anchor="t"/>
          <a:lstStyle/>
          <a:p>
            <a:pPr marL="0" indent="0">
              <a:buNone/>
            </a:pPr>
            <a:r>
              <a:rPr lang="en-US" sz="1450" b="1" dirty="0">
                <a:solidFill>
                  <a:srgbClr val="132030"/>
                </a:solidFill>
                <a:latin typeface="Arial" pitchFamily="34" charset="0"/>
                <a:ea typeface="Arial" pitchFamily="34" charset="-122"/>
                <a:cs typeface="Arial" pitchFamily="34" charset="-120"/>
              </a:rPr>
              <a:t>Save the message</a:t>
            </a:r>
            <a:endParaRPr lang="en-US" sz="1450" dirty="0"/>
          </a:p>
        </p:txBody>
      </p:sp>
      <p:sp>
        <p:nvSpPr>
          <p:cNvPr id="7" name="Text 5"/>
          <p:cNvSpPr txBox="1"/>
          <p:nvPr/>
        </p:nvSpPr>
        <p:spPr>
          <a:xfrm>
            <a:off x="4114800" y="1527048"/>
            <a:ext cx="4160520" cy="640080"/>
          </a:xfrm>
          <a:prstGeom prst="rect">
            <a:avLst/>
          </a:prstGeom>
          <a:noFill/>
          <a:ln/>
        </p:spPr>
        <p:txBody>
          <a:bodyPr wrap="square" lIns="0" tIns="0" rIns="0" bIns="0" rtlCol="0" anchor="t"/>
          <a:lstStyle/>
          <a:p>
            <a:pPr marL="0" indent="0">
              <a:lnSpc>
                <a:spcPts val="1600"/>
              </a:lnSpc>
              <a:buNone/>
            </a:pPr>
            <a:r>
              <a:rPr lang="en-US" sz="1250" dirty="0">
                <a:solidFill>
                  <a:srgbClr val="4A5A69"/>
                </a:solidFill>
                <a:latin typeface="Calibri" pitchFamily="34" charset="0"/>
                <a:ea typeface="Calibri" pitchFamily="34" charset="-122"/>
                <a:cs typeface="Calibri" pitchFamily="34" charset="-120"/>
              </a:rPr>
              <a:t>The session token and the machine are the conversation id, so the history of that machine survives a page reload.</a:t>
            </a:r>
            <a:endParaRPr lang="en-US" sz="1250" dirty="0"/>
          </a:p>
        </p:txBody>
      </p:sp>
      <p:sp>
        <p:nvSpPr>
          <p:cNvPr id="8" name="Shape 6"/>
          <p:cNvSpPr/>
          <p:nvPr/>
        </p:nvSpPr>
        <p:spPr>
          <a:xfrm>
            <a:off x="640080" y="2350008"/>
            <a:ext cx="347472" cy="347472"/>
          </a:xfrm>
          <a:prstGeom prst="ellipse">
            <a:avLst/>
          </a:prstGeom>
          <a:solidFill>
            <a:srgbClr val="132030"/>
          </a:solidFill>
          <a:ln w="12700">
            <a:solidFill>
              <a:srgbClr val="132030"/>
            </a:solidFill>
            <a:prstDash val="solid"/>
          </a:ln>
        </p:spPr>
        <p:txBody>
          <a:bodyPr/>
          <a:lstStyle/>
          <a:p>
            <a:endParaRPr lang="en-TR"/>
          </a:p>
        </p:txBody>
      </p:sp>
      <p:sp>
        <p:nvSpPr>
          <p:cNvPr id="9" name="Text 7"/>
          <p:cNvSpPr txBox="1"/>
          <p:nvPr/>
        </p:nvSpPr>
        <p:spPr>
          <a:xfrm>
            <a:off x="640080" y="235000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207008" y="2359152"/>
            <a:ext cx="2834640" cy="292608"/>
          </a:xfrm>
          <a:prstGeom prst="rect">
            <a:avLst/>
          </a:prstGeom>
          <a:noFill/>
          <a:ln/>
        </p:spPr>
        <p:txBody>
          <a:bodyPr wrap="square" lIns="0" tIns="0" rIns="0" bIns="0" rtlCol="0" anchor="t"/>
          <a:lstStyle/>
          <a:p>
            <a:pPr marL="0" indent="0">
              <a:buNone/>
            </a:pPr>
            <a:r>
              <a:rPr lang="en-US" sz="1450" b="1" dirty="0">
                <a:solidFill>
                  <a:srgbClr val="132030"/>
                </a:solidFill>
                <a:latin typeface="Arial" pitchFamily="34" charset="0"/>
                <a:ea typeface="Arial" pitchFamily="34" charset="-122"/>
                <a:cs typeface="Arial" pitchFamily="34" charset="-120"/>
              </a:rPr>
              <a:t>Route</a:t>
            </a:r>
            <a:endParaRPr lang="en-US" sz="1450" dirty="0"/>
          </a:p>
        </p:txBody>
      </p:sp>
      <p:sp>
        <p:nvSpPr>
          <p:cNvPr id="11" name="Text 9"/>
          <p:cNvSpPr txBox="1"/>
          <p:nvPr/>
        </p:nvSpPr>
        <p:spPr>
          <a:xfrm>
            <a:off x="4114800" y="2368296"/>
            <a:ext cx="4160520" cy="640080"/>
          </a:xfrm>
          <a:prstGeom prst="rect">
            <a:avLst/>
          </a:prstGeom>
          <a:noFill/>
          <a:ln/>
        </p:spPr>
        <p:txBody>
          <a:bodyPr wrap="square" lIns="0" tIns="0" rIns="0" bIns="0" rtlCol="0" anchor="t"/>
          <a:lstStyle/>
          <a:p>
            <a:pPr marL="0" indent="0">
              <a:lnSpc>
                <a:spcPts val="1600"/>
              </a:lnSpc>
              <a:buNone/>
            </a:pPr>
            <a:r>
              <a:rPr lang="en-US" sz="1250" dirty="0">
                <a:solidFill>
                  <a:srgbClr val="4A5A69"/>
                </a:solidFill>
                <a:latin typeface="Calibri" pitchFamily="34" charset="0"/>
                <a:ea typeface="Calibri" pitchFamily="34" charset="-122"/>
                <a:cs typeface="Calibri" pitchFamily="34" charset="-120"/>
              </a:rPr>
              <a:t>One model call, one-word answer: manuals, diagnostics, commercial or general.</a:t>
            </a:r>
            <a:endParaRPr lang="en-US" sz="1250" dirty="0"/>
          </a:p>
        </p:txBody>
      </p:sp>
      <p:sp>
        <p:nvSpPr>
          <p:cNvPr id="12" name="Shape 10"/>
          <p:cNvSpPr/>
          <p:nvPr/>
        </p:nvSpPr>
        <p:spPr>
          <a:xfrm>
            <a:off x="640080" y="3191256"/>
            <a:ext cx="347472" cy="347472"/>
          </a:xfrm>
          <a:prstGeom prst="ellipse">
            <a:avLst/>
          </a:prstGeom>
          <a:solidFill>
            <a:srgbClr val="E09A2B"/>
          </a:solidFill>
          <a:ln w="12700">
            <a:solidFill>
              <a:srgbClr val="E09A2B"/>
            </a:solidFill>
            <a:prstDash val="solid"/>
          </a:ln>
        </p:spPr>
        <p:txBody>
          <a:bodyPr/>
          <a:lstStyle/>
          <a:p>
            <a:endParaRPr lang="en-TR"/>
          </a:p>
        </p:txBody>
      </p:sp>
      <p:sp>
        <p:nvSpPr>
          <p:cNvPr id="13" name="Text 11"/>
          <p:cNvSpPr txBox="1"/>
          <p:nvPr/>
        </p:nvSpPr>
        <p:spPr>
          <a:xfrm>
            <a:off x="640080" y="3191256"/>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207008" y="3200400"/>
            <a:ext cx="2834640" cy="292608"/>
          </a:xfrm>
          <a:prstGeom prst="rect">
            <a:avLst/>
          </a:prstGeom>
          <a:noFill/>
          <a:ln/>
        </p:spPr>
        <p:txBody>
          <a:bodyPr wrap="square" lIns="0" tIns="0" rIns="0" bIns="0" rtlCol="0" anchor="t"/>
          <a:lstStyle/>
          <a:p>
            <a:pPr marL="0" indent="0">
              <a:buNone/>
            </a:pPr>
            <a:r>
              <a:rPr lang="en-US" sz="1450" b="1" dirty="0">
                <a:solidFill>
                  <a:srgbClr val="132030"/>
                </a:solidFill>
                <a:latin typeface="Arial" pitchFamily="34" charset="0"/>
                <a:ea typeface="Arial" pitchFamily="34" charset="-122"/>
                <a:cs typeface="Arial" pitchFamily="34" charset="-120"/>
              </a:rPr>
              <a:t>Check access</a:t>
            </a:r>
            <a:endParaRPr lang="en-US" sz="1450" dirty="0"/>
          </a:p>
        </p:txBody>
      </p:sp>
      <p:sp>
        <p:nvSpPr>
          <p:cNvPr id="15" name="Text 13"/>
          <p:cNvSpPr txBox="1"/>
          <p:nvPr/>
        </p:nvSpPr>
        <p:spPr>
          <a:xfrm>
            <a:off x="4114800" y="3209544"/>
            <a:ext cx="4160520" cy="640080"/>
          </a:xfrm>
          <a:prstGeom prst="rect">
            <a:avLst/>
          </a:prstGeom>
          <a:noFill/>
          <a:ln/>
        </p:spPr>
        <p:txBody>
          <a:bodyPr wrap="square" lIns="0" tIns="0" rIns="0" bIns="0" rtlCol="0" anchor="t"/>
          <a:lstStyle/>
          <a:p>
            <a:pPr marL="0" indent="0">
              <a:lnSpc>
                <a:spcPts val="1600"/>
              </a:lnSpc>
              <a:buNone/>
            </a:pPr>
            <a:r>
              <a:rPr lang="en-US" sz="1250" dirty="0">
                <a:solidFill>
                  <a:srgbClr val="4A5A69"/>
                </a:solidFill>
                <a:latin typeface="Calibri" pitchFamily="34" charset="0"/>
                <a:ea typeface="Calibri" pitchFamily="34" charset="-122"/>
                <a:cs typeface="Calibri" pitchFamily="34" charset="-120"/>
              </a:rPr>
              <a:t>If the user's visibility does not cover that agent's domain, the agent never runs.</a:t>
            </a:r>
            <a:endParaRPr lang="en-US" sz="1250" dirty="0"/>
          </a:p>
        </p:txBody>
      </p:sp>
      <p:sp>
        <p:nvSpPr>
          <p:cNvPr id="16" name="Shape 14"/>
          <p:cNvSpPr/>
          <p:nvPr/>
        </p:nvSpPr>
        <p:spPr>
          <a:xfrm>
            <a:off x="640080" y="4032504"/>
            <a:ext cx="347472" cy="347472"/>
          </a:xfrm>
          <a:prstGeom prst="ellipse">
            <a:avLst/>
          </a:prstGeom>
          <a:solidFill>
            <a:srgbClr val="132030"/>
          </a:solidFill>
          <a:ln w="12700">
            <a:solidFill>
              <a:srgbClr val="132030"/>
            </a:solidFill>
            <a:prstDash val="solid"/>
          </a:ln>
        </p:spPr>
        <p:txBody>
          <a:bodyPr/>
          <a:lstStyle/>
          <a:p>
            <a:endParaRPr lang="en-TR"/>
          </a:p>
        </p:txBody>
      </p:sp>
      <p:sp>
        <p:nvSpPr>
          <p:cNvPr id="17" name="Text 15"/>
          <p:cNvSpPr txBox="1"/>
          <p:nvPr/>
        </p:nvSpPr>
        <p:spPr>
          <a:xfrm>
            <a:off x="640080" y="4032504"/>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1207008" y="4041648"/>
            <a:ext cx="2834640" cy="292608"/>
          </a:xfrm>
          <a:prstGeom prst="rect">
            <a:avLst/>
          </a:prstGeom>
          <a:noFill/>
          <a:ln/>
        </p:spPr>
        <p:txBody>
          <a:bodyPr wrap="square" lIns="0" tIns="0" rIns="0" bIns="0" rtlCol="0" anchor="t"/>
          <a:lstStyle/>
          <a:p>
            <a:pPr marL="0" indent="0">
              <a:buNone/>
            </a:pPr>
            <a:r>
              <a:rPr lang="en-US" sz="1450" b="1" dirty="0">
                <a:solidFill>
                  <a:srgbClr val="132030"/>
                </a:solidFill>
                <a:latin typeface="Arial" pitchFamily="34" charset="0"/>
                <a:ea typeface="Arial" pitchFamily="34" charset="-122"/>
                <a:cs typeface="Arial" pitchFamily="34" charset="-120"/>
              </a:rPr>
              <a:t>Tool-calling loop</a:t>
            </a:r>
            <a:endParaRPr lang="en-US" sz="1450" dirty="0"/>
          </a:p>
        </p:txBody>
      </p:sp>
      <p:sp>
        <p:nvSpPr>
          <p:cNvPr id="19" name="Text 17"/>
          <p:cNvSpPr txBox="1"/>
          <p:nvPr/>
        </p:nvSpPr>
        <p:spPr>
          <a:xfrm>
            <a:off x="4114800" y="4050792"/>
            <a:ext cx="4160520" cy="640080"/>
          </a:xfrm>
          <a:prstGeom prst="rect">
            <a:avLst/>
          </a:prstGeom>
          <a:noFill/>
          <a:ln/>
        </p:spPr>
        <p:txBody>
          <a:bodyPr wrap="square" lIns="0" tIns="0" rIns="0" bIns="0" rtlCol="0" anchor="t"/>
          <a:lstStyle/>
          <a:p>
            <a:pPr marL="0" indent="0">
              <a:lnSpc>
                <a:spcPts val="1600"/>
              </a:lnSpc>
              <a:buNone/>
            </a:pPr>
            <a:r>
              <a:rPr lang="en-US" sz="1250" dirty="0">
                <a:solidFill>
                  <a:srgbClr val="4A5A69"/>
                </a:solidFill>
                <a:latin typeface="Calibri" pitchFamily="34" charset="0"/>
                <a:ea typeface="Calibri" pitchFamily="34" charset="-122"/>
                <a:cs typeface="Calibri" pitchFamily="34" charset="-120"/>
              </a:rPr>
              <a:t>System prompt + last 6 messages + question, with that agent's tool schemas. Max 4 rounds.</a:t>
            </a:r>
            <a:endParaRPr lang="en-US" sz="1250" dirty="0"/>
          </a:p>
        </p:txBody>
      </p:sp>
      <p:sp>
        <p:nvSpPr>
          <p:cNvPr id="20" name="Shape 18"/>
          <p:cNvSpPr/>
          <p:nvPr/>
        </p:nvSpPr>
        <p:spPr>
          <a:xfrm>
            <a:off x="640080" y="4873752"/>
            <a:ext cx="347472" cy="347472"/>
          </a:xfrm>
          <a:prstGeom prst="ellipse">
            <a:avLst/>
          </a:prstGeom>
          <a:solidFill>
            <a:srgbClr val="132030"/>
          </a:solidFill>
          <a:ln w="12700">
            <a:solidFill>
              <a:srgbClr val="132030"/>
            </a:solidFill>
            <a:prstDash val="solid"/>
          </a:ln>
        </p:spPr>
        <p:txBody>
          <a:bodyPr/>
          <a:lstStyle/>
          <a:p>
            <a:endParaRPr lang="en-TR"/>
          </a:p>
        </p:txBody>
      </p:sp>
      <p:sp>
        <p:nvSpPr>
          <p:cNvPr id="21" name="Text 19"/>
          <p:cNvSpPr txBox="1"/>
          <p:nvPr/>
        </p:nvSpPr>
        <p:spPr>
          <a:xfrm>
            <a:off x="640080" y="4873752"/>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2" name="Text 20"/>
          <p:cNvSpPr txBox="1"/>
          <p:nvPr/>
        </p:nvSpPr>
        <p:spPr>
          <a:xfrm>
            <a:off x="1207008" y="4882896"/>
            <a:ext cx="2834640" cy="292608"/>
          </a:xfrm>
          <a:prstGeom prst="rect">
            <a:avLst/>
          </a:prstGeom>
          <a:noFill/>
          <a:ln/>
        </p:spPr>
        <p:txBody>
          <a:bodyPr wrap="square" lIns="0" tIns="0" rIns="0" bIns="0" rtlCol="0" anchor="t"/>
          <a:lstStyle/>
          <a:p>
            <a:pPr marL="0" indent="0">
              <a:buNone/>
            </a:pPr>
            <a:r>
              <a:rPr lang="en-US" sz="1450" b="1" dirty="0">
                <a:solidFill>
                  <a:srgbClr val="132030"/>
                </a:solidFill>
                <a:latin typeface="Arial" pitchFamily="34" charset="0"/>
                <a:ea typeface="Arial" pitchFamily="34" charset="-122"/>
                <a:cs typeface="Arial" pitchFamily="34" charset="-120"/>
              </a:rPr>
              <a:t>Answer</a:t>
            </a:r>
            <a:endParaRPr lang="en-US" sz="1450" dirty="0"/>
          </a:p>
        </p:txBody>
      </p:sp>
      <p:sp>
        <p:nvSpPr>
          <p:cNvPr id="23" name="Text 21"/>
          <p:cNvSpPr txBox="1"/>
          <p:nvPr/>
        </p:nvSpPr>
        <p:spPr>
          <a:xfrm>
            <a:off x="4114800" y="4892040"/>
            <a:ext cx="4160520" cy="640080"/>
          </a:xfrm>
          <a:prstGeom prst="rect">
            <a:avLst/>
          </a:prstGeom>
          <a:noFill/>
          <a:ln/>
        </p:spPr>
        <p:txBody>
          <a:bodyPr wrap="square" lIns="0" tIns="0" rIns="0" bIns="0" rtlCol="0" anchor="t"/>
          <a:lstStyle/>
          <a:p>
            <a:pPr marL="0" indent="0">
              <a:lnSpc>
                <a:spcPts val="1600"/>
              </a:lnSpc>
              <a:buNone/>
            </a:pPr>
            <a:r>
              <a:rPr lang="en-US" sz="1250" dirty="0">
                <a:solidFill>
                  <a:srgbClr val="4A5A69"/>
                </a:solidFill>
                <a:latin typeface="Calibri" pitchFamily="34" charset="0"/>
                <a:ea typeface="Calibri" pitchFamily="34" charset="-122"/>
                <a:cs typeface="Calibri" pitchFamily="34" charset="-120"/>
              </a:rPr>
              <a:t>Returned with the agent name and the manual pages retrieved, shown as citations.</a:t>
            </a:r>
            <a:endParaRPr lang="en-US" sz="1250" dirty="0"/>
          </a:p>
        </p:txBody>
      </p:sp>
      <p:sp>
        <p:nvSpPr>
          <p:cNvPr id="24" name="Shape 22"/>
          <p:cNvSpPr/>
          <p:nvPr/>
        </p:nvSpPr>
        <p:spPr>
          <a:xfrm>
            <a:off x="8549640" y="1508760"/>
            <a:ext cx="2999232" cy="1965960"/>
          </a:xfrm>
          <a:prstGeom prst="roundRect">
            <a:avLst>
              <a:gd name="adj" fmla="val 2791"/>
            </a:avLst>
          </a:prstGeom>
          <a:solidFill>
            <a:srgbClr val="EEF2F6"/>
          </a:solidFill>
          <a:ln w="12700">
            <a:solidFill>
              <a:srgbClr val="D6DEE6"/>
            </a:solidFill>
            <a:prstDash val="solid"/>
          </a:ln>
        </p:spPr>
        <p:txBody>
          <a:bodyPr/>
          <a:lstStyle/>
          <a:p>
            <a:endParaRPr lang="en-TR"/>
          </a:p>
        </p:txBody>
      </p:sp>
      <p:sp>
        <p:nvSpPr>
          <p:cNvPr id="25" name="Text 23"/>
          <p:cNvSpPr txBox="1"/>
          <p:nvPr/>
        </p:nvSpPr>
        <p:spPr>
          <a:xfrm>
            <a:off x="8778240" y="1691640"/>
            <a:ext cx="2560320" cy="274320"/>
          </a:xfrm>
          <a:prstGeom prst="rect">
            <a:avLst/>
          </a:prstGeom>
          <a:noFill/>
          <a:ln/>
        </p:spPr>
        <p:txBody>
          <a:bodyPr wrap="square" lIns="0" tIns="0" rIns="0" bIns="0" rtlCol="0" anchor="t"/>
          <a:lstStyle/>
          <a:p>
            <a:pPr marL="0" indent="0">
              <a:buNone/>
            </a:pPr>
            <a:r>
              <a:rPr lang="en-US" sz="1400" b="1" dirty="0">
                <a:solidFill>
                  <a:srgbClr val="132030"/>
                </a:solidFill>
                <a:latin typeface="Arial" pitchFamily="34" charset="0"/>
                <a:ea typeface="Arial" pitchFamily="34" charset="-122"/>
                <a:cs typeface="Arial" pitchFamily="34" charset="-120"/>
              </a:rPr>
              <a:t>Limits we set</a:t>
            </a:r>
            <a:endParaRPr lang="en-US" sz="1400" dirty="0"/>
          </a:p>
        </p:txBody>
      </p:sp>
      <p:sp>
        <p:nvSpPr>
          <p:cNvPr id="26" name="Text 24"/>
          <p:cNvSpPr txBox="1"/>
          <p:nvPr/>
        </p:nvSpPr>
        <p:spPr>
          <a:xfrm>
            <a:off x="8778240" y="2011680"/>
            <a:ext cx="2560320" cy="1280160"/>
          </a:xfrm>
          <a:prstGeom prst="rect">
            <a:avLst/>
          </a:prstGeom>
          <a:noFill/>
          <a:ln/>
        </p:spPr>
        <p:txBody>
          <a:bodyPr wrap="square" lIns="0" tIns="0" rIns="0" bIns="0" rtlCol="0" anchor="t"/>
          <a:lstStyle/>
          <a:p>
            <a:pPr marL="0" indent="0">
              <a:lnSpc>
                <a:spcPts val="1600"/>
              </a:lnSpc>
              <a:buNone/>
            </a:pPr>
            <a:r>
              <a:rPr lang="en-US" sz="1250" dirty="0">
                <a:solidFill>
                  <a:srgbClr val="4A5A69"/>
                </a:solidFill>
                <a:latin typeface="Calibri" pitchFamily="34" charset="0"/>
                <a:ea typeface="Calibri" pitchFamily="34" charset="-122"/>
                <a:cs typeface="Calibri" pitchFamily="34" charset="-120"/>
              </a:rPr>
              <a:t>4 tool rounds maximum</a:t>
            </a:r>
            <a:endParaRPr lang="en-US" sz="1250" dirty="0"/>
          </a:p>
          <a:p>
            <a:pPr marL="0" indent="0">
              <a:lnSpc>
                <a:spcPts val="1600"/>
              </a:lnSpc>
              <a:buNone/>
            </a:pPr>
            <a:endParaRPr lang="en-US" sz="1250" dirty="0"/>
          </a:p>
          <a:p>
            <a:pPr marL="0" indent="0">
              <a:lnSpc>
                <a:spcPts val="1600"/>
              </a:lnSpc>
              <a:buNone/>
            </a:pPr>
            <a:r>
              <a:rPr lang="en-US" sz="1250" dirty="0">
                <a:solidFill>
                  <a:srgbClr val="4A5A69"/>
                </a:solidFill>
                <a:latin typeface="Calibri" pitchFamily="34" charset="0"/>
                <a:ea typeface="Calibri" pitchFamily="34" charset="-122"/>
                <a:cs typeface="Calibri" pitchFamily="34" charset="-120"/>
              </a:rPr>
              <a:t>6,000 characters per tool result</a:t>
            </a:r>
            <a:endParaRPr lang="en-US" sz="1250" dirty="0"/>
          </a:p>
          <a:p>
            <a:pPr marL="0" indent="0">
              <a:lnSpc>
                <a:spcPts val="1600"/>
              </a:lnSpc>
              <a:buNone/>
            </a:pPr>
            <a:endParaRPr lang="en-US" sz="1250" dirty="0"/>
          </a:p>
          <a:p>
            <a:pPr marL="0" indent="0">
              <a:lnSpc>
                <a:spcPts val="1600"/>
              </a:lnSpc>
              <a:buNone/>
            </a:pPr>
            <a:r>
              <a:rPr lang="en-US" sz="1250" dirty="0">
                <a:solidFill>
                  <a:srgbClr val="4A5A69"/>
                </a:solidFill>
                <a:latin typeface="Calibri" pitchFamily="34" charset="0"/>
                <a:ea typeface="Calibri" pitchFamily="34" charset="-122"/>
                <a:cs typeface="Calibri" pitchFamily="34" charset="-120"/>
              </a:rPr>
              <a:t>6 messages of memory</a:t>
            </a:r>
            <a:endParaRPr lang="en-US" sz="1250" dirty="0"/>
          </a:p>
        </p:txBody>
      </p:sp>
      <p:sp>
        <p:nvSpPr>
          <p:cNvPr id="27" name="Shape 25"/>
          <p:cNvSpPr/>
          <p:nvPr/>
        </p:nvSpPr>
        <p:spPr>
          <a:xfrm>
            <a:off x="8549640" y="3611880"/>
            <a:ext cx="2999232" cy="2057400"/>
          </a:xfrm>
          <a:prstGeom prst="roundRect">
            <a:avLst>
              <a:gd name="adj" fmla="val 2667"/>
            </a:avLst>
          </a:prstGeom>
          <a:solidFill>
            <a:srgbClr val="FBF3E4"/>
          </a:solidFill>
          <a:ln w="12700">
            <a:solidFill>
              <a:srgbClr val="D6DEE6"/>
            </a:solidFill>
            <a:prstDash val="solid"/>
          </a:ln>
        </p:spPr>
        <p:txBody>
          <a:bodyPr/>
          <a:lstStyle/>
          <a:p>
            <a:endParaRPr lang="en-TR"/>
          </a:p>
        </p:txBody>
      </p:sp>
      <p:sp>
        <p:nvSpPr>
          <p:cNvPr id="28" name="Text 26"/>
          <p:cNvSpPr txBox="1"/>
          <p:nvPr/>
        </p:nvSpPr>
        <p:spPr>
          <a:xfrm>
            <a:off x="8778240" y="3794760"/>
            <a:ext cx="2560320" cy="274320"/>
          </a:xfrm>
          <a:prstGeom prst="rect">
            <a:avLst/>
          </a:prstGeom>
          <a:noFill/>
          <a:ln/>
        </p:spPr>
        <p:txBody>
          <a:bodyPr wrap="square" lIns="0" tIns="0" rIns="0" bIns="0" rtlCol="0" anchor="t"/>
          <a:lstStyle/>
          <a:p>
            <a:pPr marL="0" indent="0">
              <a:buNone/>
            </a:pPr>
            <a:r>
              <a:rPr lang="en-US" sz="1400" b="1" dirty="0">
                <a:solidFill>
                  <a:srgbClr val="132030"/>
                </a:solidFill>
                <a:latin typeface="Arial" pitchFamily="34" charset="0"/>
                <a:ea typeface="Arial" pitchFamily="34" charset="-122"/>
                <a:cs typeface="Arial" pitchFamily="34" charset="-120"/>
              </a:rPr>
              <a:t>If access fails</a:t>
            </a:r>
            <a:endParaRPr lang="en-US" sz="1400" dirty="0"/>
          </a:p>
        </p:txBody>
      </p:sp>
      <p:sp>
        <p:nvSpPr>
          <p:cNvPr id="29" name="Text 27"/>
          <p:cNvSpPr txBox="1"/>
          <p:nvPr/>
        </p:nvSpPr>
        <p:spPr>
          <a:xfrm>
            <a:off x="8778240" y="4114800"/>
            <a:ext cx="2560320" cy="1097280"/>
          </a:xfrm>
          <a:prstGeom prst="rect">
            <a:avLst/>
          </a:prstGeom>
          <a:noFill/>
          <a:ln/>
        </p:spPr>
        <p:txBody>
          <a:bodyPr wrap="square" lIns="0" tIns="0" rIns="0" bIns="0" rtlCol="0" anchor="t"/>
          <a:lstStyle/>
          <a:p>
            <a:pPr marL="0" indent="0">
              <a:lnSpc>
                <a:spcPts val="1600"/>
              </a:lnSpc>
              <a:buNone/>
            </a:pPr>
            <a:r>
              <a:rPr lang="en-US" sz="1250" dirty="0">
                <a:solidFill>
                  <a:srgbClr val="4A5A69"/>
                </a:solidFill>
                <a:latin typeface="Calibri" pitchFamily="34" charset="0"/>
                <a:ea typeface="Calibri" pitchFamily="34" charset="-122"/>
                <a:cs typeface="Calibri" pitchFamily="34" charset="-120"/>
              </a:rPr>
              <a:t>No tool runs, no data is read, and the user gets an explicit sentence naming the visibility their account has.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566928"/>
          </a:xfrm>
          <a:prstGeom prst="rect">
            <a:avLst/>
          </a:prstGeom>
          <a:noFill/>
          <a:ln/>
        </p:spPr>
        <p:txBody>
          <a:bodyPr wrap="square" lIns="0" tIns="0" rIns="0" bIns="0" rtlCol="0" anchor="t"/>
          <a:lstStyle/>
          <a:p>
            <a:pPr marL="0" indent="0">
              <a:buNone/>
            </a:pPr>
            <a:r>
              <a:rPr lang="en-US" sz="3200" b="1" dirty="0">
                <a:solidFill>
                  <a:srgbClr val="132030"/>
                </a:solidFill>
                <a:latin typeface="Arial" pitchFamily="34" charset="0"/>
                <a:ea typeface="Arial" pitchFamily="34" charset="-122"/>
                <a:cs typeface="Arial" pitchFamily="34" charset="-120"/>
              </a:rPr>
              <a:t>Guardrails</a:t>
            </a:r>
            <a:endParaRPr lang="en-US" sz="3200" dirty="0"/>
          </a:p>
        </p:txBody>
      </p:sp>
      <p:sp>
        <p:nvSpPr>
          <p:cNvPr id="3" name="Text 1"/>
          <p:cNvSpPr txBox="1"/>
          <p:nvPr/>
        </p:nvSpPr>
        <p:spPr>
          <a:xfrm>
            <a:off x="640080" y="969264"/>
            <a:ext cx="10908792" cy="310896"/>
          </a:xfrm>
          <a:prstGeom prst="rect">
            <a:avLst/>
          </a:prstGeom>
          <a:noFill/>
          <a:ln/>
        </p:spPr>
        <p:txBody>
          <a:bodyPr wrap="square" lIns="0" tIns="0" rIns="0" bIns="0" rtlCol="0" anchor="t"/>
          <a:lstStyle/>
          <a:p>
            <a:pPr marL="0" indent="0">
              <a:buNone/>
            </a:pPr>
            <a:r>
              <a:rPr lang="en-US" sz="1400" dirty="0">
                <a:solidFill>
                  <a:srgbClr val="4A5A69"/>
                </a:solidFill>
                <a:latin typeface="Calibri" pitchFamily="34" charset="0"/>
                <a:ea typeface="Calibri" pitchFamily="34" charset="-122"/>
                <a:cs typeface="Calibri" pitchFamily="34" charset="-120"/>
              </a:rPr>
              <a:t>What keeps the model inside the rules we set.</a:t>
            </a:r>
            <a:endParaRPr lang="en-US" sz="1400" dirty="0"/>
          </a:p>
        </p:txBody>
      </p:sp>
      <p:sp>
        <p:nvSpPr>
          <p:cNvPr id="4" name="Shape 2"/>
          <p:cNvSpPr/>
          <p:nvPr/>
        </p:nvSpPr>
        <p:spPr>
          <a:xfrm>
            <a:off x="640080" y="1554480"/>
            <a:ext cx="3566160" cy="1920240"/>
          </a:xfrm>
          <a:prstGeom prst="roundRect">
            <a:avLst>
              <a:gd name="adj" fmla="val 2857"/>
            </a:avLst>
          </a:prstGeom>
          <a:solidFill>
            <a:srgbClr val="EEF2F6"/>
          </a:solidFill>
          <a:ln w="12700">
            <a:solidFill>
              <a:srgbClr val="D6DEE6"/>
            </a:solidFill>
            <a:prstDash val="solid"/>
          </a:ln>
        </p:spPr>
        <p:txBody>
          <a:bodyPr/>
          <a:lstStyle/>
          <a:p>
            <a:endParaRPr lang="en-TR"/>
          </a:p>
        </p:txBody>
      </p:sp>
      <p:sp>
        <p:nvSpPr>
          <p:cNvPr id="5" name="Text 3"/>
          <p:cNvSpPr txBox="1"/>
          <p:nvPr/>
        </p:nvSpPr>
        <p:spPr>
          <a:xfrm>
            <a:off x="868680" y="1783080"/>
            <a:ext cx="3108960" cy="594360"/>
          </a:xfrm>
          <a:prstGeom prst="rect">
            <a:avLst/>
          </a:prstGeom>
          <a:noFill/>
          <a:ln/>
        </p:spPr>
        <p:txBody>
          <a:bodyPr wrap="square" lIns="0" tIns="0" rIns="0" bIns="0" rtlCol="0" anchor="t"/>
          <a:lstStyle/>
          <a:p>
            <a:pPr marL="0" indent="0">
              <a:buNone/>
            </a:pPr>
            <a:r>
              <a:rPr lang="en-US" sz="1400" b="1" dirty="0">
                <a:solidFill>
                  <a:srgbClr val="132030"/>
                </a:solidFill>
                <a:latin typeface="Arial" pitchFamily="34" charset="0"/>
                <a:ea typeface="Arial" pitchFamily="34" charset="-122"/>
                <a:cs typeface="Arial" pitchFamily="34" charset="-120"/>
              </a:rPr>
              <a:t>Two-layer permission check</a:t>
            </a:r>
            <a:endParaRPr lang="en-US" sz="1400" dirty="0"/>
          </a:p>
        </p:txBody>
      </p:sp>
      <p:sp>
        <p:nvSpPr>
          <p:cNvPr id="6" name="Text 4"/>
          <p:cNvSpPr txBox="1"/>
          <p:nvPr/>
        </p:nvSpPr>
        <p:spPr>
          <a:xfrm>
            <a:off x="868680" y="2423160"/>
            <a:ext cx="3127248" cy="914400"/>
          </a:xfrm>
          <a:prstGeom prst="rect">
            <a:avLst/>
          </a:prstGeom>
          <a:noFill/>
          <a:ln/>
        </p:spPr>
        <p:txBody>
          <a:bodyPr wrap="square" lIns="0" tIns="0" rIns="0" bIns="0" rtlCol="0" anchor="t"/>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The orchestrator refuses before the agent runs; every restricted tool checks again.</a:t>
            </a:r>
            <a:endParaRPr lang="en-US" sz="1250" dirty="0"/>
          </a:p>
        </p:txBody>
      </p:sp>
      <p:sp>
        <p:nvSpPr>
          <p:cNvPr id="7" name="Shape 5"/>
          <p:cNvSpPr/>
          <p:nvPr/>
        </p:nvSpPr>
        <p:spPr>
          <a:xfrm>
            <a:off x="4398264" y="1554480"/>
            <a:ext cx="3566160" cy="1920240"/>
          </a:xfrm>
          <a:prstGeom prst="roundRect">
            <a:avLst>
              <a:gd name="adj" fmla="val 2857"/>
            </a:avLst>
          </a:prstGeom>
          <a:solidFill>
            <a:srgbClr val="EEF2F6"/>
          </a:solidFill>
          <a:ln w="12700">
            <a:solidFill>
              <a:srgbClr val="D6DEE6"/>
            </a:solidFill>
            <a:prstDash val="solid"/>
          </a:ln>
        </p:spPr>
        <p:txBody>
          <a:bodyPr/>
          <a:lstStyle/>
          <a:p>
            <a:endParaRPr lang="en-TR"/>
          </a:p>
        </p:txBody>
      </p:sp>
      <p:sp>
        <p:nvSpPr>
          <p:cNvPr id="8" name="Text 6"/>
          <p:cNvSpPr txBox="1"/>
          <p:nvPr/>
        </p:nvSpPr>
        <p:spPr>
          <a:xfrm>
            <a:off x="4626864" y="1783080"/>
            <a:ext cx="3108960" cy="594360"/>
          </a:xfrm>
          <a:prstGeom prst="rect">
            <a:avLst/>
          </a:prstGeom>
          <a:noFill/>
          <a:ln/>
        </p:spPr>
        <p:txBody>
          <a:bodyPr wrap="square" lIns="0" tIns="0" rIns="0" bIns="0" rtlCol="0" anchor="t"/>
          <a:lstStyle/>
          <a:p>
            <a:pPr marL="0" indent="0">
              <a:buNone/>
            </a:pPr>
            <a:r>
              <a:rPr lang="en-US" sz="1400" b="1" dirty="0">
                <a:solidFill>
                  <a:srgbClr val="132030"/>
                </a:solidFill>
                <a:latin typeface="Arial" pitchFamily="34" charset="0"/>
                <a:ea typeface="Arial" pitchFamily="34" charset="-122"/>
                <a:cs typeface="Arial" pitchFamily="34" charset="-120"/>
              </a:rPr>
              <a:t>Tenant boundary in one function</a:t>
            </a:r>
            <a:endParaRPr lang="en-US" sz="1400" dirty="0"/>
          </a:p>
        </p:txBody>
      </p:sp>
      <p:sp>
        <p:nvSpPr>
          <p:cNvPr id="9" name="Text 7"/>
          <p:cNvSpPr txBox="1"/>
          <p:nvPr/>
        </p:nvSpPr>
        <p:spPr>
          <a:xfrm>
            <a:off x="4626864" y="2423160"/>
            <a:ext cx="3127248" cy="914400"/>
          </a:xfrm>
          <a:prstGeom prst="rect">
            <a:avLst/>
          </a:prstGeom>
          <a:noFill/>
          <a:ln/>
        </p:spPr>
        <p:txBody>
          <a:bodyPr wrap="square" lIns="0" tIns="0" rIns="0" bIns="0" rtlCol="0" anchor="t"/>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Every tool that takes a machine resolves it through the same company-filtered query.</a:t>
            </a:r>
            <a:endParaRPr lang="en-US" sz="1250" dirty="0"/>
          </a:p>
        </p:txBody>
      </p:sp>
      <p:sp>
        <p:nvSpPr>
          <p:cNvPr id="10" name="Shape 8"/>
          <p:cNvSpPr/>
          <p:nvPr/>
        </p:nvSpPr>
        <p:spPr>
          <a:xfrm>
            <a:off x="8156448" y="1554480"/>
            <a:ext cx="3566160" cy="1920240"/>
          </a:xfrm>
          <a:prstGeom prst="roundRect">
            <a:avLst>
              <a:gd name="adj" fmla="val 2857"/>
            </a:avLst>
          </a:prstGeom>
          <a:solidFill>
            <a:srgbClr val="EEF2F6"/>
          </a:solidFill>
          <a:ln w="12700">
            <a:solidFill>
              <a:srgbClr val="D6DEE6"/>
            </a:solidFill>
            <a:prstDash val="solid"/>
          </a:ln>
        </p:spPr>
        <p:txBody>
          <a:bodyPr/>
          <a:lstStyle/>
          <a:p>
            <a:endParaRPr lang="en-TR"/>
          </a:p>
        </p:txBody>
      </p:sp>
      <p:sp>
        <p:nvSpPr>
          <p:cNvPr id="11" name="Text 9"/>
          <p:cNvSpPr txBox="1"/>
          <p:nvPr/>
        </p:nvSpPr>
        <p:spPr>
          <a:xfrm>
            <a:off x="8385048" y="1783080"/>
            <a:ext cx="3108960" cy="594360"/>
          </a:xfrm>
          <a:prstGeom prst="rect">
            <a:avLst/>
          </a:prstGeom>
          <a:noFill/>
          <a:ln/>
        </p:spPr>
        <p:txBody>
          <a:bodyPr wrap="square" lIns="0" tIns="0" rIns="0" bIns="0" rtlCol="0" anchor="t"/>
          <a:lstStyle/>
          <a:p>
            <a:pPr marL="0" indent="0">
              <a:buNone/>
            </a:pPr>
            <a:r>
              <a:rPr lang="en-US" sz="1400" b="1" dirty="0">
                <a:solidFill>
                  <a:srgbClr val="132030"/>
                </a:solidFill>
                <a:latin typeface="Arial" pitchFamily="34" charset="0"/>
                <a:ea typeface="Arial" pitchFamily="34" charset="-122"/>
                <a:cs typeface="Arial" pitchFamily="34" charset="-120"/>
              </a:rPr>
              <a:t>No text-to-SQL</a:t>
            </a:r>
            <a:endParaRPr lang="en-US" sz="1400" dirty="0"/>
          </a:p>
        </p:txBody>
      </p:sp>
      <p:sp>
        <p:nvSpPr>
          <p:cNvPr id="12" name="Text 10"/>
          <p:cNvSpPr txBox="1"/>
          <p:nvPr/>
        </p:nvSpPr>
        <p:spPr>
          <a:xfrm>
            <a:off x="8385048" y="2423160"/>
            <a:ext cx="3127248" cy="914400"/>
          </a:xfrm>
          <a:prstGeom prst="rect">
            <a:avLst/>
          </a:prstGeom>
          <a:noFill/>
          <a:ln/>
        </p:spPr>
        <p:txBody>
          <a:bodyPr wrap="square" lIns="0" tIns="0" rIns="0" bIns="0" rtlCol="0" anchor="t"/>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Fixed parameterised queries only.</a:t>
            </a:r>
            <a:endParaRPr lang="en-US" sz="1250" dirty="0"/>
          </a:p>
        </p:txBody>
      </p:sp>
      <p:sp>
        <p:nvSpPr>
          <p:cNvPr id="13" name="Shape 11"/>
          <p:cNvSpPr/>
          <p:nvPr/>
        </p:nvSpPr>
        <p:spPr>
          <a:xfrm>
            <a:off x="640080" y="3703320"/>
            <a:ext cx="3566160" cy="1920240"/>
          </a:xfrm>
          <a:prstGeom prst="roundRect">
            <a:avLst>
              <a:gd name="adj" fmla="val 2857"/>
            </a:avLst>
          </a:prstGeom>
          <a:solidFill>
            <a:srgbClr val="EEF2F6"/>
          </a:solidFill>
          <a:ln w="12700">
            <a:solidFill>
              <a:srgbClr val="D6DEE6"/>
            </a:solidFill>
            <a:prstDash val="solid"/>
          </a:ln>
        </p:spPr>
        <p:txBody>
          <a:bodyPr/>
          <a:lstStyle/>
          <a:p>
            <a:endParaRPr lang="en-TR"/>
          </a:p>
        </p:txBody>
      </p:sp>
      <p:sp>
        <p:nvSpPr>
          <p:cNvPr id="14" name="Text 12"/>
          <p:cNvSpPr txBox="1"/>
          <p:nvPr/>
        </p:nvSpPr>
        <p:spPr>
          <a:xfrm>
            <a:off x="868680" y="3931920"/>
            <a:ext cx="3108960" cy="594360"/>
          </a:xfrm>
          <a:prstGeom prst="rect">
            <a:avLst/>
          </a:prstGeom>
          <a:noFill/>
          <a:ln/>
        </p:spPr>
        <p:txBody>
          <a:bodyPr wrap="square" lIns="0" tIns="0" rIns="0" bIns="0" rtlCol="0" anchor="t"/>
          <a:lstStyle/>
          <a:p>
            <a:pPr marL="0" indent="0">
              <a:buNone/>
            </a:pPr>
            <a:r>
              <a:rPr lang="en-US" sz="1400" b="1" dirty="0">
                <a:solidFill>
                  <a:srgbClr val="132030"/>
                </a:solidFill>
                <a:latin typeface="Arial" pitchFamily="34" charset="0"/>
                <a:ea typeface="Arial" pitchFamily="34" charset="-122"/>
                <a:cs typeface="Arial" pitchFamily="34" charset="-120"/>
              </a:rPr>
              <a:t>Agents cannot borrow tools</a:t>
            </a:r>
            <a:endParaRPr lang="en-US" sz="1400" dirty="0"/>
          </a:p>
        </p:txBody>
      </p:sp>
      <p:sp>
        <p:nvSpPr>
          <p:cNvPr id="15" name="Text 13"/>
          <p:cNvSpPr txBox="1"/>
          <p:nvPr/>
        </p:nvSpPr>
        <p:spPr>
          <a:xfrm>
            <a:off x="868680" y="4572000"/>
            <a:ext cx="3127248" cy="914400"/>
          </a:xfrm>
          <a:prstGeom prst="rect">
            <a:avLst/>
          </a:prstGeom>
          <a:noFill/>
          <a:ln/>
        </p:spPr>
        <p:txBody>
          <a:bodyPr wrap="square" lIns="0" tIns="0" rIns="0" bIns="0" rtlCol="0" anchor="t"/>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A tool call outside the agent's own list is rejected.</a:t>
            </a:r>
            <a:endParaRPr lang="en-US" sz="1250" dirty="0"/>
          </a:p>
        </p:txBody>
      </p:sp>
      <p:sp>
        <p:nvSpPr>
          <p:cNvPr id="16" name="Shape 14"/>
          <p:cNvSpPr/>
          <p:nvPr/>
        </p:nvSpPr>
        <p:spPr>
          <a:xfrm>
            <a:off x="4398264" y="3703320"/>
            <a:ext cx="3566160" cy="1920240"/>
          </a:xfrm>
          <a:prstGeom prst="roundRect">
            <a:avLst>
              <a:gd name="adj" fmla="val 2857"/>
            </a:avLst>
          </a:prstGeom>
          <a:solidFill>
            <a:srgbClr val="EEF2F6"/>
          </a:solidFill>
          <a:ln w="12700">
            <a:solidFill>
              <a:srgbClr val="D6DEE6"/>
            </a:solidFill>
            <a:prstDash val="solid"/>
          </a:ln>
        </p:spPr>
        <p:txBody>
          <a:bodyPr/>
          <a:lstStyle/>
          <a:p>
            <a:endParaRPr lang="en-TR"/>
          </a:p>
        </p:txBody>
      </p:sp>
      <p:sp>
        <p:nvSpPr>
          <p:cNvPr id="17" name="Text 15"/>
          <p:cNvSpPr txBox="1"/>
          <p:nvPr/>
        </p:nvSpPr>
        <p:spPr>
          <a:xfrm>
            <a:off x="4626864" y="3931920"/>
            <a:ext cx="3108960" cy="594360"/>
          </a:xfrm>
          <a:prstGeom prst="rect">
            <a:avLst/>
          </a:prstGeom>
          <a:noFill/>
          <a:ln/>
        </p:spPr>
        <p:txBody>
          <a:bodyPr wrap="square" lIns="0" tIns="0" rIns="0" bIns="0" rtlCol="0" anchor="t"/>
          <a:lstStyle/>
          <a:p>
            <a:pPr marL="0" indent="0">
              <a:buNone/>
            </a:pPr>
            <a:r>
              <a:rPr lang="en-US" sz="1400" b="1" dirty="0">
                <a:solidFill>
                  <a:srgbClr val="132030"/>
                </a:solidFill>
                <a:latin typeface="Arial" pitchFamily="34" charset="0"/>
                <a:ea typeface="Arial" pitchFamily="34" charset="-122"/>
                <a:cs typeface="Arial" pitchFamily="34" charset="-120"/>
              </a:rPr>
              <a:t>Bounded context</a:t>
            </a:r>
            <a:endParaRPr lang="en-US" sz="1400" dirty="0"/>
          </a:p>
        </p:txBody>
      </p:sp>
      <p:sp>
        <p:nvSpPr>
          <p:cNvPr id="18" name="Text 16"/>
          <p:cNvSpPr txBox="1"/>
          <p:nvPr/>
        </p:nvSpPr>
        <p:spPr>
          <a:xfrm>
            <a:off x="4626864" y="4572000"/>
            <a:ext cx="3127248" cy="914400"/>
          </a:xfrm>
          <a:prstGeom prst="rect">
            <a:avLst/>
          </a:prstGeom>
          <a:noFill/>
          <a:ln/>
        </p:spPr>
        <p:txBody>
          <a:bodyPr wrap="square" lIns="0" tIns="0" rIns="0" bIns="0" rtlCol="0" anchor="t"/>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Capped lists, aggregation in SQL, 6,000-character truncation, 4 rounds.</a:t>
            </a:r>
            <a:endParaRPr lang="en-US" sz="1250" dirty="0"/>
          </a:p>
        </p:txBody>
      </p:sp>
      <p:sp>
        <p:nvSpPr>
          <p:cNvPr id="19" name="Shape 17"/>
          <p:cNvSpPr/>
          <p:nvPr/>
        </p:nvSpPr>
        <p:spPr>
          <a:xfrm>
            <a:off x="8156448" y="3703320"/>
            <a:ext cx="3566160" cy="1920240"/>
          </a:xfrm>
          <a:prstGeom prst="roundRect">
            <a:avLst>
              <a:gd name="adj" fmla="val 2857"/>
            </a:avLst>
          </a:prstGeom>
          <a:solidFill>
            <a:srgbClr val="EEF2F6"/>
          </a:solidFill>
          <a:ln w="12700">
            <a:solidFill>
              <a:srgbClr val="D6DEE6"/>
            </a:solidFill>
            <a:prstDash val="solid"/>
          </a:ln>
        </p:spPr>
        <p:txBody>
          <a:bodyPr/>
          <a:lstStyle/>
          <a:p>
            <a:endParaRPr lang="en-TR"/>
          </a:p>
        </p:txBody>
      </p:sp>
      <p:sp>
        <p:nvSpPr>
          <p:cNvPr id="20" name="Text 18"/>
          <p:cNvSpPr txBox="1"/>
          <p:nvPr/>
        </p:nvSpPr>
        <p:spPr>
          <a:xfrm>
            <a:off x="8385048" y="3931920"/>
            <a:ext cx="3108960" cy="594360"/>
          </a:xfrm>
          <a:prstGeom prst="rect">
            <a:avLst/>
          </a:prstGeom>
          <a:noFill/>
          <a:ln/>
        </p:spPr>
        <p:txBody>
          <a:bodyPr wrap="square" lIns="0" tIns="0" rIns="0" bIns="0" rtlCol="0" anchor="t"/>
          <a:lstStyle/>
          <a:p>
            <a:pPr marL="0" indent="0">
              <a:buNone/>
            </a:pPr>
            <a:r>
              <a:rPr lang="en-US" sz="1400" b="1" dirty="0">
                <a:solidFill>
                  <a:srgbClr val="132030"/>
                </a:solidFill>
                <a:latin typeface="Arial" pitchFamily="34" charset="0"/>
                <a:ea typeface="Arial" pitchFamily="34" charset="-122"/>
                <a:cs typeface="Arial" pitchFamily="34" charset="-120"/>
              </a:rPr>
              <a:t>No invention</a:t>
            </a:r>
            <a:endParaRPr lang="en-US" sz="1400" dirty="0"/>
          </a:p>
        </p:txBody>
      </p:sp>
      <p:sp>
        <p:nvSpPr>
          <p:cNvPr id="21" name="Text 19"/>
          <p:cNvSpPr txBox="1"/>
          <p:nvPr/>
        </p:nvSpPr>
        <p:spPr>
          <a:xfrm>
            <a:off x="8385048" y="4572000"/>
            <a:ext cx="3127248" cy="914400"/>
          </a:xfrm>
          <a:prstGeom prst="rect">
            <a:avLst/>
          </a:prstGeom>
          <a:noFill/>
          <a:ln/>
        </p:spPr>
        <p:txBody>
          <a:bodyPr wrap="square" lIns="0" tIns="0" rIns="0" bIns="0" rtlCol="0" anchor="t"/>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System prompts forbid inventing machines, numbers, codes or prices; answers cite manual pages.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030"/>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64008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Live demo</a:t>
            </a:r>
            <a:endParaRPr lang="en-US" sz="3400" dirty="0"/>
          </a:p>
        </p:txBody>
      </p:sp>
      <p:sp>
        <p:nvSpPr>
          <p:cNvPr id="3" name="Text 1"/>
          <p:cNvSpPr txBox="1"/>
          <p:nvPr/>
        </p:nvSpPr>
        <p:spPr>
          <a:xfrm>
            <a:off x="640080" y="1078992"/>
            <a:ext cx="10908792" cy="320040"/>
          </a:xfrm>
          <a:prstGeom prst="rect">
            <a:avLst/>
          </a:prstGeom>
          <a:noFill/>
          <a:ln/>
        </p:spPr>
        <p:txBody>
          <a:bodyPr wrap="square" lIns="0" tIns="0" rIns="0" bIns="0" rtlCol="0" anchor="ctr"/>
          <a:lstStyle/>
          <a:p>
            <a:pPr marL="0" indent="0">
              <a:buNone/>
            </a:pPr>
            <a:r>
              <a:rPr lang="en-US" sz="1400" dirty="0">
                <a:solidFill>
                  <a:srgbClr val="9FB0BF"/>
                </a:solidFill>
                <a:latin typeface="Calibri" pitchFamily="34" charset="0"/>
                <a:ea typeface="Calibri" pitchFamily="34" charset="-122"/>
                <a:cs typeface="Calibri" pitchFamily="34" charset="-120"/>
              </a:rPr>
              <a:t>Machine MCH-0001, serial 15610, reached by scanning its QR code.</a:t>
            </a:r>
            <a:endParaRPr lang="en-US" sz="1400" dirty="0"/>
          </a:p>
        </p:txBody>
      </p:sp>
      <p:sp>
        <p:nvSpPr>
          <p:cNvPr id="4" name="Shape 2"/>
          <p:cNvSpPr/>
          <p:nvPr/>
        </p:nvSpPr>
        <p:spPr>
          <a:xfrm>
            <a:off x="640080" y="1572768"/>
            <a:ext cx="347472" cy="347472"/>
          </a:xfrm>
          <a:prstGeom prst="ellipse">
            <a:avLst/>
          </a:prstGeom>
          <a:solidFill>
            <a:srgbClr val="1F6FB2"/>
          </a:solidFill>
          <a:ln w="12700">
            <a:solidFill>
              <a:srgbClr val="1F6FB2"/>
            </a:solidFill>
            <a:prstDash val="solid"/>
          </a:ln>
        </p:spPr>
        <p:txBody>
          <a:bodyPr/>
          <a:lstStyle/>
          <a:p>
            <a:endParaRPr lang="en-TR"/>
          </a:p>
        </p:txBody>
      </p:sp>
      <p:sp>
        <p:nvSpPr>
          <p:cNvPr id="5" name="Text 3"/>
          <p:cNvSpPr txBox="1"/>
          <p:nvPr/>
        </p:nvSpPr>
        <p:spPr>
          <a:xfrm>
            <a:off x="640080" y="157276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188720" y="1554480"/>
            <a:ext cx="6766560" cy="38404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Which safety procedures must I follow before maintenance?</a:t>
            </a:r>
            <a:endParaRPr lang="en-US" sz="1350" dirty="0"/>
          </a:p>
        </p:txBody>
      </p:sp>
      <p:sp>
        <p:nvSpPr>
          <p:cNvPr id="7" name="Text 5"/>
          <p:cNvSpPr txBox="1"/>
          <p:nvPr/>
        </p:nvSpPr>
        <p:spPr>
          <a:xfrm>
            <a:off x="1188720" y="1901952"/>
            <a:ext cx="6766560" cy="274320"/>
          </a:xfrm>
          <a:prstGeom prst="rect">
            <a:avLst/>
          </a:prstGeom>
          <a:noFill/>
          <a:ln/>
        </p:spPr>
        <p:txBody>
          <a:bodyPr wrap="square" lIns="0" tIns="0" rIns="0" bIns="0" rtlCol="0" anchor="ctr"/>
          <a:lstStyle/>
          <a:p>
            <a:pPr marL="0" indent="0">
              <a:buNone/>
            </a:pPr>
            <a:r>
              <a:rPr lang="en-US" sz="1150" dirty="0">
                <a:solidFill>
                  <a:srgbClr val="9FB0BF"/>
                </a:solidFill>
                <a:latin typeface="Calibri" pitchFamily="34" charset="0"/>
                <a:ea typeface="Calibri" pitchFamily="34" charset="-122"/>
                <a:cs typeface="Calibri" pitchFamily="34" charset="-120"/>
              </a:rPr>
              <a:t>Bonetti · technician  ·  manual retrieval with page citations</a:t>
            </a:r>
            <a:endParaRPr lang="en-US" sz="1150" dirty="0"/>
          </a:p>
        </p:txBody>
      </p:sp>
      <p:sp>
        <p:nvSpPr>
          <p:cNvPr id="8" name="Shape 6"/>
          <p:cNvSpPr/>
          <p:nvPr/>
        </p:nvSpPr>
        <p:spPr>
          <a:xfrm>
            <a:off x="640080" y="2322576"/>
            <a:ext cx="347472" cy="347472"/>
          </a:xfrm>
          <a:prstGeom prst="ellipse">
            <a:avLst/>
          </a:prstGeom>
          <a:solidFill>
            <a:srgbClr val="E09A2B"/>
          </a:solidFill>
          <a:ln w="12700">
            <a:solidFill>
              <a:srgbClr val="E09A2B"/>
            </a:solidFill>
            <a:prstDash val="solid"/>
          </a:ln>
        </p:spPr>
        <p:txBody>
          <a:bodyPr/>
          <a:lstStyle/>
          <a:p>
            <a:endParaRPr lang="en-TR"/>
          </a:p>
        </p:txBody>
      </p:sp>
      <p:sp>
        <p:nvSpPr>
          <p:cNvPr id="9" name="Text 7"/>
          <p:cNvSpPr txBox="1"/>
          <p:nvPr/>
        </p:nvSpPr>
        <p:spPr>
          <a:xfrm>
            <a:off x="640080" y="2322576"/>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188720" y="2304288"/>
            <a:ext cx="6766560" cy="38404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Why is this machine generating repeated alarms?</a:t>
            </a:r>
            <a:endParaRPr lang="en-US" sz="1350" dirty="0"/>
          </a:p>
        </p:txBody>
      </p:sp>
      <p:sp>
        <p:nvSpPr>
          <p:cNvPr id="11" name="Text 9"/>
          <p:cNvSpPr txBox="1"/>
          <p:nvPr/>
        </p:nvSpPr>
        <p:spPr>
          <a:xfrm>
            <a:off x="1188720" y="2651760"/>
            <a:ext cx="6766560" cy="274320"/>
          </a:xfrm>
          <a:prstGeom prst="rect">
            <a:avLst/>
          </a:prstGeom>
          <a:noFill/>
          <a:ln/>
        </p:spPr>
        <p:txBody>
          <a:bodyPr wrap="square" lIns="0" tIns="0" rIns="0" bIns="0" rtlCol="0" anchor="ctr"/>
          <a:lstStyle/>
          <a:p>
            <a:pPr marL="0" indent="0">
              <a:buNone/>
            </a:pPr>
            <a:r>
              <a:rPr lang="en-US" sz="1150" dirty="0">
                <a:solidFill>
                  <a:srgbClr val="9FB0BF"/>
                </a:solidFill>
                <a:latin typeface="Calibri" pitchFamily="34" charset="0"/>
                <a:ea typeface="Calibri" pitchFamily="34" charset="-122"/>
                <a:cs typeface="Calibri" pitchFamily="34" charset="-120"/>
              </a:rPr>
              <a:t>Bonetti · technician  ·  the machine's alarms of the last 30 days, grouped by code</a:t>
            </a:r>
            <a:endParaRPr lang="en-US" sz="1150" dirty="0"/>
          </a:p>
        </p:txBody>
      </p:sp>
      <p:sp>
        <p:nvSpPr>
          <p:cNvPr id="12" name="Shape 10"/>
          <p:cNvSpPr/>
          <p:nvPr/>
        </p:nvSpPr>
        <p:spPr>
          <a:xfrm>
            <a:off x="640080" y="3072384"/>
            <a:ext cx="347472" cy="347472"/>
          </a:xfrm>
          <a:prstGeom prst="ellipse">
            <a:avLst/>
          </a:prstGeom>
          <a:solidFill>
            <a:srgbClr val="E09A2B"/>
          </a:solidFill>
          <a:ln w="12700">
            <a:solidFill>
              <a:srgbClr val="E09A2B"/>
            </a:solidFill>
            <a:prstDash val="solid"/>
          </a:ln>
        </p:spPr>
        <p:txBody>
          <a:bodyPr/>
          <a:lstStyle/>
          <a:p>
            <a:endParaRPr lang="en-TR"/>
          </a:p>
        </p:txBody>
      </p:sp>
      <p:sp>
        <p:nvSpPr>
          <p:cNvPr id="13" name="Text 11"/>
          <p:cNvSpPr txBox="1"/>
          <p:nvPr/>
        </p:nvSpPr>
        <p:spPr>
          <a:xfrm>
            <a:off x="640080" y="3072384"/>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188720" y="3054096"/>
            <a:ext cx="6766560" cy="38404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What does AL017_LOW_AIR_PRESSURE mean and what does the manual recommend?</a:t>
            </a:r>
            <a:endParaRPr lang="en-US" sz="1350" dirty="0"/>
          </a:p>
        </p:txBody>
      </p:sp>
      <p:sp>
        <p:nvSpPr>
          <p:cNvPr id="15" name="Text 13"/>
          <p:cNvSpPr txBox="1"/>
          <p:nvPr/>
        </p:nvSpPr>
        <p:spPr>
          <a:xfrm>
            <a:off x="1188720" y="3401568"/>
            <a:ext cx="6766560" cy="274320"/>
          </a:xfrm>
          <a:prstGeom prst="rect">
            <a:avLst/>
          </a:prstGeom>
          <a:noFill/>
          <a:ln/>
        </p:spPr>
        <p:txBody>
          <a:bodyPr wrap="square" lIns="0" tIns="0" rIns="0" bIns="0" rtlCol="0" anchor="ctr"/>
          <a:lstStyle/>
          <a:p>
            <a:pPr marL="0" indent="0">
              <a:buNone/>
            </a:pPr>
            <a:r>
              <a:rPr lang="en-US" sz="1150" dirty="0">
                <a:solidFill>
                  <a:srgbClr val="9FB0BF"/>
                </a:solidFill>
                <a:latin typeface="Calibri" pitchFamily="34" charset="0"/>
                <a:ea typeface="Calibri" pitchFamily="34" charset="-122"/>
                <a:cs typeface="Calibri" pitchFamily="34" charset="-120"/>
              </a:rPr>
              <a:t>Bonetti · technician  ·  database + manual in one answer</a:t>
            </a:r>
            <a:endParaRPr lang="en-US" sz="1150" dirty="0"/>
          </a:p>
        </p:txBody>
      </p:sp>
      <p:sp>
        <p:nvSpPr>
          <p:cNvPr id="16" name="Shape 14"/>
          <p:cNvSpPr/>
          <p:nvPr/>
        </p:nvSpPr>
        <p:spPr>
          <a:xfrm>
            <a:off x="640080" y="3822192"/>
            <a:ext cx="347472" cy="347472"/>
          </a:xfrm>
          <a:prstGeom prst="ellipse">
            <a:avLst/>
          </a:prstGeom>
          <a:solidFill>
            <a:srgbClr val="B3382C"/>
          </a:solidFill>
          <a:ln w="12700">
            <a:solidFill>
              <a:srgbClr val="B3382C"/>
            </a:solidFill>
            <a:prstDash val="solid"/>
          </a:ln>
        </p:spPr>
        <p:txBody>
          <a:bodyPr/>
          <a:lstStyle/>
          <a:p>
            <a:endParaRPr lang="en-TR"/>
          </a:p>
        </p:txBody>
      </p:sp>
      <p:sp>
        <p:nvSpPr>
          <p:cNvPr id="17" name="Text 15"/>
          <p:cNvSpPr txBox="1"/>
          <p:nvPr/>
        </p:nvSpPr>
        <p:spPr>
          <a:xfrm>
            <a:off x="640080" y="3822192"/>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1188720" y="3803904"/>
            <a:ext cx="6766560" cy="38404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How much did this machine cost?</a:t>
            </a:r>
            <a:endParaRPr lang="en-US" sz="1350" dirty="0"/>
          </a:p>
        </p:txBody>
      </p:sp>
      <p:sp>
        <p:nvSpPr>
          <p:cNvPr id="19" name="Text 17"/>
          <p:cNvSpPr txBox="1"/>
          <p:nvPr/>
        </p:nvSpPr>
        <p:spPr>
          <a:xfrm>
            <a:off x="1188720" y="4151376"/>
            <a:ext cx="6766560" cy="274320"/>
          </a:xfrm>
          <a:prstGeom prst="rect">
            <a:avLst/>
          </a:prstGeom>
          <a:noFill/>
          <a:ln/>
        </p:spPr>
        <p:txBody>
          <a:bodyPr wrap="square" lIns="0" tIns="0" rIns="0" bIns="0" rtlCol="0" anchor="ctr"/>
          <a:lstStyle/>
          <a:p>
            <a:pPr marL="0" indent="0">
              <a:buNone/>
            </a:pPr>
            <a:r>
              <a:rPr lang="en-US" sz="1150" dirty="0">
                <a:solidFill>
                  <a:srgbClr val="9FB0BF"/>
                </a:solidFill>
                <a:latin typeface="Calibri" pitchFamily="34" charset="0"/>
                <a:ea typeface="Calibri" pitchFamily="34" charset="-122"/>
                <a:cs typeface="Calibri" pitchFamily="34" charset="-120"/>
              </a:rPr>
              <a:t>Bonetti · technician  ·  refused: technician has no commercial visibility</a:t>
            </a:r>
            <a:endParaRPr lang="en-US" sz="1150" dirty="0"/>
          </a:p>
        </p:txBody>
      </p:sp>
      <p:sp>
        <p:nvSpPr>
          <p:cNvPr id="20" name="Shape 18"/>
          <p:cNvSpPr/>
          <p:nvPr/>
        </p:nvSpPr>
        <p:spPr>
          <a:xfrm>
            <a:off x="640080" y="4572000"/>
            <a:ext cx="347472" cy="347472"/>
          </a:xfrm>
          <a:prstGeom prst="ellipse">
            <a:avLst/>
          </a:prstGeom>
          <a:solidFill>
            <a:srgbClr val="2E7D5B"/>
          </a:solidFill>
          <a:ln w="12700">
            <a:solidFill>
              <a:srgbClr val="2E7D5B"/>
            </a:solidFill>
            <a:prstDash val="solid"/>
          </a:ln>
        </p:spPr>
        <p:txBody>
          <a:bodyPr/>
          <a:lstStyle/>
          <a:p>
            <a:endParaRPr lang="en-TR"/>
          </a:p>
        </p:txBody>
      </p:sp>
      <p:sp>
        <p:nvSpPr>
          <p:cNvPr id="21" name="Text 19"/>
          <p:cNvSpPr txBox="1"/>
          <p:nvPr/>
        </p:nvSpPr>
        <p:spPr>
          <a:xfrm>
            <a:off x="640080" y="457200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2" name="Text 20"/>
          <p:cNvSpPr txBox="1"/>
          <p:nvPr/>
        </p:nvSpPr>
        <p:spPr>
          <a:xfrm>
            <a:off x="1188720" y="4553712"/>
            <a:ext cx="6766560" cy="38404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How much did order ORD-2025-0001 cost?</a:t>
            </a:r>
            <a:endParaRPr lang="en-US" sz="1350" dirty="0"/>
          </a:p>
        </p:txBody>
      </p:sp>
      <p:sp>
        <p:nvSpPr>
          <p:cNvPr id="23" name="Text 21"/>
          <p:cNvSpPr txBox="1"/>
          <p:nvPr/>
        </p:nvSpPr>
        <p:spPr>
          <a:xfrm>
            <a:off x="1188720" y="4901184"/>
            <a:ext cx="6766560" cy="274320"/>
          </a:xfrm>
          <a:prstGeom prst="rect">
            <a:avLst/>
          </a:prstGeom>
          <a:noFill/>
          <a:ln/>
        </p:spPr>
        <p:txBody>
          <a:bodyPr wrap="square" lIns="0" tIns="0" rIns="0" bIns="0" rtlCol="0" anchor="ctr"/>
          <a:lstStyle/>
          <a:p>
            <a:pPr marL="0" indent="0">
              <a:buNone/>
            </a:pPr>
            <a:r>
              <a:rPr lang="en-US" sz="1150" dirty="0">
                <a:solidFill>
                  <a:srgbClr val="9FB0BF"/>
                </a:solidFill>
                <a:latin typeface="Calibri" pitchFamily="34" charset="0"/>
                <a:ea typeface="Calibri" pitchFamily="34" charset="-122"/>
                <a:cs typeface="Calibri" pitchFamily="34" charset="-120"/>
              </a:rPr>
              <a:t>Ranieri · commercial  ·  answered: EUR 45,837.50 from the approved revision</a:t>
            </a:r>
            <a:endParaRPr lang="en-US" sz="1150" dirty="0"/>
          </a:p>
        </p:txBody>
      </p:sp>
      <p:sp>
        <p:nvSpPr>
          <p:cNvPr id="24" name="Shape 22"/>
          <p:cNvSpPr/>
          <p:nvPr/>
        </p:nvSpPr>
        <p:spPr>
          <a:xfrm>
            <a:off x="640080" y="5321808"/>
            <a:ext cx="347472" cy="347472"/>
          </a:xfrm>
          <a:prstGeom prst="ellipse">
            <a:avLst/>
          </a:prstGeom>
          <a:solidFill>
            <a:srgbClr val="B3382C"/>
          </a:solidFill>
          <a:ln w="12700">
            <a:solidFill>
              <a:srgbClr val="B3382C"/>
            </a:solidFill>
            <a:prstDash val="solid"/>
          </a:ln>
        </p:spPr>
        <p:txBody>
          <a:bodyPr/>
          <a:lstStyle/>
          <a:p>
            <a:endParaRPr lang="en-TR"/>
          </a:p>
        </p:txBody>
      </p:sp>
      <p:sp>
        <p:nvSpPr>
          <p:cNvPr id="25" name="Text 23"/>
          <p:cNvSpPr txBox="1"/>
          <p:nvPr/>
        </p:nvSpPr>
        <p:spPr>
          <a:xfrm>
            <a:off x="640080" y="532180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6" name="Text 24"/>
          <p:cNvSpPr txBox="1"/>
          <p:nvPr/>
        </p:nvSpPr>
        <p:spPr>
          <a:xfrm>
            <a:off x="1188720" y="5303520"/>
            <a:ext cx="6766560" cy="38404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Are there any open alarms on machine 15610?</a:t>
            </a:r>
            <a:endParaRPr lang="en-US" sz="1350" dirty="0"/>
          </a:p>
        </p:txBody>
      </p:sp>
      <p:sp>
        <p:nvSpPr>
          <p:cNvPr id="27" name="Text 25"/>
          <p:cNvSpPr txBox="1"/>
          <p:nvPr/>
        </p:nvSpPr>
        <p:spPr>
          <a:xfrm>
            <a:off x="1188720" y="5650992"/>
            <a:ext cx="6766560" cy="274320"/>
          </a:xfrm>
          <a:prstGeom prst="rect">
            <a:avLst/>
          </a:prstGeom>
          <a:noFill/>
          <a:ln/>
        </p:spPr>
        <p:txBody>
          <a:bodyPr wrap="square" lIns="0" tIns="0" rIns="0" bIns="0" rtlCol="0" anchor="ctr"/>
          <a:lstStyle/>
          <a:p>
            <a:pPr marL="0" indent="0">
              <a:buNone/>
            </a:pPr>
            <a:r>
              <a:rPr lang="en-US" sz="1150" dirty="0">
                <a:solidFill>
                  <a:srgbClr val="9FB0BF"/>
                </a:solidFill>
                <a:latin typeface="Calibri" pitchFamily="34" charset="0"/>
                <a:ea typeface="Calibri" pitchFamily="34" charset="-122"/>
                <a:cs typeface="Calibri" pitchFamily="34" charset="-120"/>
              </a:rPr>
              <a:t>Ranieri · commercial  ·  refused: commercial has no operational visibility</a:t>
            </a:r>
            <a:endParaRPr lang="en-US" sz="1150" dirty="0"/>
          </a:p>
        </p:txBody>
      </p:sp>
      <p:sp>
        <p:nvSpPr>
          <p:cNvPr id="28" name="Shape 26"/>
          <p:cNvSpPr/>
          <p:nvPr/>
        </p:nvSpPr>
        <p:spPr>
          <a:xfrm>
            <a:off x="8321040" y="1572768"/>
            <a:ext cx="3227832" cy="2194560"/>
          </a:xfrm>
          <a:prstGeom prst="roundRect">
            <a:avLst>
              <a:gd name="adj" fmla="val 2500"/>
            </a:avLst>
          </a:prstGeom>
          <a:solidFill>
            <a:srgbClr val="1D3145"/>
          </a:solidFill>
          <a:ln w="12700">
            <a:solidFill>
              <a:srgbClr val="D6DEE6"/>
            </a:solidFill>
            <a:prstDash val="solid"/>
          </a:ln>
        </p:spPr>
        <p:txBody>
          <a:bodyPr/>
          <a:lstStyle/>
          <a:p>
            <a:endParaRPr lang="en-TR"/>
          </a:p>
        </p:txBody>
      </p:sp>
      <p:sp>
        <p:nvSpPr>
          <p:cNvPr id="29" name="Text 27"/>
          <p:cNvSpPr txBox="1"/>
          <p:nvPr/>
        </p:nvSpPr>
        <p:spPr>
          <a:xfrm>
            <a:off x="8549640" y="1783080"/>
            <a:ext cx="2743200" cy="274320"/>
          </a:xfrm>
          <a:prstGeom prst="rect">
            <a:avLst/>
          </a:prstGeom>
          <a:noFill/>
          <a:ln/>
        </p:spPr>
        <p:txBody>
          <a:bodyPr wrap="square" lIns="0" tIns="0" rIns="0" bIns="0" rtlCol="0" anchor="t"/>
          <a:lstStyle/>
          <a:p>
            <a:pPr marL="0" indent="0">
              <a:buNone/>
            </a:pPr>
            <a:r>
              <a:rPr lang="en-US" sz="1400" b="1" dirty="0">
                <a:solidFill>
                  <a:srgbClr val="FFFFFF"/>
                </a:solidFill>
                <a:latin typeface="Arial" pitchFamily="34" charset="0"/>
                <a:ea typeface="Arial" pitchFamily="34" charset="-122"/>
                <a:cs typeface="Arial" pitchFamily="34" charset="-120"/>
              </a:rPr>
              <a:t>Questions 4, 5 and 6</a:t>
            </a:r>
            <a:endParaRPr lang="en-US" sz="1400" dirty="0"/>
          </a:p>
        </p:txBody>
      </p:sp>
      <p:sp>
        <p:nvSpPr>
          <p:cNvPr id="30" name="Text 28"/>
          <p:cNvSpPr txBox="1"/>
          <p:nvPr/>
        </p:nvSpPr>
        <p:spPr>
          <a:xfrm>
            <a:off x="8549640" y="2103120"/>
            <a:ext cx="2788920" cy="1463040"/>
          </a:xfrm>
          <a:prstGeom prst="rect">
            <a:avLst/>
          </a:prstGeom>
          <a:noFill/>
          <a:ln/>
        </p:spPr>
        <p:txBody>
          <a:bodyPr wrap="square" lIns="0" tIns="0" rIns="0" bIns="0" rtlCol="0" anchor="ctr"/>
          <a:lstStyle/>
          <a:p>
            <a:pPr marL="0" indent="0">
              <a:lnSpc>
                <a:spcPts val="1700"/>
              </a:lnSpc>
              <a:buNone/>
            </a:pPr>
            <a:r>
              <a:rPr lang="en-US" sz="1250" dirty="0">
                <a:solidFill>
                  <a:srgbClr val="C7D2DC"/>
                </a:solidFill>
                <a:latin typeface="Calibri" pitchFamily="34" charset="0"/>
                <a:ea typeface="Calibri" pitchFamily="34" charset="-122"/>
                <a:cs typeface="Calibri" pitchFamily="34" charset="-120"/>
              </a:rPr>
              <a:t>Same platform, same machine, same class of question, and the answer changes with who is asking. The access model does this, not a filter on the output.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566928"/>
          </a:xfrm>
          <a:prstGeom prst="rect">
            <a:avLst/>
          </a:prstGeom>
          <a:noFill/>
          <a:ln/>
        </p:spPr>
        <p:txBody>
          <a:bodyPr wrap="square" lIns="0" tIns="0" rIns="0" bIns="0" rtlCol="0" anchor="t"/>
          <a:lstStyle/>
          <a:p>
            <a:pPr marL="0" indent="0">
              <a:buNone/>
            </a:pPr>
            <a:r>
              <a:rPr lang="en-US" sz="3200" b="1" dirty="0">
                <a:solidFill>
                  <a:srgbClr val="132030"/>
                </a:solidFill>
                <a:latin typeface="Arial" pitchFamily="34" charset="0"/>
                <a:ea typeface="Arial" pitchFamily="34" charset="-122"/>
                <a:cs typeface="Arial" pitchFamily="34" charset="-120"/>
              </a:rPr>
              <a:t>Evaluation: 14 questions with a ground truth</a:t>
            </a:r>
            <a:endParaRPr lang="en-US" sz="3200" dirty="0"/>
          </a:p>
        </p:txBody>
      </p:sp>
      <p:sp>
        <p:nvSpPr>
          <p:cNvPr id="3" name="Text 1"/>
          <p:cNvSpPr txBox="1"/>
          <p:nvPr/>
        </p:nvSpPr>
        <p:spPr>
          <a:xfrm>
            <a:off x="640080" y="969264"/>
            <a:ext cx="10908792" cy="310896"/>
          </a:xfrm>
          <a:prstGeom prst="rect">
            <a:avLst/>
          </a:prstGeom>
          <a:noFill/>
          <a:ln/>
        </p:spPr>
        <p:txBody>
          <a:bodyPr wrap="square" lIns="0" tIns="0" rIns="0" bIns="0" rtlCol="0" anchor="t"/>
          <a:lstStyle/>
          <a:p>
            <a:pPr marL="0" indent="0">
              <a:buNone/>
            </a:pPr>
            <a:r>
              <a:rPr lang="en-US" sz="1400" dirty="0">
                <a:solidFill>
                  <a:srgbClr val="4A5A69"/>
                </a:solidFill>
                <a:latin typeface="Calibri" pitchFamily="34" charset="0"/>
                <a:ea typeface="Calibri" pitchFamily="34" charset="-122"/>
                <a:cs typeface="Calibri" pitchFamily="34" charset="-120"/>
              </a:rPr>
              <a:t>Every question has an answer we checked by hand in the dataset, and four accounts ask them.</a:t>
            </a:r>
            <a:endParaRPr lang="en-US" sz="1400" dirty="0"/>
          </a:p>
        </p:txBody>
      </p:sp>
      <p:sp>
        <p:nvSpPr>
          <p:cNvPr id="4" name="Shape 2"/>
          <p:cNvSpPr/>
          <p:nvPr/>
        </p:nvSpPr>
        <p:spPr>
          <a:xfrm>
            <a:off x="640080" y="1508760"/>
            <a:ext cx="2606040" cy="960120"/>
          </a:xfrm>
          <a:prstGeom prst="roundRect">
            <a:avLst>
              <a:gd name="adj" fmla="val 5714"/>
            </a:avLst>
          </a:prstGeom>
          <a:solidFill>
            <a:srgbClr val="EEF2F6"/>
          </a:solidFill>
          <a:ln w="12700">
            <a:solidFill>
              <a:srgbClr val="D6DEE6"/>
            </a:solidFill>
            <a:prstDash val="solid"/>
          </a:ln>
        </p:spPr>
        <p:txBody>
          <a:bodyPr/>
          <a:lstStyle/>
          <a:p>
            <a:endParaRPr lang="en-TR"/>
          </a:p>
        </p:txBody>
      </p:sp>
      <p:sp>
        <p:nvSpPr>
          <p:cNvPr id="5" name="Text 3"/>
          <p:cNvSpPr txBox="1"/>
          <p:nvPr/>
        </p:nvSpPr>
        <p:spPr>
          <a:xfrm>
            <a:off x="822960" y="1627632"/>
            <a:ext cx="2240280" cy="411480"/>
          </a:xfrm>
          <a:prstGeom prst="rect">
            <a:avLst/>
          </a:prstGeom>
          <a:noFill/>
          <a:ln/>
        </p:spPr>
        <p:txBody>
          <a:bodyPr wrap="square" lIns="0" tIns="0" rIns="0" bIns="0" rtlCol="0" anchor="ctr"/>
          <a:lstStyle/>
          <a:p>
            <a:pPr marL="0" indent="0">
              <a:buNone/>
            </a:pPr>
            <a:r>
              <a:rPr lang="en-US" sz="2200" b="1" dirty="0">
                <a:solidFill>
                  <a:srgbClr val="E09A2B"/>
                </a:solidFill>
                <a:latin typeface="Arial" pitchFamily="34" charset="0"/>
                <a:ea typeface="Arial" pitchFamily="34" charset="-122"/>
                <a:cs typeface="Arial" pitchFamily="34" charset="-120"/>
              </a:rPr>
              <a:t>14 / 14</a:t>
            </a:r>
            <a:endParaRPr lang="en-US" sz="2200" dirty="0"/>
          </a:p>
        </p:txBody>
      </p:sp>
      <p:sp>
        <p:nvSpPr>
          <p:cNvPr id="6" name="Text 4"/>
          <p:cNvSpPr txBox="1"/>
          <p:nvPr/>
        </p:nvSpPr>
        <p:spPr>
          <a:xfrm>
            <a:off x="822960" y="2048256"/>
            <a:ext cx="2240280" cy="274320"/>
          </a:xfrm>
          <a:prstGeom prst="rect">
            <a:avLst/>
          </a:prstGeom>
          <a:noFill/>
          <a:ln/>
        </p:spPr>
        <p:txBody>
          <a:bodyPr wrap="square" lIns="0" tIns="0" rIns="0" bIns="0" rtlCol="0" anchor="ctr"/>
          <a:lstStyle/>
          <a:p>
            <a:pPr marL="0" indent="0">
              <a:buNone/>
            </a:pPr>
            <a:r>
              <a:rPr lang="en-US" sz="1150" dirty="0">
                <a:solidFill>
                  <a:srgbClr val="4A5A69"/>
                </a:solidFill>
                <a:latin typeface="Calibri" pitchFamily="34" charset="0"/>
                <a:ea typeface="Calibri" pitchFamily="34" charset="-122"/>
                <a:cs typeface="Calibri" pitchFamily="34" charset="-120"/>
              </a:rPr>
              <a:t>answers correct</a:t>
            </a:r>
            <a:endParaRPr lang="en-US" sz="1150" dirty="0"/>
          </a:p>
        </p:txBody>
      </p:sp>
      <p:sp>
        <p:nvSpPr>
          <p:cNvPr id="7" name="Shape 5"/>
          <p:cNvSpPr/>
          <p:nvPr/>
        </p:nvSpPr>
        <p:spPr>
          <a:xfrm>
            <a:off x="3429000" y="1508760"/>
            <a:ext cx="2606040" cy="960120"/>
          </a:xfrm>
          <a:prstGeom prst="roundRect">
            <a:avLst>
              <a:gd name="adj" fmla="val 5714"/>
            </a:avLst>
          </a:prstGeom>
          <a:solidFill>
            <a:srgbClr val="EEF2F6"/>
          </a:solidFill>
          <a:ln w="12700">
            <a:solidFill>
              <a:srgbClr val="D6DEE6"/>
            </a:solidFill>
            <a:prstDash val="solid"/>
          </a:ln>
        </p:spPr>
        <p:txBody>
          <a:bodyPr/>
          <a:lstStyle/>
          <a:p>
            <a:endParaRPr lang="en-TR"/>
          </a:p>
        </p:txBody>
      </p:sp>
      <p:sp>
        <p:nvSpPr>
          <p:cNvPr id="8" name="Text 6"/>
          <p:cNvSpPr txBox="1"/>
          <p:nvPr/>
        </p:nvSpPr>
        <p:spPr>
          <a:xfrm>
            <a:off x="3611880" y="1627632"/>
            <a:ext cx="2240280" cy="411480"/>
          </a:xfrm>
          <a:prstGeom prst="rect">
            <a:avLst/>
          </a:prstGeom>
          <a:noFill/>
          <a:ln/>
        </p:spPr>
        <p:txBody>
          <a:bodyPr wrap="square" lIns="0" tIns="0" rIns="0" bIns="0" rtlCol="0" anchor="ctr"/>
          <a:lstStyle/>
          <a:p>
            <a:pPr marL="0" indent="0">
              <a:buNone/>
            </a:pPr>
            <a:r>
              <a:rPr lang="en-US" sz="2200" b="1" dirty="0">
                <a:solidFill>
                  <a:srgbClr val="E09A2B"/>
                </a:solidFill>
                <a:latin typeface="Arial" pitchFamily="34" charset="0"/>
                <a:ea typeface="Arial" pitchFamily="34" charset="-122"/>
                <a:cs typeface="Arial" pitchFamily="34" charset="-120"/>
              </a:rPr>
              <a:t>1.6 s</a:t>
            </a:r>
            <a:endParaRPr lang="en-US" sz="2200" dirty="0"/>
          </a:p>
        </p:txBody>
      </p:sp>
      <p:sp>
        <p:nvSpPr>
          <p:cNvPr id="9" name="Text 7"/>
          <p:cNvSpPr txBox="1"/>
          <p:nvPr/>
        </p:nvSpPr>
        <p:spPr>
          <a:xfrm>
            <a:off x="3611880" y="2048256"/>
            <a:ext cx="2240280" cy="274320"/>
          </a:xfrm>
          <a:prstGeom prst="rect">
            <a:avLst/>
          </a:prstGeom>
          <a:noFill/>
          <a:ln/>
        </p:spPr>
        <p:txBody>
          <a:bodyPr wrap="square" lIns="0" tIns="0" rIns="0" bIns="0" rtlCol="0" anchor="ctr"/>
          <a:lstStyle/>
          <a:p>
            <a:pPr marL="0" indent="0">
              <a:buNone/>
            </a:pPr>
            <a:r>
              <a:rPr lang="en-US" sz="1150" dirty="0">
                <a:solidFill>
                  <a:srgbClr val="4A5A69"/>
                </a:solidFill>
                <a:latin typeface="Calibri" pitchFamily="34" charset="0"/>
                <a:ea typeface="Calibri" pitchFamily="34" charset="-122"/>
                <a:cs typeface="Calibri" pitchFamily="34" charset="-120"/>
              </a:rPr>
              <a:t>average per answer</a:t>
            </a:r>
            <a:endParaRPr lang="en-US" sz="1150" dirty="0"/>
          </a:p>
        </p:txBody>
      </p:sp>
      <p:sp>
        <p:nvSpPr>
          <p:cNvPr id="10" name="Shape 8"/>
          <p:cNvSpPr/>
          <p:nvPr/>
        </p:nvSpPr>
        <p:spPr>
          <a:xfrm>
            <a:off x="6217920" y="1508760"/>
            <a:ext cx="2606040" cy="960120"/>
          </a:xfrm>
          <a:prstGeom prst="roundRect">
            <a:avLst>
              <a:gd name="adj" fmla="val 5714"/>
            </a:avLst>
          </a:prstGeom>
          <a:solidFill>
            <a:srgbClr val="EEF2F6"/>
          </a:solidFill>
          <a:ln w="12700">
            <a:solidFill>
              <a:srgbClr val="D6DEE6"/>
            </a:solidFill>
            <a:prstDash val="solid"/>
          </a:ln>
        </p:spPr>
        <p:txBody>
          <a:bodyPr/>
          <a:lstStyle/>
          <a:p>
            <a:endParaRPr lang="en-TR"/>
          </a:p>
        </p:txBody>
      </p:sp>
      <p:sp>
        <p:nvSpPr>
          <p:cNvPr id="11" name="Text 9"/>
          <p:cNvSpPr txBox="1"/>
          <p:nvPr/>
        </p:nvSpPr>
        <p:spPr>
          <a:xfrm>
            <a:off x="6400800" y="1627632"/>
            <a:ext cx="2240280" cy="411480"/>
          </a:xfrm>
          <a:prstGeom prst="rect">
            <a:avLst/>
          </a:prstGeom>
          <a:noFill/>
          <a:ln/>
        </p:spPr>
        <p:txBody>
          <a:bodyPr wrap="square" lIns="0" tIns="0" rIns="0" bIns="0" rtlCol="0" anchor="ctr"/>
          <a:lstStyle/>
          <a:p>
            <a:pPr marL="0" indent="0">
              <a:buNone/>
            </a:pPr>
            <a:r>
              <a:rPr lang="en-US" sz="2200" b="1" dirty="0">
                <a:solidFill>
                  <a:srgbClr val="E09A2B"/>
                </a:solidFill>
                <a:latin typeface="Arial" pitchFamily="34" charset="0"/>
                <a:ea typeface="Arial" pitchFamily="34" charset="-122"/>
                <a:cs typeface="Arial" pitchFamily="34" charset="-120"/>
              </a:rPr>
              <a:t>4</a:t>
            </a:r>
            <a:endParaRPr lang="en-US" sz="2200" dirty="0"/>
          </a:p>
        </p:txBody>
      </p:sp>
      <p:sp>
        <p:nvSpPr>
          <p:cNvPr id="12" name="Text 10"/>
          <p:cNvSpPr txBox="1"/>
          <p:nvPr/>
        </p:nvSpPr>
        <p:spPr>
          <a:xfrm>
            <a:off x="6400800" y="2048256"/>
            <a:ext cx="2240280" cy="274320"/>
          </a:xfrm>
          <a:prstGeom prst="rect">
            <a:avLst/>
          </a:prstGeom>
          <a:noFill/>
          <a:ln/>
        </p:spPr>
        <p:txBody>
          <a:bodyPr wrap="square" lIns="0" tIns="0" rIns="0" bIns="0" rtlCol="0" anchor="ctr"/>
          <a:lstStyle/>
          <a:p>
            <a:pPr marL="0" indent="0">
              <a:buNone/>
            </a:pPr>
            <a:r>
              <a:rPr lang="en-US" sz="1150" dirty="0">
                <a:solidFill>
                  <a:srgbClr val="4A5A69"/>
                </a:solidFill>
                <a:latin typeface="Calibri" pitchFamily="34" charset="0"/>
                <a:ea typeface="Calibri" pitchFamily="34" charset="-122"/>
                <a:cs typeface="Calibri" pitchFamily="34" charset="-120"/>
              </a:rPr>
              <a:t>accounts used</a:t>
            </a:r>
            <a:endParaRPr lang="en-US" sz="1150" dirty="0"/>
          </a:p>
        </p:txBody>
      </p:sp>
      <p:sp>
        <p:nvSpPr>
          <p:cNvPr id="13" name="Shape 11"/>
          <p:cNvSpPr/>
          <p:nvPr/>
        </p:nvSpPr>
        <p:spPr>
          <a:xfrm>
            <a:off x="9006840" y="1508760"/>
            <a:ext cx="2606040" cy="960120"/>
          </a:xfrm>
          <a:prstGeom prst="roundRect">
            <a:avLst>
              <a:gd name="adj" fmla="val 5714"/>
            </a:avLst>
          </a:prstGeom>
          <a:solidFill>
            <a:srgbClr val="EEF2F6"/>
          </a:solidFill>
          <a:ln w="12700">
            <a:solidFill>
              <a:srgbClr val="D6DEE6"/>
            </a:solidFill>
            <a:prstDash val="solid"/>
          </a:ln>
        </p:spPr>
        <p:txBody>
          <a:bodyPr/>
          <a:lstStyle/>
          <a:p>
            <a:endParaRPr lang="en-TR"/>
          </a:p>
        </p:txBody>
      </p:sp>
      <p:sp>
        <p:nvSpPr>
          <p:cNvPr id="14" name="Text 12"/>
          <p:cNvSpPr txBox="1"/>
          <p:nvPr/>
        </p:nvSpPr>
        <p:spPr>
          <a:xfrm>
            <a:off x="9189720" y="1627632"/>
            <a:ext cx="2240280" cy="411480"/>
          </a:xfrm>
          <a:prstGeom prst="rect">
            <a:avLst/>
          </a:prstGeom>
          <a:noFill/>
          <a:ln/>
        </p:spPr>
        <p:txBody>
          <a:bodyPr wrap="square" lIns="0" tIns="0" rIns="0" bIns="0" rtlCol="0" anchor="ctr"/>
          <a:lstStyle/>
          <a:p>
            <a:pPr marL="0" indent="0">
              <a:buNone/>
            </a:pPr>
            <a:r>
              <a:rPr lang="en-US" sz="2200" b="1" dirty="0">
                <a:solidFill>
                  <a:srgbClr val="E09A2B"/>
                </a:solidFill>
                <a:latin typeface="Arial" pitchFamily="34" charset="0"/>
                <a:ea typeface="Arial" pitchFamily="34" charset="-122"/>
                <a:cs typeface="Arial" pitchFamily="34" charset="-120"/>
              </a:rPr>
              <a:t>10 + 4</a:t>
            </a:r>
            <a:endParaRPr lang="en-US" sz="2200" dirty="0"/>
          </a:p>
        </p:txBody>
      </p:sp>
      <p:sp>
        <p:nvSpPr>
          <p:cNvPr id="15" name="Text 13"/>
          <p:cNvSpPr txBox="1"/>
          <p:nvPr/>
        </p:nvSpPr>
        <p:spPr>
          <a:xfrm>
            <a:off x="9189720" y="2048256"/>
            <a:ext cx="2240280" cy="274320"/>
          </a:xfrm>
          <a:prstGeom prst="rect">
            <a:avLst/>
          </a:prstGeom>
          <a:noFill/>
          <a:ln/>
        </p:spPr>
        <p:txBody>
          <a:bodyPr wrap="square" lIns="0" tIns="0" rIns="0" bIns="0" rtlCol="0" anchor="ctr"/>
          <a:lstStyle/>
          <a:p>
            <a:pPr marL="0" indent="0">
              <a:buNone/>
            </a:pPr>
            <a:r>
              <a:rPr lang="en-US" sz="1150" dirty="0">
                <a:solidFill>
                  <a:srgbClr val="4A5A69"/>
                </a:solidFill>
                <a:latin typeface="Calibri" pitchFamily="34" charset="0"/>
                <a:ea typeface="Calibri" pitchFamily="34" charset="-122"/>
                <a:cs typeface="Calibri" pitchFamily="34" charset="-120"/>
              </a:rPr>
              <a:t>functional + access</a:t>
            </a:r>
            <a:endParaRPr lang="en-US" sz="1150" dirty="0"/>
          </a:p>
        </p:txBody>
      </p:sp>
      <p:sp>
        <p:nvSpPr>
          <p:cNvPr id="16" name="Shape 14"/>
          <p:cNvSpPr/>
          <p:nvPr/>
        </p:nvSpPr>
        <p:spPr>
          <a:xfrm>
            <a:off x="640080" y="2697480"/>
            <a:ext cx="4663440" cy="566928"/>
          </a:xfrm>
          <a:prstGeom prst="rect">
            <a:avLst/>
          </a:prstGeom>
          <a:solidFill>
            <a:srgbClr val="132030"/>
          </a:solidFill>
          <a:ln w="12700">
            <a:solidFill>
              <a:srgbClr val="D6DEE6"/>
            </a:solidFill>
            <a:prstDash val="solid"/>
          </a:ln>
        </p:spPr>
        <p:txBody>
          <a:bodyPr/>
          <a:lstStyle/>
          <a:p>
            <a:endParaRPr lang="en-TR"/>
          </a:p>
        </p:txBody>
      </p:sp>
      <p:sp>
        <p:nvSpPr>
          <p:cNvPr id="17" name="Text 15"/>
          <p:cNvSpPr txBox="1"/>
          <p:nvPr/>
        </p:nvSpPr>
        <p:spPr>
          <a:xfrm>
            <a:off x="640080" y="2697480"/>
            <a:ext cx="4663440" cy="566928"/>
          </a:xfrm>
          <a:prstGeom prst="rect">
            <a:avLst/>
          </a:prstGeom>
          <a:noFill/>
          <a:ln/>
        </p:spPr>
        <p:txBody>
          <a:bodyPr wrap="square" lIns="1524" tIns="1524" rIns="1524" bIns="1524"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Question</a:t>
            </a:r>
            <a:endParaRPr lang="en-US" sz="1200" dirty="0"/>
          </a:p>
        </p:txBody>
      </p:sp>
      <p:sp>
        <p:nvSpPr>
          <p:cNvPr id="18" name="Shape 16"/>
          <p:cNvSpPr/>
          <p:nvPr/>
        </p:nvSpPr>
        <p:spPr>
          <a:xfrm>
            <a:off x="5303520" y="2697480"/>
            <a:ext cx="6245352" cy="566928"/>
          </a:xfrm>
          <a:prstGeom prst="rect">
            <a:avLst/>
          </a:prstGeom>
          <a:solidFill>
            <a:srgbClr val="132030"/>
          </a:solidFill>
          <a:ln w="12700">
            <a:solidFill>
              <a:srgbClr val="D6DEE6"/>
            </a:solidFill>
            <a:prstDash val="solid"/>
          </a:ln>
        </p:spPr>
        <p:txBody>
          <a:bodyPr/>
          <a:lstStyle/>
          <a:p>
            <a:endParaRPr lang="en-TR"/>
          </a:p>
        </p:txBody>
      </p:sp>
      <p:sp>
        <p:nvSpPr>
          <p:cNvPr id="19" name="Text 17"/>
          <p:cNvSpPr txBox="1"/>
          <p:nvPr/>
        </p:nvSpPr>
        <p:spPr>
          <a:xfrm>
            <a:off x="5303520" y="2697480"/>
            <a:ext cx="6245352" cy="566928"/>
          </a:xfrm>
          <a:prstGeom prst="rect">
            <a:avLst/>
          </a:prstGeom>
          <a:noFill/>
          <a:ln/>
        </p:spPr>
        <p:txBody>
          <a:bodyPr wrap="square" lIns="1524" tIns="1524" rIns="1524" bIns="1524"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Ground truth from the dataset</a:t>
            </a:r>
            <a:endParaRPr lang="en-US" sz="1200" dirty="0"/>
          </a:p>
        </p:txBody>
      </p:sp>
      <p:sp>
        <p:nvSpPr>
          <p:cNvPr id="20" name="Shape 18"/>
          <p:cNvSpPr/>
          <p:nvPr/>
        </p:nvSpPr>
        <p:spPr>
          <a:xfrm>
            <a:off x="640080" y="3264408"/>
            <a:ext cx="4663440" cy="566928"/>
          </a:xfrm>
          <a:prstGeom prst="rect">
            <a:avLst/>
          </a:prstGeom>
          <a:solidFill>
            <a:srgbClr val="FFFFFF"/>
          </a:solidFill>
          <a:ln w="12700">
            <a:solidFill>
              <a:srgbClr val="D6DEE6"/>
            </a:solidFill>
            <a:prstDash val="solid"/>
          </a:ln>
        </p:spPr>
        <p:txBody>
          <a:bodyPr/>
          <a:lstStyle/>
          <a:p>
            <a:endParaRPr lang="en-TR"/>
          </a:p>
        </p:txBody>
      </p:sp>
      <p:sp>
        <p:nvSpPr>
          <p:cNvPr id="21" name="Text 19"/>
          <p:cNvSpPr txBox="1"/>
          <p:nvPr/>
        </p:nvSpPr>
        <p:spPr>
          <a:xfrm>
            <a:off x="640080" y="3264408"/>
            <a:ext cx="4663440" cy="566928"/>
          </a:xfrm>
          <a:prstGeom prst="rect">
            <a:avLst/>
          </a:prstGeom>
          <a:noFill/>
          <a:ln/>
        </p:spPr>
        <p:txBody>
          <a:bodyPr wrap="square" lIns="1524" tIns="1524" rIns="1524" bIns="1524" rtlCol="0" anchor="ctr"/>
          <a:lstStyle/>
          <a:p>
            <a:pPr marL="0" indent="0">
              <a:buNone/>
            </a:pPr>
            <a:r>
              <a:rPr lang="en-US" sz="1250" dirty="0">
                <a:solidFill>
                  <a:srgbClr val="132030"/>
                </a:solidFill>
                <a:latin typeface="Calibri" pitchFamily="34" charset="0"/>
                <a:ea typeface="Calibri" pitchFamily="34" charset="-122"/>
                <a:cs typeface="Calibri" pitchFamily="34" charset="-120"/>
              </a:rPr>
              <a:t>How did this machine run last week?</a:t>
            </a:r>
            <a:endParaRPr lang="en-US" sz="1250" dirty="0"/>
          </a:p>
        </p:txBody>
      </p:sp>
      <p:sp>
        <p:nvSpPr>
          <p:cNvPr id="22" name="Shape 20"/>
          <p:cNvSpPr/>
          <p:nvPr/>
        </p:nvSpPr>
        <p:spPr>
          <a:xfrm>
            <a:off x="5303520" y="3264408"/>
            <a:ext cx="6245352" cy="566928"/>
          </a:xfrm>
          <a:prstGeom prst="rect">
            <a:avLst/>
          </a:prstGeom>
          <a:solidFill>
            <a:srgbClr val="FFFFFF"/>
          </a:solidFill>
          <a:ln w="12700">
            <a:solidFill>
              <a:srgbClr val="D6DEE6"/>
            </a:solidFill>
            <a:prstDash val="solid"/>
          </a:ln>
        </p:spPr>
        <p:txBody>
          <a:bodyPr/>
          <a:lstStyle/>
          <a:p>
            <a:endParaRPr lang="en-TR"/>
          </a:p>
        </p:txBody>
      </p:sp>
      <p:sp>
        <p:nvSpPr>
          <p:cNvPr id="23" name="Text 21"/>
          <p:cNvSpPr txBox="1"/>
          <p:nvPr/>
        </p:nvSpPr>
        <p:spPr>
          <a:xfrm>
            <a:off x="5303520" y="3264408"/>
            <a:ext cx="6245352" cy="566928"/>
          </a:xfrm>
          <a:prstGeom prst="rect">
            <a:avLst/>
          </a:prstGeom>
          <a:noFill/>
          <a:ln/>
        </p:spPr>
        <p:txBody>
          <a:bodyPr wrap="square" lIns="1524" tIns="1524" rIns="1524" bIns="1524" rtlCol="0" anchor="ctr"/>
          <a:lstStyle/>
          <a:p>
            <a:pPr marL="0" indent="0">
              <a:buNone/>
            </a:pPr>
            <a:r>
              <a:rPr lang="en-US" sz="1250" dirty="0">
                <a:solidFill>
                  <a:srgbClr val="132030"/>
                </a:solidFill>
                <a:latin typeface="Calibri" pitchFamily="34" charset="0"/>
                <a:ea typeface="Calibri" pitchFamily="34" charset="-122"/>
                <a:cs typeface="Calibri" pitchFamily="34" charset="-120"/>
              </a:rPr>
              <a:t>70.2% uptime, 34,393 bph against its own nominal 40,000 bph</a:t>
            </a:r>
            <a:endParaRPr lang="en-US" sz="1250" dirty="0"/>
          </a:p>
        </p:txBody>
      </p:sp>
      <p:sp>
        <p:nvSpPr>
          <p:cNvPr id="24" name="Shape 22"/>
          <p:cNvSpPr/>
          <p:nvPr/>
        </p:nvSpPr>
        <p:spPr>
          <a:xfrm>
            <a:off x="640080" y="3831336"/>
            <a:ext cx="4663440" cy="566928"/>
          </a:xfrm>
          <a:prstGeom prst="rect">
            <a:avLst/>
          </a:prstGeom>
          <a:solidFill>
            <a:srgbClr val="F7F9FB"/>
          </a:solidFill>
          <a:ln w="12700">
            <a:solidFill>
              <a:srgbClr val="D6DEE6"/>
            </a:solidFill>
            <a:prstDash val="solid"/>
          </a:ln>
        </p:spPr>
        <p:txBody>
          <a:bodyPr/>
          <a:lstStyle/>
          <a:p>
            <a:endParaRPr lang="en-TR"/>
          </a:p>
        </p:txBody>
      </p:sp>
      <p:sp>
        <p:nvSpPr>
          <p:cNvPr id="25" name="Text 23"/>
          <p:cNvSpPr txBox="1"/>
          <p:nvPr/>
        </p:nvSpPr>
        <p:spPr>
          <a:xfrm>
            <a:off x="640080" y="3831336"/>
            <a:ext cx="4663440" cy="566928"/>
          </a:xfrm>
          <a:prstGeom prst="rect">
            <a:avLst/>
          </a:prstGeom>
          <a:noFill/>
          <a:ln/>
        </p:spPr>
        <p:txBody>
          <a:bodyPr wrap="square" lIns="1524" tIns="1524" rIns="1524" bIns="1524" rtlCol="0" anchor="ctr"/>
          <a:lstStyle/>
          <a:p>
            <a:pPr marL="0" indent="0">
              <a:buNone/>
            </a:pPr>
            <a:r>
              <a:rPr lang="en-US" sz="1250" dirty="0">
                <a:solidFill>
                  <a:srgbClr val="132030"/>
                </a:solidFill>
                <a:latin typeface="Calibri" pitchFamily="34" charset="0"/>
                <a:ea typeface="Calibri" pitchFamily="34" charset="-122"/>
                <a:cs typeface="Calibri" pitchFamily="34" charset="-120"/>
              </a:rPr>
              <a:t>How much did order ORD-2025-0001 cost?</a:t>
            </a:r>
            <a:endParaRPr lang="en-US" sz="1250" dirty="0"/>
          </a:p>
        </p:txBody>
      </p:sp>
      <p:sp>
        <p:nvSpPr>
          <p:cNvPr id="26" name="Shape 24"/>
          <p:cNvSpPr/>
          <p:nvPr/>
        </p:nvSpPr>
        <p:spPr>
          <a:xfrm>
            <a:off x="5303520" y="3831336"/>
            <a:ext cx="6245352" cy="566928"/>
          </a:xfrm>
          <a:prstGeom prst="rect">
            <a:avLst/>
          </a:prstGeom>
          <a:solidFill>
            <a:srgbClr val="F7F9FB"/>
          </a:solidFill>
          <a:ln w="12700">
            <a:solidFill>
              <a:srgbClr val="D6DEE6"/>
            </a:solidFill>
            <a:prstDash val="solid"/>
          </a:ln>
        </p:spPr>
        <p:txBody>
          <a:bodyPr/>
          <a:lstStyle/>
          <a:p>
            <a:endParaRPr lang="en-TR"/>
          </a:p>
        </p:txBody>
      </p:sp>
      <p:sp>
        <p:nvSpPr>
          <p:cNvPr id="27" name="Text 25"/>
          <p:cNvSpPr txBox="1"/>
          <p:nvPr/>
        </p:nvSpPr>
        <p:spPr>
          <a:xfrm>
            <a:off x="5303520" y="3831336"/>
            <a:ext cx="6245352" cy="566928"/>
          </a:xfrm>
          <a:prstGeom prst="rect">
            <a:avLst/>
          </a:prstGeom>
          <a:noFill/>
          <a:ln/>
        </p:spPr>
        <p:txBody>
          <a:bodyPr wrap="square" lIns="1524" tIns="1524" rIns="1524" bIns="1524" rtlCol="0" anchor="ctr"/>
          <a:lstStyle/>
          <a:p>
            <a:pPr marL="0" indent="0">
              <a:buNone/>
            </a:pPr>
            <a:r>
              <a:rPr lang="en-US" sz="1250" dirty="0">
                <a:solidFill>
                  <a:srgbClr val="132030"/>
                </a:solidFill>
                <a:latin typeface="Calibri" pitchFamily="34" charset="0"/>
                <a:ea typeface="Calibri" pitchFamily="34" charset="-122"/>
                <a:cs typeface="Calibri" pitchFamily="34" charset="-120"/>
              </a:rPr>
              <a:t>EUR 45,837.50; the discount must not be applied twice</a:t>
            </a:r>
            <a:endParaRPr lang="en-US" sz="1250" dirty="0"/>
          </a:p>
        </p:txBody>
      </p:sp>
      <p:sp>
        <p:nvSpPr>
          <p:cNvPr id="28" name="Shape 26"/>
          <p:cNvSpPr/>
          <p:nvPr/>
        </p:nvSpPr>
        <p:spPr>
          <a:xfrm>
            <a:off x="640080" y="4398264"/>
            <a:ext cx="4663440" cy="566928"/>
          </a:xfrm>
          <a:prstGeom prst="rect">
            <a:avLst/>
          </a:prstGeom>
          <a:solidFill>
            <a:srgbClr val="FFFFFF"/>
          </a:solidFill>
          <a:ln w="12700">
            <a:solidFill>
              <a:srgbClr val="D6DEE6"/>
            </a:solidFill>
            <a:prstDash val="solid"/>
          </a:ln>
        </p:spPr>
        <p:txBody>
          <a:bodyPr/>
          <a:lstStyle/>
          <a:p>
            <a:endParaRPr lang="en-TR"/>
          </a:p>
        </p:txBody>
      </p:sp>
      <p:sp>
        <p:nvSpPr>
          <p:cNvPr id="29" name="Text 27"/>
          <p:cNvSpPr txBox="1"/>
          <p:nvPr/>
        </p:nvSpPr>
        <p:spPr>
          <a:xfrm>
            <a:off x="640080" y="4398264"/>
            <a:ext cx="4663440" cy="566928"/>
          </a:xfrm>
          <a:prstGeom prst="rect">
            <a:avLst/>
          </a:prstGeom>
          <a:noFill/>
          <a:ln/>
        </p:spPr>
        <p:txBody>
          <a:bodyPr wrap="square" lIns="1524" tIns="1524" rIns="1524" bIns="1524" rtlCol="0" anchor="ctr"/>
          <a:lstStyle/>
          <a:p>
            <a:pPr marL="0" indent="0">
              <a:buNone/>
            </a:pPr>
            <a:r>
              <a:rPr lang="en-US" sz="1250" dirty="0">
                <a:solidFill>
                  <a:srgbClr val="132030"/>
                </a:solidFill>
                <a:latin typeface="Calibri" pitchFamily="34" charset="0"/>
                <a:ea typeface="Calibri" pitchFamily="34" charset="-122"/>
                <a:cs typeface="Calibri" pitchFamily="34" charset="-120"/>
              </a:rPr>
              <a:t>Which quotations never became an order?</a:t>
            </a:r>
            <a:endParaRPr lang="en-US" sz="1250" dirty="0"/>
          </a:p>
        </p:txBody>
      </p:sp>
      <p:sp>
        <p:nvSpPr>
          <p:cNvPr id="30" name="Shape 28"/>
          <p:cNvSpPr/>
          <p:nvPr/>
        </p:nvSpPr>
        <p:spPr>
          <a:xfrm>
            <a:off x="5303520" y="4398264"/>
            <a:ext cx="6245352" cy="566928"/>
          </a:xfrm>
          <a:prstGeom prst="rect">
            <a:avLst/>
          </a:prstGeom>
          <a:solidFill>
            <a:srgbClr val="FFFFFF"/>
          </a:solidFill>
          <a:ln w="12700">
            <a:solidFill>
              <a:srgbClr val="D6DEE6"/>
            </a:solidFill>
            <a:prstDash val="solid"/>
          </a:ln>
        </p:spPr>
        <p:txBody>
          <a:bodyPr/>
          <a:lstStyle/>
          <a:p>
            <a:endParaRPr lang="en-TR"/>
          </a:p>
        </p:txBody>
      </p:sp>
      <p:sp>
        <p:nvSpPr>
          <p:cNvPr id="31" name="Text 29"/>
          <p:cNvSpPr txBox="1"/>
          <p:nvPr/>
        </p:nvSpPr>
        <p:spPr>
          <a:xfrm>
            <a:off x="5303520" y="4398264"/>
            <a:ext cx="6245352" cy="566928"/>
          </a:xfrm>
          <a:prstGeom prst="rect">
            <a:avLst/>
          </a:prstGeom>
          <a:noFill/>
          <a:ln/>
        </p:spPr>
        <p:txBody>
          <a:bodyPr wrap="square" lIns="1524" tIns="1524" rIns="1524" bIns="1524" rtlCol="0" anchor="ctr"/>
          <a:lstStyle/>
          <a:p>
            <a:pPr marL="0" indent="0">
              <a:buNone/>
            </a:pPr>
            <a:r>
              <a:rPr lang="en-US" sz="1250" dirty="0">
                <a:solidFill>
                  <a:srgbClr val="132030"/>
                </a:solidFill>
                <a:latin typeface="Calibri" pitchFamily="34" charset="0"/>
                <a:ea typeface="Calibri" pitchFamily="34" charset="-122"/>
                <a:cs typeface="Calibri" pitchFamily="34" charset="-120"/>
              </a:rPr>
              <a:t>Only the asking company's: QTE-2025-0008 and QTE-2026-0014</a:t>
            </a:r>
            <a:endParaRPr lang="en-US" sz="1250" dirty="0"/>
          </a:p>
        </p:txBody>
      </p:sp>
      <p:sp>
        <p:nvSpPr>
          <p:cNvPr id="32" name="Shape 30"/>
          <p:cNvSpPr/>
          <p:nvPr/>
        </p:nvSpPr>
        <p:spPr>
          <a:xfrm>
            <a:off x="640080" y="4965192"/>
            <a:ext cx="4663440" cy="566928"/>
          </a:xfrm>
          <a:prstGeom prst="rect">
            <a:avLst/>
          </a:prstGeom>
          <a:solidFill>
            <a:srgbClr val="F7F9FB"/>
          </a:solidFill>
          <a:ln w="12700">
            <a:solidFill>
              <a:srgbClr val="D6DEE6"/>
            </a:solidFill>
            <a:prstDash val="solid"/>
          </a:ln>
        </p:spPr>
        <p:txBody>
          <a:bodyPr/>
          <a:lstStyle/>
          <a:p>
            <a:endParaRPr lang="en-TR"/>
          </a:p>
        </p:txBody>
      </p:sp>
      <p:sp>
        <p:nvSpPr>
          <p:cNvPr id="33" name="Text 31"/>
          <p:cNvSpPr txBox="1"/>
          <p:nvPr/>
        </p:nvSpPr>
        <p:spPr>
          <a:xfrm>
            <a:off x="640080" y="4965192"/>
            <a:ext cx="4663440" cy="566928"/>
          </a:xfrm>
          <a:prstGeom prst="rect">
            <a:avLst/>
          </a:prstGeom>
          <a:noFill/>
          <a:ln/>
        </p:spPr>
        <p:txBody>
          <a:bodyPr wrap="square" lIns="1524" tIns="1524" rIns="1524" bIns="1524" rtlCol="0" anchor="ctr"/>
          <a:lstStyle/>
          <a:p>
            <a:pPr marL="0" indent="0">
              <a:buNone/>
            </a:pPr>
            <a:r>
              <a:rPr lang="en-US" sz="1250" dirty="0">
                <a:solidFill>
                  <a:srgbClr val="132030"/>
                </a:solidFill>
                <a:latin typeface="Calibri" pitchFamily="34" charset="0"/>
                <a:ea typeface="Calibri" pitchFamily="34" charset="-122"/>
                <a:cs typeface="Calibri" pitchFamily="34" charset="-120"/>
              </a:rPr>
              <a:t>Which machines does my company have?</a:t>
            </a:r>
            <a:endParaRPr lang="en-US" sz="1250" dirty="0"/>
          </a:p>
        </p:txBody>
      </p:sp>
      <p:sp>
        <p:nvSpPr>
          <p:cNvPr id="34" name="Shape 32"/>
          <p:cNvSpPr/>
          <p:nvPr/>
        </p:nvSpPr>
        <p:spPr>
          <a:xfrm>
            <a:off x="5303520" y="4965192"/>
            <a:ext cx="6245352" cy="566928"/>
          </a:xfrm>
          <a:prstGeom prst="rect">
            <a:avLst/>
          </a:prstGeom>
          <a:solidFill>
            <a:srgbClr val="F7F9FB"/>
          </a:solidFill>
          <a:ln w="12700">
            <a:solidFill>
              <a:srgbClr val="D6DEE6"/>
            </a:solidFill>
            <a:prstDash val="solid"/>
          </a:ln>
        </p:spPr>
        <p:txBody>
          <a:bodyPr/>
          <a:lstStyle/>
          <a:p>
            <a:endParaRPr lang="en-TR"/>
          </a:p>
        </p:txBody>
      </p:sp>
      <p:sp>
        <p:nvSpPr>
          <p:cNvPr id="35" name="Text 33"/>
          <p:cNvSpPr txBox="1"/>
          <p:nvPr/>
        </p:nvSpPr>
        <p:spPr>
          <a:xfrm>
            <a:off x="5303520" y="4965192"/>
            <a:ext cx="6245352" cy="566928"/>
          </a:xfrm>
          <a:prstGeom prst="rect">
            <a:avLst/>
          </a:prstGeom>
          <a:noFill/>
          <a:ln/>
        </p:spPr>
        <p:txBody>
          <a:bodyPr wrap="square" lIns="1524" tIns="1524" rIns="1524" bIns="1524" rtlCol="0" anchor="ctr"/>
          <a:lstStyle/>
          <a:p>
            <a:pPr marL="0" indent="0">
              <a:buNone/>
            </a:pPr>
            <a:r>
              <a:rPr lang="en-US" sz="1250" dirty="0">
                <a:solidFill>
                  <a:srgbClr val="132030"/>
                </a:solidFill>
                <a:latin typeface="Calibri" pitchFamily="34" charset="0"/>
                <a:ea typeface="Calibri" pitchFamily="34" charset="-122"/>
                <a:cs typeface="Calibri" pitchFamily="34" charset="-120"/>
              </a:rPr>
              <a:t>For CMP-005: none, and it must say so explicitly</a:t>
            </a:r>
            <a:endParaRPr lang="en-US" sz="1250" dirty="0"/>
          </a:p>
        </p:txBody>
      </p:sp>
      <p:sp>
        <p:nvSpPr>
          <p:cNvPr id="36" name="Text 34"/>
          <p:cNvSpPr txBox="1"/>
          <p:nvPr/>
        </p:nvSpPr>
        <p:spPr>
          <a:xfrm>
            <a:off x="640080" y="5632120"/>
            <a:ext cx="10908792" cy="274320"/>
          </a:xfrm>
          <a:prstGeom prst="rect">
            <a:avLst/>
          </a:prstGeom>
          <a:noFill/>
          <a:ln/>
        </p:spPr>
        <p:txBody>
          <a:bodyPr wrap="square" lIns="0" tIns="0" rIns="0" bIns="0" rtlCol="0" anchor="t"/>
          <a:lstStyle/>
          <a:p>
            <a:pPr marL="0" indent="0">
              <a:buNone/>
            </a:pPr>
            <a:r>
              <a:rPr lang="en-US" sz="1200" dirty="0">
                <a:solidFill>
                  <a:srgbClr val="7C8B99"/>
                </a:solidFill>
                <a:latin typeface="Calibri" pitchFamily="34" charset="0"/>
                <a:ea typeface="Calibri" pitchFamily="34" charset="-122"/>
                <a:cs typeface="Calibri" pitchFamily="34" charset="-120"/>
              </a:rPr>
              <a:t>Run on qwen-3.8-27b (Cerebras), and repeated once on a second provider as a cross-check: 14 / 14 on both. Next to them, 59 functional checks of the API, the tools and the access model run without any model call (evaluation/functional_checks.py).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566928"/>
          </a:xfrm>
          <a:prstGeom prst="rect">
            <a:avLst/>
          </a:prstGeom>
          <a:noFill/>
          <a:ln/>
        </p:spPr>
        <p:txBody>
          <a:bodyPr wrap="square" lIns="0" tIns="0" rIns="0" bIns="0" rtlCol="0" anchor="t"/>
          <a:lstStyle/>
          <a:p>
            <a:pPr marL="0" indent="0">
              <a:buNone/>
            </a:pPr>
            <a:r>
              <a:rPr lang="en-US" sz="3200" b="1" dirty="0">
                <a:solidFill>
                  <a:srgbClr val="132030"/>
                </a:solidFill>
                <a:latin typeface="Arial" pitchFamily="34" charset="0"/>
                <a:ea typeface="Arial" pitchFamily="34" charset="-122"/>
                <a:cs typeface="Arial" pitchFamily="34" charset="-120"/>
              </a:rPr>
              <a:t>Routing stability</a:t>
            </a:r>
            <a:endParaRPr lang="en-US" sz="3200" dirty="0"/>
          </a:p>
        </p:txBody>
      </p:sp>
      <p:sp>
        <p:nvSpPr>
          <p:cNvPr id="3" name="Text 1"/>
          <p:cNvSpPr txBox="1"/>
          <p:nvPr/>
        </p:nvSpPr>
        <p:spPr>
          <a:xfrm>
            <a:off x="640080" y="969264"/>
            <a:ext cx="10908792" cy="310896"/>
          </a:xfrm>
          <a:prstGeom prst="rect">
            <a:avLst/>
          </a:prstGeom>
          <a:noFill/>
          <a:ln/>
        </p:spPr>
        <p:txBody>
          <a:bodyPr wrap="square" lIns="0" tIns="0" rIns="0" bIns="0" rtlCol="0" anchor="t"/>
          <a:lstStyle/>
          <a:p>
            <a:pPr marL="0" indent="0">
              <a:buNone/>
            </a:pPr>
            <a:r>
              <a:rPr lang="en-US" sz="1400" dirty="0">
                <a:solidFill>
                  <a:srgbClr val="4A5A69"/>
                </a:solidFill>
                <a:latin typeface="Calibri" pitchFamily="34" charset="0"/>
                <a:ea typeface="Calibri" pitchFamily="34" charset="-122"/>
                <a:cs typeface="Calibri" pitchFamily="34" charset="-120"/>
              </a:rPr>
              <a:t>Each question routed six times in a row, before and after a fix to the router prompt.</a:t>
            </a:r>
            <a:endParaRPr lang="en-US" sz="1400" dirty="0"/>
          </a:p>
        </p:txBody>
      </p:sp>
      <p:graphicFrame>
        <p:nvGraphicFramePr>
          <p:cNvPr id="4" name="Chart 0"/>
          <p:cNvGraphicFramePr/>
          <p:nvPr/>
        </p:nvGraphicFramePr>
        <p:xfrm>
          <a:off x="640080" y="1508760"/>
          <a:ext cx="749808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412480" y="1508760"/>
            <a:ext cx="3136392" cy="1874520"/>
          </a:xfrm>
          <a:prstGeom prst="roundRect">
            <a:avLst>
              <a:gd name="adj" fmla="val 2927"/>
            </a:avLst>
          </a:prstGeom>
          <a:solidFill>
            <a:srgbClr val="EEF2F6"/>
          </a:solidFill>
          <a:ln w="12700">
            <a:solidFill>
              <a:srgbClr val="D6DEE6"/>
            </a:solidFill>
            <a:prstDash val="solid"/>
          </a:ln>
        </p:spPr>
        <p:txBody>
          <a:bodyPr/>
          <a:lstStyle/>
          <a:p>
            <a:endParaRPr lang="en-TR"/>
          </a:p>
        </p:txBody>
      </p:sp>
      <p:sp>
        <p:nvSpPr>
          <p:cNvPr id="6" name="Text 3"/>
          <p:cNvSpPr txBox="1"/>
          <p:nvPr/>
        </p:nvSpPr>
        <p:spPr>
          <a:xfrm>
            <a:off x="8641080" y="1691640"/>
            <a:ext cx="2697480" cy="274320"/>
          </a:xfrm>
          <a:prstGeom prst="rect">
            <a:avLst/>
          </a:prstGeom>
          <a:noFill/>
          <a:ln/>
        </p:spPr>
        <p:txBody>
          <a:bodyPr wrap="square" lIns="0" tIns="0" rIns="0" bIns="0" rtlCol="0" anchor="t"/>
          <a:lstStyle/>
          <a:p>
            <a:pPr marL="0" indent="0">
              <a:buNone/>
            </a:pPr>
            <a:r>
              <a:rPr lang="en-US" sz="1400" b="1" dirty="0">
                <a:solidFill>
                  <a:srgbClr val="132030"/>
                </a:solidFill>
                <a:latin typeface="Arial" pitchFamily="34" charset="0"/>
                <a:ea typeface="Arial" pitchFamily="34" charset="-122"/>
                <a:cs typeface="Arial" pitchFamily="34" charset="-120"/>
              </a:rPr>
              <a:t>What the numbers say</a:t>
            </a:r>
            <a:endParaRPr lang="en-US" sz="1400" dirty="0"/>
          </a:p>
        </p:txBody>
      </p:sp>
      <p:sp>
        <p:nvSpPr>
          <p:cNvPr id="7" name="Text 4"/>
          <p:cNvSpPr txBox="1"/>
          <p:nvPr/>
        </p:nvSpPr>
        <p:spPr>
          <a:xfrm>
            <a:off x="8641080" y="2011680"/>
            <a:ext cx="2697480" cy="1188720"/>
          </a:xfrm>
          <a:prstGeom prst="rect">
            <a:avLst/>
          </a:prstGeom>
          <a:noFill/>
          <a:ln/>
        </p:spPr>
        <p:txBody>
          <a:bodyPr wrap="square" lIns="0" tIns="0" rIns="0" bIns="0" rtlCol="0" anchor="t"/>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Questions that name a domain were already stable. The two unstable ones were both machine-identity questions.</a:t>
            </a:r>
            <a:endParaRPr lang="en-US" sz="1250" dirty="0"/>
          </a:p>
        </p:txBody>
      </p:sp>
      <p:sp>
        <p:nvSpPr>
          <p:cNvPr id="8" name="Shape 5"/>
          <p:cNvSpPr/>
          <p:nvPr/>
        </p:nvSpPr>
        <p:spPr>
          <a:xfrm>
            <a:off x="8412480" y="3566160"/>
            <a:ext cx="3136392" cy="1874520"/>
          </a:xfrm>
          <a:prstGeom prst="roundRect">
            <a:avLst>
              <a:gd name="adj" fmla="val 2927"/>
            </a:avLst>
          </a:prstGeom>
          <a:solidFill>
            <a:srgbClr val="FBF3E4"/>
          </a:solidFill>
          <a:ln w="12700">
            <a:solidFill>
              <a:srgbClr val="D6DEE6"/>
            </a:solidFill>
            <a:prstDash val="solid"/>
          </a:ln>
        </p:spPr>
        <p:txBody>
          <a:bodyPr/>
          <a:lstStyle/>
          <a:p>
            <a:endParaRPr lang="en-TR"/>
          </a:p>
        </p:txBody>
      </p:sp>
      <p:sp>
        <p:nvSpPr>
          <p:cNvPr id="9" name="Text 6"/>
          <p:cNvSpPr txBox="1"/>
          <p:nvPr/>
        </p:nvSpPr>
        <p:spPr>
          <a:xfrm>
            <a:off x="8641080" y="3749040"/>
            <a:ext cx="2697480" cy="502920"/>
          </a:xfrm>
          <a:prstGeom prst="rect">
            <a:avLst/>
          </a:prstGeom>
          <a:noFill/>
          <a:ln/>
        </p:spPr>
        <p:txBody>
          <a:bodyPr wrap="square" lIns="0" tIns="0" rIns="0" bIns="0" rtlCol="0" anchor="ctr"/>
          <a:lstStyle/>
          <a:p>
            <a:pPr marL="0" indent="0">
              <a:buNone/>
            </a:pPr>
            <a:r>
              <a:rPr lang="en-US" sz="3000" b="1" dirty="0">
                <a:solidFill>
                  <a:srgbClr val="E09A2B"/>
                </a:solidFill>
                <a:latin typeface="Arial" pitchFamily="34" charset="0"/>
                <a:ea typeface="Arial" pitchFamily="34" charset="-122"/>
                <a:cs typeface="Arial" pitchFamily="34" charset="-120"/>
              </a:rPr>
              <a:t>36 / 36</a:t>
            </a:r>
            <a:endParaRPr lang="en-US" sz="3000" dirty="0"/>
          </a:p>
        </p:txBody>
      </p:sp>
      <p:sp>
        <p:nvSpPr>
          <p:cNvPr id="10" name="Text 7"/>
          <p:cNvSpPr txBox="1"/>
          <p:nvPr/>
        </p:nvSpPr>
        <p:spPr>
          <a:xfrm>
            <a:off x="8641080" y="4297680"/>
            <a:ext cx="2697480" cy="914400"/>
          </a:xfrm>
          <a:prstGeom prst="rect">
            <a:avLst/>
          </a:prstGeom>
          <a:noFill/>
          <a:ln/>
        </p:spPr>
        <p:txBody>
          <a:bodyPr wrap="square" lIns="0" tIns="0" rIns="0" bIns="0" rtlCol="0" anchor="t"/>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correct routings after the fix, over six repetitions per question, and 36 / 36 again on the second provider.</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972800" cy="548640"/>
          </a:xfrm>
          <a:prstGeom prst="rect">
            <a:avLst/>
          </a:prstGeom>
          <a:noFill/>
        </p:spPr>
        <p:txBody>
          <a:bodyPr wrap="square" lIns="0" tIns="0">
            <a:spAutoFit/>
          </a:bodyPr>
          <a:lstStyle/>
          <a:p>
            <a:pPr algn="l"/>
            <a:r>
              <a:rPr sz="3200" b="1">
                <a:solidFill>
                  <a:srgbClr val="132030"/>
                </a:solidFill>
                <a:latin typeface="Arial"/>
              </a:rPr>
              <a:t>Retrieval, measured against an alternative</a:t>
            </a:r>
          </a:p>
        </p:txBody>
      </p:sp>
      <p:sp>
        <p:nvSpPr>
          <p:cNvPr id="3" name="TextBox 2"/>
          <p:cNvSpPr txBox="1"/>
          <p:nvPr/>
        </p:nvSpPr>
        <p:spPr>
          <a:xfrm>
            <a:off x="640080" y="969264"/>
            <a:ext cx="10972800" cy="365760"/>
          </a:xfrm>
          <a:prstGeom prst="rect">
            <a:avLst/>
          </a:prstGeom>
          <a:noFill/>
        </p:spPr>
        <p:txBody>
          <a:bodyPr wrap="square" lIns="0" tIns="0">
            <a:spAutoFit/>
          </a:bodyPr>
          <a:lstStyle/>
          <a:p>
            <a:pPr algn="l"/>
            <a:r>
              <a:rPr sz="1400" b="0">
                <a:solidFill>
                  <a:srgbClr val="4A5A69"/>
                </a:solidFill>
                <a:latin typeface="Calibri"/>
              </a:rPr>
              <a:t>Twelve manual questions, page-level ground truth, the same serial-number filter the platform uses.</a:t>
            </a:r>
          </a:p>
        </p:txBody>
      </p:sp>
      <p:pic>
        <p:nvPicPr>
          <p:cNvPr id="4" name="Picture 3" descr="retrieval_by_wording.png"/>
          <p:cNvPicPr>
            <a:picLocks noChangeAspect="1"/>
          </p:cNvPicPr>
          <p:nvPr/>
        </p:nvPicPr>
        <p:blipFill>
          <a:blip r:embed="rId3"/>
          <a:stretch>
            <a:fillRect/>
          </a:stretch>
        </p:blipFill>
        <p:spPr>
          <a:xfrm>
            <a:off x="640080" y="1463040"/>
            <a:ext cx="6309360" cy="3459972"/>
          </a:xfrm>
          <a:prstGeom prst="rect">
            <a:avLst/>
          </a:prstGeom>
        </p:spPr>
      </p:pic>
      <p:sp>
        <p:nvSpPr>
          <p:cNvPr id="5" name="Rounded Rectangle 4"/>
          <p:cNvSpPr/>
          <p:nvPr/>
        </p:nvSpPr>
        <p:spPr>
          <a:xfrm>
            <a:off x="7223760" y="1463040"/>
            <a:ext cx="4965192" cy="1417320"/>
          </a:xfrm>
          <a:prstGeom prst="roundRect">
            <a:avLst>
              <a:gd name="adj" fmla="val 4000"/>
            </a:avLst>
          </a:prstGeom>
          <a:solidFill>
            <a:srgbClr val="EEF2F6"/>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498080" y="1645920"/>
            <a:ext cx="4480560" cy="320040"/>
          </a:xfrm>
          <a:prstGeom prst="rect">
            <a:avLst/>
          </a:prstGeom>
          <a:noFill/>
        </p:spPr>
        <p:txBody>
          <a:bodyPr wrap="square" lIns="0" tIns="0">
            <a:spAutoFit/>
          </a:bodyPr>
          <a:lstStyle/>
          <a:p>
            <a:pPr algn="l"/>
            <a:r>
              <a:rPr sz="1500" b="1">
                <a:solidFill>
                  <a:srgbClr val="132030"/>
                </a:solidFill>
                <a:latin typeface="Arial"/>
              </a:rPr>
              <a:t>Same words as the manual</a:t>
            </a:r>
          </a:p>
        </p:txBody>
      </p:sp>
      <p:sp>
        <p:nvSpPr>
          <p:cNvPr id="7" name="TextBox 6"/>
          <p:cNvSpPr txBox="1"/>
          <p:nvPr/>
        </p:nvSpPr>
        <p:spPr>
          <a:xfrm>
            <a:off x="7498080" y="2011680"/>
            <a:ext cx="4480560" cy="731520"/>
          </a:xfrm>
          <a:prstGeom prst="rect">
            <a:avLst/>
          </a:prstGeom>
          <a:noFill/>
        </p:spPr>
        <p:txBody>
          <a:bodyPr wrap="square" lIns="0" tIns="0">
            <a:spAutoFit/>
          </a:bodyPr>
          <a:lstStyle/>
          <a:p>
            <a:pPr algn="l"/>
            <a:r>
              <a:rPr sz="1250" b="0">
                <a:solidFill>
                  <a:srgbClr val="4A5A69"/>
                </a:solidFill>
                <a:latin typeface="Calibri"/>
              </a:rPr>
              <a:t>TF-IDF 0.83 vs embeddings 0.67 hit@3. Lexical matching wins on alarm mnemonics and part numbers.</a:t>
            </a:r>
          </a:p>
        </p:txBody>
      </p:sp>
      <p:sp>
        <p:nvSpPr>
          <p:cNvPr id="8" name="Rounded Rectangle 7"/>
          <p:cNvSpPr/>
          <p:nvPr/>
        </p:nvSpPr>
        <p:spPr>
          <a:xfrm>
            <a:off x="7223760" y="3017520"/>
            <a:ext cx="4965192" cy="1417320"/>
          </a:xfrm>
          <a:prstGeom prst="roundRect">
            <a:avLst>
              <a:gd name="adj" fmla="val 4000"/>
            </a:avLst>
          </a:prstGeom>
          <a:solidFill>
            <a:srgbClr val="EEF2F6"/>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498080" y="3200400"/>
            <a:ext cx="4480560" cy="320040"/>
          </a:xfrm>
          <a:prstGeom prst="rect">
            <a:avLst/>
          </a:prstGeom>
          <a:noFill/>
        </p:spPr>
        <p:txBody>
          <a:bodyPr wrap="square" lIns="0" tIns="0">
            <a:spAutoFit/>
          </a:bodyPr>
          <a:lstStyle/>
          <a:p>
            <a:pPr algn="l"/>
            <a:r>
              <a:rPr sz="1500" b="1">
                <a:solidFill>
                  <a:srgbClr val="132030"/>
                </a:solidFill>
                <a:latin typeface="Arial"/>
              </a:rPr>
              <a:t>The operator's own words</a:t>
            </a:r>
          </a:p>
        </p:txBody>
      </p:sp>
      <p:sp>
        <p:nvSpPr>
          <p:cNvPr id="10" name="TextBox 9"/>
          <p:cNvSpPr txBox="1"/>
          <p:nvPr/>
        </p:nvSpPr>
        <p:spPr>
          <a:xfrm>
            <a:off x="7498080" y="3566160"/>
            <a:ext cx="4480560" cy="731520"/>
          </a:xfrm>
          <a:prstGeom prst="rect">
            <a:avLst/>
          </a:prstGeom>
          <a:noFill/>
        </p:spPr>
        <p:txBody>
          <a:bodyPr wrap="square" lIns="0" tIns="0">
            <a:spAutoFit/>
          </a:bodyPr>
          <a:lstStyle/>
          <a:p>
            <a:pPr algn="l"/>
            <a:r>
              <a:rPr sz="1250" b="0">
                <a:solidFill>
                  <a:srgbClr val="4A5A69"/>
                </a:solidFill>
                <a:latin typeface="Calibri"/>
              </a:rPr>
              <a:t>TF-IDF collapses to 0.33, embeddings stay at 0.67. This is the weakness we knew about, now measured.</a:t>
            </a:r>
          </a:p>
        </p:txBody>
      </p:sp>
      <p:sp>
        <p:nvSpPr>
          <p:cNvPr id="11" name="Rounded Rectangle 10"/>
          <p:cNvSpPr/>
          <p:nvPr/>
        </p:nvSpPr>
        <p:spPr>
          <a:xfrm>
            <a:off x="7223760" y="4572000"/>
            <a:ext cx="4965192" cy="1417320"/>
          </a:xfrm>
          <a:prstGeom prst="roundRect">
            <a:avLst>
              <a:gd name="adj" fmla="val 4000"/>
            </a:avLst>
          </a:prstGeom>
          <a:solidFill>
            <a:srgbClr val="FBF3E4"/>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498080" y="4754880"/>
            <a:ext cx="4480560" cy="320040"/>
          </a:xfrm>
          <a:prstGeom prst="rect">
            <a:avLst/>
          </a:prstGeom>
          <a:noFill/>
        </p:spPr>
        <p:txBody>
          <a:bodyPr wrap="square" lIns="0" tIns="0">
            <a:spAutoFit/>
          </a:bodyPr>
          <a:lstStyle/>
          <a:p>
            <a:pPr algn="l"/>
            <a:r>
              <a:rPr sz="1500" b="1">
                <a:solidFill>
                  <a:srgbClr val="132030"/>
                </a:solidFill>
                <a:latin typeface="Arial"/>
              </a:rPr>
              <a:t>What we conclude</a:t>
            </a:r>
          </a:p>
        </p:txBody>
      </p:sp>
      <p:sp>
        <p:nvSpPr>
          <p:cNvPr id="13" name="TextBox 12"/>
          <p:cNvSpPr txBox="1"/>
          <p:nvPr/>
        </p:nvSpPr>
        <p:spPr>
          <a:xfrm>
            <a:off x="7498080" y="5120640"/>
            <a:ext cx="4480560" cy="731520"/>
          </a:xfrm>
          <a:prstGeom prst="rect">
            <a:avLst/>
          </a:prstGeom>
          <a:noFill/>
        </p:spPr>
        <p:txBody>
          <a:bodyPr wrap="square" lIns="0" tIns="0">
            <a:spAutoFit/>
          </a:bodyPr>
          <a:lstStyle/>
          <a:p>
            <a:pPr algn="l"/>
            <a:r>
              <a:rPr sz="1250" b="0">
                <a:solidFill>
                  <a:srgbClr val="4A5A69"/>
                </a:solidFill>
                <a:latin typeface="Calibri"/>
              </a:rPr>
              <a:t>A hybrid, not a replacement. The two questions both retrievers miss are dense tables: a chunking problem, not a ranking one.</a:t>
            </a:r>
          </a:p>
        </p:txBody>
      </p:sp>
      <p:sp>
        <p:nvSpPr>
          <p:cNvPr id="14" name="TextBox 13"/>
          <p:cNvSpPr txBox="1"/>
          <p:nvPr/>
        </p:nvSpPr>
        <p:spPr>
          <a:xfrm>
            <a:off x="640080" y="6035040"/>
            <a:ext cx="6309360" cy="365760"/>
          </a:xfrm>
          <a:prstGeom prst="rect">
            <a:avLst/>
          </a:prstGeom>
          <a:noFill/>
        </p:spPr>
        <p:txBody>
          <a:bodyPr wrap="square" lIns="0" tIns="0">
            <a:spAutoFit/>
          </a:bodyPr>
          <a:lstStyle/>
          <a:p>
            <a:pPr algn="l"/>
            <a:r>
              <a:rPr sz="1100" b="0">
                <a:solidFill>
                  <a:srgbClr val="7C8B99"/>
                </a:solidFill>
                <a:latin typeface="Calibri"/>
              </a:rPr>
              <a:t>evaluation/retrieval_comparison.py  ·  all-MiniLM-L6-v2  ·  1.7 ms vs 82.2 ms per query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566928"/>
          </a:xfrm>
          <a:prstGeom prst="rect">
            <a:avLst/>
          </a:prstGeom>
          <a:noFill/>
          <a:ln/>
        </p:spPr>
        <p:txBody>
          <a:bodyPr wrap="square" lIns="0" tIns="0" rIns="0" bIns="0" rtlCol="0" anchor="t"/>
          <a:lstStyle/>
          <a:p>
            <a:pPr marL="0" indent="0">
              <a:buNone/>
            </a:pPr>
            <a:r>
              <a:rPr lang="en-US" sz="3200" b="1" dirty="0">
                <a:solidFill>
                  <a:srgbClr val="132030"/>
                </a:solidFill>
                <a:latin typeface="Arial" pitchFamily="34" charset="0"/>
                <a:ea typeface="Arial" pitchFamily="34" charset="-122"/>
                <a:cs typeface="Arial" pitchFamily="34" charset="-120"/>
              </a:rPr>
              <a:t>What the measurement caught</a:t>
            </a:r>
            <a:endParaRPr lang="en-US" sz="3200" dirty="0"/>
          </a:p>
        </p:txBody>
      </p:sp>
      <p:sp>
        <p:nvSpPr>
          <p:cNvPr id="3" name="Text 1"/>
          <p:cNvSpPr txBox="1"/>
          <p:nvPr/>
        </p:nvSpPr>
        <p:spPr>
          <a:xfrm>
            <a:off x="640080" y="969264"/>
            <a:ext cx="10908792" cy="310896"/>
          </a:xfrm>
          <a:prstGeom prst="rect">
            <a:avLst/>
          </a:prstGeom>
          <a:noFill/>
          <a:ln/>
        </p:spPr>
        <p:txBody>
          <a:bodyPr wrap="square" lIns="0" tIns="0" rIns="0" bIns="0" rtlCol="0" anchor="t"/>
          <a:lstStyle/>
          <a:p>
            <a:pPr marL="0" indent="0">
              <a:buNone/>
            </a:pPr>
            <a:r>
              <a:rPr lang="en-US" sz="1400" dirty="0">
                <a:solidFill>
                  <a:srgbClr val="4A5A69"/>
                </a:solidFill>
                <a:latin typeface="Calibri" pitchFamily="34" charset="0"/>
                <a:ea typeface="Calibri" pitchFamily="34" charset="-122"/>
                <a:cs typeface="Calibri" pitchFamily="34" charset="-120"/>
              </a:rPr>
              <a:t>A routing error that turned into a wrong refusal.</a:t>
            </a:r>
            <a:endParaRPr lang="en-US" sz="1400" dirty="0"/>
          </a:p>
        </p:txBody>
      </p:sp>
      <p:sp>
        <p:nvSpPr>
          <p:cNvPr id="4" name="Shape 2"/>
          <p:cNvSpPr/>
          <p:nvPr/>
        </p:nvSpPr>
        <p:spPr>
          <a:xfrm>
            <a:off x="640080" y="1627632"/>
            <a:ext cx="1554480" cy="274320"/>
          </a:xfrm>
          <a:prstGeom prst="roundRect">
            <a:avLst>
              <a:gd name="adj" fmla="val 46667"/>
            </a:avLst>
          </a:prstGeom>
          <a:solidFill>
            <a:srgbClr val="4A5A69"/>
          </a:solidFill>
          <a:ln w="12700">
            <a:solidFill>
              <a:srgbClr val="4A5A69"/>
            </a:solidFill>
            <a:prstDash val="solid"/>
          </a:ln>
        </p:spPr>
        <p:txBody>
          <a:bodyPr/>
          <a:lstStyle/>
          <a:p>
            <a:endParaRPr lang="en-TR"/>
          </a:p>
        </p:txBody>
      </p:sp>
      <p:sp>
        <p:nvSpPr>
          <p:cNvPr id="5" name="Text 3"/>
          <p:cNvSpPr txBox="1"/>
          <p:nvPr/>
        </p:nvSpPr>
        <p:spPr>
          <a:xfrm>
            <a:off x="640080" y="1627632"/>
            <a:ext cx="155448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SYMPTOM</a:t>
            </a:r>
            <a:endParaRPr lang="en-US" sz="1050" dirty="0"/>
          </a:p>
        </p:txBody>
      </p:sp>
      <p:sp>
        <p:nvSpPr>
          <p:cNvPr id="6" name="Text 4"/>
          <p:cNvSpPr txBox="1"/>
          <p:nvPr/>
        </p:nvSpPr>
        <p:spPr>
          <a:xfrm>
            <a:off x="2468880" y="1554480"/>
            <a:ext cx="9052560" cy="914400"/>
          </a:xfrm>
          <a:prstGeom prst="rect">
            <a:avLst/>
          </a:prstGeom>
          <a:noFill/>
          <a:ln/>
        </p:spPr>
        <p:txBody>
          <a:bodyPr wrap="square" lIns="0" tIns="0" rIns="0" bIns="0" rtlCol="0" anchor="t"/>
          <a:lstStyle/>
          <a:p>
            <a:pPr marL="0" indent="0">
              <a:lnSpc>
                <a:spcPts val="1800"/>
              </a:lnSpc>
              <a:buNone/>
            </a:pPr>
            <a:r>
              <a:rPr lang="en-US" sz="1300" dirty="0">
                <a:solidFill>
                  <a:srgbClr val="4A5A69"/>
                </a:solidFill>
                <a:latin typeface="Calibri" pitchFamily="34" charset="0"/>
                <a:ea typeface="Calibri" pitchFamily="34" charset="-122"/>
                <a:cs typeface="Calibri" pitchFamily="34" charset="-120"/>
              </a:rPr>
              <a:t>"How many heads does this machine have?" was routed to the diagnostics agent in 5 runs out of 6, and "which machines does my company have?" scattered across three handlers.</a:t>
            </a:r>
            <a:endParaRPr lang="en-US" sz="1300" dirty="0"/>
          </a:p>
        </p:txBody>
      </p:sp>
      <p:sp>
        <p:nvSpPr>
          <p:cNvPr id="7" name="Shape 5"/>
          <p:cNvSpPr/>
          <p:nvPr/>
        </p:nvSpPr>
        <p:spPr>
          <a:xfrm>
            <a:off x="640080" y="2679192"/>
            <a:ext cx="1554480" cy="274320"/>
          </a:xfrm>
          <a:prstGeom prst="roundRect">
            <a:avLst>
              <a:gd name="adj" fmla="val 46667"/>
            </a:avLst>
          </a:prstGeom>
          <a:solidFill>
            <a:srgbClr val="B3382C"/>
          </a:solidFill>
          <a:ln w="12700">
            <a:solidFill>
              <a:srgbClr val="B3382C"/>
            </a:solidFill>
            <a:prstDash val="solid"/>
          </a:ln>
        </p:spPr>
        <p:txBody>
          <a:bodyPr/>
          <a:lstStyle/>
          <a:p>
            <a:endParaRPr lang="en-TR"/>
          </a:p>
        </p:txBody>
      </p:sp>
      <p:sp>
        <p:nvSpPr>
          <p:cNvPr id="8" name="Text 6"/>
          <p:cNvSpPr txBox="1"/>
          <p:nvPr/>
        </p:nvSpPr>
        <p:spPr>
          <a:xfrm>
            <a:off x="640080" y="2679192"/>
            <a:ext cx="155448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WHY IT MATTERED</a:t>
            </a:r>
            <a:endParaRPr lang="en-US" sz="1050" dirty="0"/>
          </a:p>
        </p:txBody>
      </p:sp>
      <p:sp>
        <p:nvSpPr>
          <p:cNvPr id="9" name="Text 7"/>
          <p:cNvSpPr txBox="1"/>
          <p:nvPr/>
        </p:nvSpPr>
        <p:spPr>
          <a:xfrm>
            <a:off x="2468880" y="2606040"/>
            <a:ext cx="9052560" cy="914400"/>
          </a:xfrm>
          <a:prstGeom prst="rect">
            <a:avLst/>
          </a:prstGeom>
          <a:noFill/>
          <a:ln/>
        </p:spPr>
        <p:txBody>
          <a:bodyPr wrap="square" lIns="0" tIns="0" rIns="0" bIns="0" rtlCol="0" anchor="t"/>
          <a:lstStyle/>
          <a:p>
            <a:pPr marL="0" indent="0">
              <a:lnSpc>
                <a:spcPts val="1800"/>
              </a:lnSpc>
              <a:buNone/>
            </a:pPr>
            <a:r>
              <a:rPr lang="en-US" sz="1300" dirty="0">
                <a:solidFill>
                  <a:srgbClr val="4A5A69"/>
                </a:solidFill>
                <a:latin typeface="Calibri" pitchFamily="34" charset="0"/>
                <a:ea typeface="Calibri" pitchFamily="34" charset="-122"/>
                <a:cs typeface="Calibri" pitchFamily="34" charset="-120"/>
              </a:rPr>
              <a:t>The access check is made on the domain of the chosen agent. A commercial user asking an identity question was therefore refused, although the dataset says machine identity is visible to every user.</a:t>
            </a:r>
            <a:endParaRPr lang="en-US" sz="1300" dirty="0"/>
          </a:p>
        </p:txBody>
      </p:sp>
      <p:sp>
        <p:nvSpPr>
          <p:cNvPr id="10" name="Shape 8"/>
          <p:cNvSpPr/>
          <p:nvPr/>
        </p:nvSpPr>
        <p:spPr>
          <a:xfrm>
            <a:off x="640080" y="3730752"/>
            <a:ext cx="1554480" cy="274320"/>
          </a:xfrm>
          <a:prstGeom prst="roundRect">
            <a:avLst>
              <a:gd name="adj" fmla="val 46667"/>
            </a:avLst>
          </a:prstGeom>
          <a:solidFill>
            <a:srgbClr val="132030"/>
          </a:solidFill>
          <a:ln w="12700">
            <a:solidFill>
              <a:srgbClr val="132030"/>
            </a:solidFill>
            <a:prstDash val="solid"/>
          </a:ln>
        </p:spPr>
        <p:txBody>
          <a:bodyPr/>
          <a:lstStyle/>
          <a:p>
            <a:endParaRPr lang="en-TR"/>
          </a:p>
        </p:txBody>
      </p:sp>
      <p:sp>
        <p:nvSpPr>
          <p:cNvPr id="11" name="Text 9"/>
          <p:cNvSpPr txBox="1"/>
          <p:nvPr/>
        </p:nvSpPr>
        <p:spPr>
          <a:xfrm>
            <a:off x="640080" y="3730752"/>
            <a:ext cx="155448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FIX</a:t>
            </a:r>
            <a:endParaRPr lang="en-US" sz="1050" dirty="0"/>
          </a:p>
        </p:txBody>
      </p:sp>
      <p:sp>
        <p:nvSpPr>
          <p:cNvPr id="12" name="Text 10"/>
          <p:cNvSpPr txBox="1"/>
          <p:nvPr/>
        </p:nvSpPr>
        <p:spPr>
          <a:xfrm>
            <a:off x="2468880" y="3657600"/>
            <a:ext cx="9052560" cy="914400"/>
          </a:xfrm>
          <a:prstGeom prst="rect">
            <a:avLst/>
          </a:prstGeom>
          <a:noFill/>
          <a:ln/>
        </p:spPr>
        <p:txBody>
          <a:bodyPr wrap="square" lIns="0" tIns="0" rIns="0" bIns="0" rtlCol="0" anchor="t"/>
          <a:lstStyle/>
          <a:p>
            <a:pPr marL="0" indent="0">
              <a:lnSpc>
                <a:spcPts val="1800"/>
              </a:lnSpc>
              <a:buNone/>
            </a:pPr>
            <a:r>
              <a:rPr lang="en-US" sz="1300" dirty="0">
                <a:solidFill>
                  <a:srgbClr val="4A5A69"/>
                </a:solidFill>
                <a:latin typeface="Calibri" pitchFamily="34" charset="0"/>
                <a:ea typeface="Calibri" pitchFamily="34" charset="-122"/>
                <a:cs typeface="Calibri" pitchFamily="34" charset="-120"/>
              </a:rPr>
              <a:t>Two sentences in the router prompt: machine identity, configuration and the fleet list always go to the manuals agent, however technical they sound; diagnostics is only for how a machine is running now.</a:t>
            </a:r>
            <a:endParaRPr lang="en-US" sz="1300" dirty="0"/>
          </a:p>
        </p:txBody>
      </p:sp>
      <p:sp>
        <p:nvSpPr>
          <p:cNvPr id="13" name="Shape 11"/>
          <p:cNvSpPr/>
          <p:nvPr/>
        </p:nvSpPr>
        <p:spPr>
          <a:xfrm>
            <a:off x="640080" y="4782312"/>
            <a:ext cx="1554480" cy="274320"/>
          </a:xfrm>
          <a:prstGeom prst="roundRect">
            <a:avLst>
              <a:gd name="adj" fmla="val 46667"/>
            </a:avLst>
          </a:prstGeom>
          <a:solidFill>
            <a:srgbClr val="2E7D5B"/>
          </a:solidFill>
          <a:ln w="12700">
            <a:solidFill>
              <a:srgbClr val="2E7D5B"/>
            </a:solidFill>
            <a:prstDash val="solid"/>
          </a:ln>
        </p:spPr>
        <p:txBody>
          <a:bodyPr/>
          <a:lstStyle/>
          <a:p>
            <a:endParaRPr lang="en-TR"/>
          </a:p>
        </p:txBody>
      </p:sp>
      <p:sp>
        <p:nvSpPr>
          <p:cNvPr id="14" name="Text 12"/>
          <p:cNvSpPr txBox="1"/>
          <p:nvPr/>
        </p:nvSpPr>
        <p:spPr>
          <a:xfrm>
            <a:off x="640080" y="4782312"/>
            <a:ext cx="155448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RESULT</a:t>
            </a:r>
            <a:endParaRPr lang="en-US" sz="1050" dirty="0"/>
          </a:p>
        </p:txBody>
      </p:sp>
      <p:sp>
        <p:nvSpPr>
          <p:cNvPr id="15" name="Text 13"/>
          <p:cNvSpPr txBox="1"/>
          <p:nvPr/>
        </p:nvSpPr>
        <p:spPr>
          <a:xfrm>
            <a:off x="2468880" y="4709160"/>
            <a:ext cx="9052560" cy="914400"/>
          </a:xfrm>
          <a:prstGeom prst="rect">
            <a:avLst/>
          </a:prstGeom>
          <a:noFill/>
          <a:ln/>
        </p:spPr>
        <p:txBody>
          <a:bodyPr wrap="square" lIns="0" tIns="0" rIns="0" bIns="0" rtlCol="0" anchor="t"/>
          <a:lstStyle/>
          <a:p>
            <a:pPr marL="0" indent="0">
              <a:lnSpc>
                <a:spcPts val="1800"/>
              </a:lnSpc>
              <a:buNone/>
            </a:pPr>
            <a:r>
              <a:rPr lang="en-US" sz="1300" dirty="0">
                <a:solidFill>
                  <a:srgbClr val="4A5A69"/>
                </a:solidFill>
                <a:latin typeface="Calibri" pitchFamily="34" charset="0"/>
                <a:ea typeface="Calibri" pitchFamily="34" charset="-122"/>
                <a:cs typeface="Calibri" pitchFamily="34" charset="-120"/>
              </a:rPr>
              <a:t>36 correct routings out of 36. End to end, the commercial account now gets its answer with page citations instead of a refusal.</a:t>
            </a:r>
            <a:endParaRPr lang="en-US" sz="1300" dirty="0"/>
          </a:p>
        </p:txBody>
      </p:sp>
      <p:sp>
        <p:nvSpPr>
          <p:cNvPr id="16" name="Shape 14"/>
          <p:cNvSpPr/>
          <p:nvPr/>
        </p:nvSpPr>
        <p:spPr>
          <a:xfrm>
            <a:off x="640080" y="5806440"/>
            <a:ext cx="10908792" cy="685800"/>
          </a:xfrm>
          <a:prstGeom prst="roundRect">
            <a:avLst>
              <a:gd name="adj" fmla="val 8000"/>
            </a:avLst>
          </a:prstGeom>
          <a:solidFill>
            <a:srgbClr val="F7F9FB"/>
          </a:solidFill>
          <a:ln w="12700">
            <a:solidFill>
              <a:srgbClr val="D6DEE6"/>
            </a:solidFill>
            <a:prstDash val="solid"/>
          </a:ln>
        </p:spPr>
        <p:txBody>
          <a:bodyPr/>
          <a:lstStyle/>
          <a:p>
            <a:endParaRPr lang="en-TR"/>
          </a:p>
        </p:txBody>
      </p:sp>
      <p:sp>
        <p:nvSpPr>
          <p:cNvPr id="17" name="Text 15"/>
          <p:cNvSpPr txBox="1"/>
          <p:nvPr/>
        </p:nvSpPr>
        <p:spPr>
          <a:xfrm>
            <a:off x="960120" y="5971032"/>
            <a:ext cx="10268712" cy="365760"/>
          </a:xfrm>
          <a:prstGeom prst="rect">
            <a:avLst/>
          </a:prstGeom>
          <a:noFill/>
          <a:ln/>
        </p:spPr>
        <p:txBody>
          <a:bodyPr wrap="square" lIns="0" tIns="0" rIns="0" bIns="0" rtlCol="0" anchor="t"/>
          <a:lstStyle/>
          <a:p>
            <a:pPr marL="0" indent="0">
              <a:buNone/>
            </a:pPr>
            <a:r>
              <a:rPr lang="en-US" sz="1250" dirty="0">
                <a:solidFill>
                  <a:srgbClr val="132030"/>
                </a:solidFill>
                <a:latin typeface="Calibri" pitchFamily="34" charset="0"/>
                <a:ea typeface="Calibri" pitchFamily="34" charset="-122"/>
                <a:cs typeface="Calibri" pitchFamily="34" charset="-120"/>
              </a:rPr>
              <a:t>The error was always on the restrictive side: a wrong refusal, never a leak. It is still a wrong answer, and only repeated measurement exposed it.</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566928"/>
          </a:xfrm>
          <a:prstGeom prst="rect">
            <a:avLst/>
          </a:prstGeom>
          <a:noFill/>
          <a:ln/>
        </p:spPr>
        <p:txBody>
          <a:bodyPr wrap="square" lIns="0" tIns="0" rIns="0" bIns="0" rtlCol="0" anchor="t"/>
          <a:lstStyle/>
          <a:p>
            <a:pPr marL="0" indent="0">
              <a:buNone/>
            </a:pPr>
            <a:r>
              <a:rPr lang="en-US" sz="3200" b="1" dirty="0">
                <a:solidFill>
                  <a:srgbClr val="132030"/>
                </a:solidFill>
                <a:latin typeface="Arial" pitchFamily="34" charset="0"/>
                <a:ea typeface="Arial" pitchFamily="34" charset="-122"/>
                <a:cs typeface="Arial" pitchFamily="34" charset="-120"/>
              </a:rPr>
              <a:t>What we did not build, and why</a:t>
            </a:r>
            <a:endParaRPr lang="en-US" sz="3200" dirty="0"/>
          </a:p>
        </p:txBody>
      </p:sp>
      <p:sp>
        <p:nvSpPr>
          <p:cNvPr id="3" name="Text 1"/>
          <p:cNvSpPr txBox="1"/>
          <p:nvPr/>
        </p:nvSpPr>
        <p:spPr>
          <a:xfrm>
            <a:off x="640080" y="969264"/>
            <a:ext cx="10908792" cy="310896"/>
          </a:xfrm>
          <a:prstGeom prst="rect">
            <a:avLst/>
          </a:prstGeom>
          <a:noFill/>
          <a:ln/>
        </p:spPr>
        <p:txBody>
          <a:bodyPr wrap="square" lIns="0" tIns="0" rIns="0" bIns="0" rtlCol="0" anchor="t"/>
          <a:lstStyle/>
          <a:p>
            <a:pPr marL="0" indent="0">
              <a:buNone/>
            </a:pPr>
            <a:r>
              <a:rPr lang="en-US" sz="1400" dirty="0">
                <a:solidFill>
                  <a:srgbClr val="4A5A69"/>
                </a:solidFill>
                <a:latin typeface="Calibri" pitchFamily="34" charset="0"/>
                <a:ea typeface="Calibri" pitchFamily="34" charset="-122"/>
                <a:cs typeface="Calibri" pitchFamily="34" charset="-120"/>
              </a:rPr>
              <a:t>For each of these we had a reason, and we can explain it.</a:t>
            </a:r>
            <a:endParaRPr lang="en-US" sz="1400" dirty="0"/>
          </a:p>
        </p:txBody>
      </p:sp>
      <p:sp>
        <p:nvSpPr>
          <p:cNvPr id="4" name="Shape 2"/>
          <p:cNvSpPr/>
          <p:nvPr/>
        </p:nvSpPr>
        <p:spPr>
          <a:xfrm>
            <a:off x="640080" y="1554480"/>
            <a:ext cx="5440680" cy="1874520"/>
          </a:xfrm>
          <a:prstGeom prst="roundRect">
            <a:avLst>
              <a:gd name="adj" fmla="val 2927"/>
            </a:avLst>
          </a:prstGeom>
          <a:solidFill>
            <a:srgbClr val="EEF2F6"/>
          </a:solidFill>
          <a:ln w="12700">
            <a:solidFill>
              <a:srgbClr val="D6DEE6"/>
            </a:solidFill>
            <a:prstDash val="solid"/>
          </a:ln>
        </p:spPr>
        <p:txBody>
          <a:bodyPr/>
          <a:lstStyle/>
          <a:p>
            <a:endParaRPr/>
          </a:p>
        </p:txBody>
      </p:sp>
      <p:sp>
        <p:nvSpPr>
          <p:cNvPr id="5" name="Text 3"/>
          <p:cNvSpPr txBox="1"/>
          <p:nvPr/>
        </p:nvSpPr>
        <p:spPr>
          <a:xfrm>
            <a:off x="914400" y="1783080"/>
            <a:ext cx="4846320" cy="292608"/>
          </a:xfrm>
          <a:prstGeom prst="rect">
            <a:avLst/>
          </a:prstGeom>
          <a:noFill/>
          <a:ln/>
        </p:spPr>
        <p:txBody>
          <a:bodyPr wrap="square" lIns="0" tIns="0" rIns="0" bIns="0" rtlCol="0" anchor="t"/>
          <a:lstStyle/>
          <a:p>
            <a:pPr marL="0" indent="0">
              <a:buNone/>
            </a:pPr>
            <a:r>
              <a:rPr lang="en-US" sz="1550" b="1" dirty="0">
                <a:solidFill>
                  <a:srgbClr val="132030"/>
                </a:solidFill>
                <a:latin typeface="Arial" pitchFamily="34" charset="0"/>
                <a:ea typeface="Arial" pitchFamily="34" charset="-122"/>
                <a:cs typeface="Arial" pitchFamily="34" charset="-120"/>
              </a:rPr>
              <a:t>MCP gateway</a:t>
            </a:r>
            <a:endParaRPr lang="en-US" sz="1550" dirty="0"/>
          </a:p>
        </p:txBody>
      </p:sp>
      <p:sp>
        <p:nvSpPr>
          <p:cNvPr id="6" name="Text 4"/>
          <p:cNvSpPr txBox="1"/>
          <p:nvPr/>
        </p:nvSpPr>
        <p:spPr>
          <a:xfrm>
            <a:off x="914400" y="2176272"/>
            <a:ext cx="4937760" cy="1097280"/>
          </a:xfrm>
          <a:prstGeom prst="rect">
            <a:avLst/>
          </a:prstGeom>
          <a:noFill/>
          <a:ln/>
        </p:spPr>
        <p:txBody>
          <a:bodyPr wrap="square" lIns="0" tIns="0" rIns="0" bIns="0" rtlCol="0" anchor="t"/>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MCP turns tools into a service shared by several clients. With one client it adds a network hop and nothing else. AROL confirmed that the separation between orchestrator, agents and tools matters more than a full MCP server, and that documenting the decision is acceptable.</a:t>
            </a:r>
            <a:endParaRPr lang="en-US" sz="1250" dirty="0"/>
          </a:p>
        </p:txBody>
      </p:sp>
      <p:sp>
        <p:nvSpPr>
          <p:cNvPr id="7" name="Shape 5"/>
          <p:cNvSpPr/>
          <p:nvPr/>
        </p:nvSpPr>
        <p:spPr>
          <a:xfrm>
            <a:off x="6400800" y="1554480"/>
            <a:ext cx="5440680" cy="1874520"/>
          </a:xfrm>
          <a:prstGeom prst="roundRect">
            <a:avLst>
              <a:gd name="adj" fmla="val 2927"/>
            </a:avLst>
          </a:prstGeom>
          <a:solidFill>
            <a:srgbClr val="EEF2F6"/>
          </a:solidFill>
          <a:ln w="12700">
            <a:solidFill>
              <a:srgbClr val="D6DEE6"/>
            </a:solidFill>
            <a:prstDash val="solid"/>
          </a:ln>
        </p:spPr>
        <p:txBody>
          <a:bodyPr/>
          <a:lstStyle/>
          <a:p>
            <a:endParaRPr/>
          </a:p>
        </p:txBody>
      </p:sp>
      <p:sp>
        <p:nvSpPr>
          <p:cNvPr id="8" name="Text 6"/>
          <p:cNvSpPr txBox="1"/>
          <p:nvPr/>
        </p:nvSpPr>
        <p:spPr>
          <a:xfrm>
            <a:off x="6675120" y="1783080"/>
            <a:ext cx="4846320" cy="292608"/>
          </a:xfrm>
          <a:prstGeom prst="rect">
            <a:avLst/>
          </a:prstGeom>
          <a:noFill/>
          <a:ln/>
        </p:spPr>
        <p:txBody>
          <a:bodyPr wrap="square" lIns="0" tIns="0" rIns="0" bIns="0" rtlCol="0" anchor="t"/>
          <a:lstStyle/>
          <a:p>
            <a:pPr marL="0" indent="0">
              <a:buNone/>
            </a:pPr>
            <a:r>
              <a:rPr lang="en-US" sz="1550" b="1" dirty="0">
                <a:solidFill>
                  <a:srgbClr val="132030"/>
                </a:solidFill>
                <a:latin typeface="Arial" pitchFamily="34" charset="0"/>
                <a:ea typeface="Arial" pitchFamily="34" charset="-122"/>
                <a:cs typeface="Arial" pitchFamily="34" charset="-120"/>
              </a:rPr>
              <a:t>Agent framework</a:t>
            </a:r>
            <a:endParaRPr lang="en-US" sz="1550" dirty="0"/>
          </a:p>
        </p:txBody>
      </p:sp>
      <p:sp>
        <p:nvSpPr>
          <p:cNvPr id="9" name="Text 7"/>
          <p:cNvSpPr txBox="1"/>
          <p:nvPr/>
        </p:nvSpPr>
        <p:spPr>
          <a:xfrm>
            <a:off x="6675120" y="2176272"/>
            <a:ext cx="4937760" cy="1097280"/>
          </a:xfrm>
          <a:prstGeom prst="rect">
            <a:avLst/>
          </a:prstGeom>
          <a:noFill/>
          <a:ln/>
        </p:spPr>
        <p:txBody>
          <a:bodyPr wrap="square" lIns="0" tIns="0" rIns="0" bIns="0" rtlCol="0" anchor="t"/>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LangGraph or AutoGen would run a graph that, for us, is a single edge: route -&gt; check -&gt; agent loop. 190 lines we can read and explain, instead of an abstraction layer.</a:t>
            </a:r>
            <a:endParaRPr lang="en-US" sz="1250" dirty="0"/>
          </a:p>
        </p:txBody>
      </p:sp>
      <p:sp>
        <p:nvSpPr>
          <p:cNvPr id="10" name="Shape 8"/>
          <p:cNvSpPr/>
          <p:nvPr/>
        </p:nvSpPr>
        <p:spPr>
          <a:xfrm>
            <a:off x="640080" y="3657600"/>
            <a:ext cx="5440680" cy="1874520"/>
          </a:xfrm>
          <a:prstGeom prst="roundRect">
            <a:avLst>
              <a:gd name="adj" fmla="val 2927"/>
            </a:avLst>
          </a:prstGeom>
          <a:solidFill>
            <a:srgbClr val="EEF2F6"/>
          </a:solidFill>
          <a:ln w="12700">
            <a:solidFill>
              <a:srgbClr val="D6DEE6"/>
            </a:solidFill>
            <a:prstDash val="solid"/>
          </a:ln>
        </p:spPr>
        <p:txBody>
          <a:bodyPr/>
          <a:lstStyle/>
          <a:p>
            <a:endParaRPr/>
          </a:p>
        </p:txBody>
      </p:sp>
      <p:sp>
        <p:nvSpPr>
          <p:cNvPr id="11" name="Text 9"/>
          <p:cNvSpPr txBox="1"/>
          <p:nvPr/>
        </p:nvSpPr>
        <p:spPr>
          <a:xfrm>
            <a:off x="914400" y="3886200"/>
            <a:ext cx="4846320" cy="292608"/>
          </a:xfrm>
          <a:prstGeom prst="rect">
            <a:avLst/>
          </a:prstGeom>
          <a:noFill/>
          <a:ln/>
        </p:spPr>
        <p:txBody>
          <a:bodyPr wrap="square" lIns="0" tIns="0" rIns="0" bIns="0" rtlCol="0" anchor="t"/>
          <a:lstStyle/>
          <a:p>
            <a:pPr marL="0" indent="0">
              <a:buNone/>
            </a:pPr>
            <a:r>
              <a:rPr lang="en-US" sz="1550" b="1" dirty="0">
                <a:solidFill>
                  <a:srgbClr val="132030"/>
                </a:solidFill>
                <a:latin typeface="Arial" pitchFamily="34" charset="0"/>
                <a:ea typeface="Arial" pitchFamily="34" charset="-122"/>
                <a:cs typeface="Arial" pitchFamily="34" charset="-120"/>
              </a:rPr>
              <a:t>Streaming answers</a:t>
            </a:r>
            <a:endParaRPr lang="en-US" sz="1550" dirty="0"/>
          </a:p>
        </p:txBody>
      </p:sp>
      <p:sp>
        <p:nvSpPr>
          <p:cNvPr id="12" name="Text 10"/>
          <p:cNvSpPr txBox="1"/>
          <p:nvPr/>
        </p:nvSpPr>
        <p:spPr>
          <a:xfrm>
            <a:off x="914400" y="4279392"/>
            <a:ext cx="4937760" cy="1097280"/>
          </a:xfrm>
          <a:prstGeom prst="rect">
            <a:avLst/>
          </a:prstGeom>
          <a:noFill/>
          <a:ln/>
        </p:spPr>
        <p:txBody>
          <a:bodyPr wrap="square" lIns="0" tIns="0" rIns="0" bIns="0" rtlCol="0" anchor="t"/>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The UI shows "the agents are working", then the complete answer. Streaming changes the transport, not the architecture.</a:t>
            </a:r>
            <a:endParaRPr lang="en-US" sz="1250" dirty="0"/>
          </a:p>
        </p:txBody>
      </p:sp>
      <p:sp>
        <p:nvSpPr>
          <p:cNvPr id="13" name="Shape 11"/>
          <p:cNvSpPr/>
          <p:nvPr/>
        </p:nvSpPr>
        <p:spPr>
          <a:xfrm>
            <a:off x="6400800" y="3657600"/>
            <a:ext cx="5440680" cy="1874520"/>
          </a:xfrm>
          <a:prstGeom prst="roundRect">
            <a:avLst>
              <a:gd name="adj" fmla="val 2927"/>
            </a:avLst>
          </a:prstGeom>
          <a:solidFill>
            <a:srgbClr val="EEF2F6"/>
          </a:solidFill>
          <a:ln w="12700">
            <a:solidFill>
              <a:srgbClr val="D6DEE6"/>
            </a:solidFill>
            <a:prstDash val="solid"/>
          </a:ln>
        </p:spPr>
        <p:txBody>
          <a:bodyPr/>
          <a:lstStyle/>
          <a:p>
            <a:endParaRPr/>
          </a:p>
        </p:txBody>
      </p:sp>
      <p:sp>
        <p:nvSpPr>
          <p:cNvPr id="14" name="Text 12"/>
          <p:cNvSpPr txBox="1"/>
          <p:nvPr/>
        </p:nvSpPr>
        <p:spPr>
          <a:xfrm>
            <a:off x="6675120" y="3886200"/>
            <a:ext cx="4846320" cy="292608"/>
          </a:xfrm>
          <a:prstGeom prst="rect">
            <a:avLst/>
          </a:prstGeom>
          <a:noFill/>
          <a:ln/>
        </p:spPr>
        <p:txBody>
          <a:bodyPr wrap="square" lIns="0" tIns="0" rIns="0" bIns="0" rtlCol="0" anchor="t"/>
          <a:lstStyle/>
          <a:p>
            <a:pPr marL="0" indent="0">
              <a:buNone/>
            </a:pPr>
            <a:r>
              <a:rPr lang="en-US" sz="1550" b="1" dirty="0">
                <a:solidFill>
                  <a:srgbClr val="132030"/>
                </a:solidFill>
                <a:latin typeface="Arial" pitchFamily="34" charset="0"/>
                <a:ea typeface="Arial" pitchFamily="34" charset="-122"/>
                <a:cs typeface="Arial" pitchFamily="34" charset="-120"/>
              </a:rPr>
              <a:t>Microservices</a:t>
            </a:r>
            <a:endParaRPr lang="en-US" sz="1550" dirty="0"/>
          </a:p>
        </p:txBody>
      </p:sp>
      <p:sp>
        <p:nvSpPr>
          <p:cNvPr id="15" name="Text 13"/>
          <p:cNvSpPr txBox="1"/>
          <p:nvPr/>
        </p:nvSpPr>
        <p:spPr>
          <a:xfrm>
            <a:off x="6675120" y="4279392"/>
            <a:ext cx="4937760" cy="1097280"/>
          </a:xfrm>
          <a:prstGeom prst="rect">
            <a:avLst/>
          </a:prstGeom>
          <a:noFill/>
          <a:ln/>
        </p:spPr>
        <p:txBody>
          <a:bodyPr wrap="square" lIns="0" tIns="0" rIns="0" bIns="0" rtlCol="0" anchor="t"/>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Two processes and a model API. Splitting 1,100 lines into services would add operational complexity with no measurable benefit at this data size.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08792" cy="566928"/>
          </a:xfrm>
          <a:prstGeom prst="rect">
            <a:avLst/>
          </a:prstGeom>
          <a:noFill/>
          <a:ln/>
        </p:spPr>
        <p:txBody>
          <a:bodyPr wrap="square" lIns="0" tIns="0" rIns="0" bIns="0" rtlCol="0" anchor="t"/>
          <a:lstStyle/>
          <a:p>
            <a:pPr marL="0" indent="0">
              <a:buNone/>
            </a:pPr>
            <a:r>
              <a:rPr lang="en-US" sz="3200" b="1" dirty="0">
                <a:solidFill>
                  <a:srgbClr val="132030"/>
                </a:solidFill>
                <a:latin typeface="Arial" pitchFamily="34" charset="0"/>
                <a:ea typeface="Arial" pitchFamily="34" charset="-122"/>
                <a:cs typeface="Arial" pitchFamily="34" charset="-120"/>
              </a:rPr>
              <a:t>Limits and next steps</a:t>
            </a:r>
            <a:endParaRPr lang="en-US" sz="3200" dirty="0"/>
          </a:p>
        </p:txBody>
      </p:sp>
      <p:sp>
        <p:nvSpPr>
          <p:cNvPr id="3" name="Text 1"/>
          <p:cNvSpPr txBox="1"/>
          <p:nvPr/>
        </p:nvSpPr>
        <p:spPr>
          <a:xfrm>
            <a:off x="640080" y="969264"/>
            <a:ext cx="10908792" cy="310896"/>
          </a:xfrm>
          <a:prstGeom prst="rect">
            <a:avLst/>
          </a:prstGeom>
          <a:noFill/>
          <a:ln/>
        </p:spPr>
        <p:txBody>
          <a:bodyPr wrap="square" lIns="0" tIns="0" rIns="0" bIns="0" rtlCol="0" anchor="t"/>
          <a:lstStyle/>
          <a:p>
            <a:pPr marL="0" indent="0">
              <a:buNone/>
            </a:pPr>
            <a:r>
              <a:rPr lang="en-US" sz="1400" dirty="0">
                <a:solidFill>
                  <a:srgbClr val="4A5A69"/>
                </a:solidFill>
                <a:latin typeface="Calibri" pitchFamily="34" charset="0"/>
                <a:ea typeface="Calibri" pitchFamily="34" charset="-122"/>
                <a:cs typeface="Calibri" pitchFamily="34" charset="-120"/>
              </a:rPr>
              <a:t>What we measured, what AROL confirmed, and where the boundaries are.</a:t>
            </a:r>
            <a:endParaRPr lang="en-US" sz="1400" dirty="0"/>
          </a:p>
        </p:txBody>
      </p:sp>
      <p:sp>
        <p:nvSpPr>
          <p:cNvPr id="4" name="Shape 2"/>
          <p:cNvSpPr/>
          <p:nvPr/>
        </p:nvSpPr>
        <p:spPr>
          <a:xfrm>
            <a:off x="640080" y="1554480"/>
            <a:ext cx="3566160" cy="3383280"/>
          </a:xfrm>
          <a:prstGeom prst="roundRect">
            <a:avLst>
              <a:gd name="adj" fmla="val 1622"/>
            </a:avLst>
          </a:prstGeom>
          <a:solidFill>
            <a:srgbClr val="EEF2F6"/>
          </a:solidFill>
          <a:ln w="12700">
            <a:solidFill>
              <a:srgbClr val="D6DEE6"/>
            </a:solidFill>
            <a:prstDash val="solid"/>
          </a:ln>
        </p:spPr>
        <p:txBody>
          <a:bodyPr/>
          <a:lstStyle/>
          <a:p>
            <a:endParaRPr lang="en-TR"/>
          </a:p>
        </p:txBody>
      </p:sp>
      <p:sp>
        <p:nvSpPr>
          <p:cNvPr id="5" name="Shape 3"/>
          <p:cNvSpPr/>
          <p:nvPr/>
        </p:nvSpPr>
        <p:spPr>
          <a:xfrm>
            <a:off x="868680" y="1783080"/>
            <a:ext cx="2377440" cy="274320"/>
          </a:xfrm>
          <a:prstGeom prst="roundRect">
            <a:avLst>
              <a:gd name="adj" fmla="val 46667"/>
            </a:avLst>
          </a:prstGeom>
          <a:solidFill>
            <a:srgbClr val="2E7D5B"/>
          </a:solidFill>
          <a:ln w="12700">
            <a:solidFill>
              <a:srgbClr val="2E7D5B"/>
            </a:solidFill>
            <a:prstDash val="solid"/>
          </a:ln>
        </p:spPr>
        <p:txBody>
          <a:bodyPr/>
          <a:lstStyle/>
          <a:p>
            <a:endParaRPr lang="en-TR"/>
          </a:p>
        </p:txBody>
      </p:sp>
      <p:sp>
        <p:nvSpPr>
          <p:cNvPr id="6" name="Text 4"/>
          <p:cNvSpPr txBox="1"/>
          <p:nvPr/>
        </p:nvSpPr>
        <p:spPr>
          <a:xfrm>
            <a:off x="868680" y="1783080"/>
            <a:ext cx="237744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Measured, not promised</a:t>
            </a:r>
            <a:endParaRPr lang="en-US" sz="1050" dirty="0"/>
          </a:p>
        </p:txBody>
      </p:sp>
      <p:sp>
        <p:nvSpPr>
          <p:cNvPr id="7" name="Text 5"/>
          <p:cNvSpPr txBox="1"/>
          <p:nvPr/>
        </p:nvSpPr>
        <p:spPr>
          <a:xfrm>
            <a:off x="868680" y="2286000"/>
            <a:ext cx="3127248" cy="822960"/>
          </a:xfrm>
          <a:prstGeom prst="rect">
            <a:avLst/>
          </a:prstGeom>
          <a:noFill/>
          <a:ln/>
        </p:spPr>
        <p:txBody>
          <a:bodyPr wrap="square" lIns="0" tIns="0" rIns="0" bIns="0" rtlCol="0" anchor="ctr"/>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  TF-IDF vs embeddings on 12 manual questions: 0.58 vs 0.67 hit@3, and the split by wording on the retrieval slide</a:t>
            </a:r>
            <a:endParaRPr lang="en-US" sz="1250" dirty="0"/>
          </a:p>
        </p:txBody>
      </p:sp>
      <p:sp>
        <p:nvSpPr>
          <p:cNvPr id="8" name="Text 6"/>
          <p:cNvSpPr txBox="1"/>
          <p:nvPr/>
        </p:nvSpPr>
        <p:spPr>
          <a:xfrm>
            <a:off x="868680" y="3154680"/>
            <a:ext cx="3127248" cy="822960"/>
          </a:xfrm>
          <a:prstGeom prst="rect">
            <a:avLst/>
          </a:prstGeom>
          <a:noFill/>
          <a:ln/>
        </p:spPr>
        <p:txBody>
          <a:bodyPr wrap="square" lIns="0" tIns="0" rIns="0" bIns="0" rtlCol="0" anchor="ctr"/>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  on a public benchmark (BEIR / SciFact): nDCG@10 0.628 vs 0.645, our harness reproducing the published 0.645 exactly</a:t>
            </a:r>
            <a:endParaRPr lang="en-US" sz="1250" dirty="0"/>
          </a:p>
        </p:txBody>
      </p:sp>
      <p:sp>
        <p:nvSpPr>
          <p:cNvPr id="9" name="Text 7"/>
          <p:cNvSpPr txBox="1"/>
          <p:nvPr/>
        </p:nvSpPr>
        <p:spPr>
          <a:xfrm>
            <a:off x="868680" y="4023360"/>
            <a:ext cx="3127248" cy="822960"/>
          </a:xfrm>
          <a:prstGeom prst="rect">
            <a:avLst/>
          </a:prstGeom>
          <a:noFill/>
          <a:ln/>
        </p:spPr>
        <p:txBody>
          <a:bodyPr wrap="square" lIns="0" tIns="0" rIns="0" bIns="0" rtlCol="0" anchor="ctr"/>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  next: a hybrid retriever, and smaller chunks for the dense maintenance tables</a:t>
            </a:r>
            <a:endParaRPr lang="en-US" sz="1250" dirty="0"/>
          </a:p>
        </p:txBody>
      </p:sp>
      <p:sp>
        <p:nvSpPr>
          <p:cNvPr id="10" name="Shape 8"/>
          <p:cNvSpPr/>
          <p:nvPr/>
        </p:nvSpPr>
        <p:spPr>
          <a:xfrm>
            <a:off x="4398264" y="1554480"/>
            <a:ext cx="3566160" cy="3383280"/>
          </a:xfrm>
          <a:prstGeom prst="roundRect">
            <a:avLst>
              <a:gd name="adj" fmla="val 1622"/>
            </a:avLst>
          </a:prstGeom>
          <a:solidFill>
            <a:srgbClr val="EEF2F6"/>
          </a:solidFill>
          <a:ln w="12700">
            <a:solidFill>
              <a:srgbClr val="D6DEE6"/>
            </a:solidFill>
            <a:prstDash val="solid"/>
          </a:ln>
        </p:spPr>
        <p:txBody>
          <a:bodyPr/>
          <a:lstStyle/>
          <a:p>
            <a:endParaRPr lang="en-TR"/>
          </a:p>
        </p:txBody>
      </p:sp>
      <p:sp>
        <p:nvSpPr>
          <p:cNvPr id="11" name="Shape 9"/>
          <p:cNvSpPr/>
          <p:nvPr/>
        </p:nvSpPr>
        <p:spPr>
          <a:xfrm>
            <a:off x="4626864" y="1783080"/>
            <a:ext cx="2377440" cy="274320"/>
          </a:xfrm>
          <a:prstGeom prst="roundRect">
            <a:avLst>
              <a:gd name="adj" fmla="val 46667"/>
            </a:avLst>
          </a:prstGeom>
          <a:solidFill>
            <a:srgbClr val="E09A2B"/>
          </a:solidFill>
          <a:ln w="12700">
            <a:solidFill>
              <a:srgbClr val="E09A2B"/>
            </a:solidFill>
            <a:prstDash val="solid"/>
          </a:ln>
        </p:spPr>
        <p:txBody>
          <a:bodyPr/>
          <a:lstStyle/>
          <a:p>
            <a:endParaRPr lang="en-TR"/>
          </a:p>
        </p:txBody>
      </p:sp>
      <p:sp>
        <p:nvSpPr>
          <p:cNvPr id="12" name="Text 10"/>
          <p:cNvSpPr txBox="1"/>
          <p:nvPr/>
        </p:nvSpPr>
        <p:spPr>
          <a:xfrm>
            <a:off x="4626864" y="1783080"/>
            <a:ext cx="237744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Confirmed with AROL</a:t>
            </a:r>
            <a:endParaRPr lang="en-US" sz="1050" dirty="0"/>
          </a:p>
        </p:txBody>
      </p:sp>
      <p:sp>
        <p:nvSpPr>
          <p:cNvPr id="13" name="Text 11"/>
          <p:cNvSpPr txBox="1"/>
          <p:nvPr/>
        </p:nvSpPr>
        <p:spPr>
          <a:xfrm>
            <a:off x="4626864" y="2286000"/>
            <a:ext cx="3127248" cy="822960"/>
          </a:xfrm>
          <a:prstGeom prst="rect">
            <a:avLst/>
          </a:prstGeom>
          <a:noFill/>
          <a:ln/>
        </p:spPr>
        <p:txBody>
          <a:bodyPr wrap="square" lIns="0" tIns="0" rIns="0" bIns="0" rtlCol="0" anchor="ctr"/>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  accumulated running hours are to be treated as unavailable, not estimated, so the assistant says so and quotes the interval from the manual</a:t>
            </a:r>
            <a:endParaRPr lang="en-US" sz="1250" dirty="0"/>
          </a:p>
        </p:txBody>
      </p:sp>
      <p:sp>
        <p:nvSpPr>
          <p:cNvPr id="14" name="Text 12"/>
          <p:cNvSpPr txBox="1"/>
          <p:nvPr/>
        </p:nvSpPr>
        <p:spPr>
          <a:xfrm>
            <a:off x="4626864" y="3154680"/>
            <a:ext cx="3127248" cy="822960"/>
          </a:xfrm>
          <a:prstGeom prst="rect">
            <a:avLst/>
          </a:prstGeom>
          <a:noFill/>
          <a:ln/>
        </p:spPr>
        <p:txBody>
          <a:bodyPr wrap="square" lIns="0" tIns="0" rIns="0" bIns="0" rtlCol="0" anchor="ctr"/>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  reading the hourly telemetry table is sufficient; a simulated live stream is out of scope</a:t>
            </a:r>
            <a:endParaRPr lang="en-US" sz="1250" dirty="0"/>
          </a:p>
        </p:txBody>
      </p:sp>
      <p:sp>
        <p:nvSpPr>
          <p:cNvPr id="15" name="Text 13"/>
          <p:cNvSpPr txBox="1"/>
          <p:nvPr/>
        </p:nvSpPr>
        <p:spPr>
          <a:xfrm>
            <a:off x="4626864" y="4023360"/>
            <a:ext cx="3127248" cy="822960"/>
          </a:xfrm>
          <a:prstGeom prst="rect">
            <a:avLst/>
          </a:prstGeom>
          <a:noFill/>
          <a:ln/>
        </p:spPr>
        <p:txBody>
          <a:bodyPr wrap="square" lIns="0" tIns="0" rIns="0" bIns="0" rtlCol="0" anchor="ctr"/>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  no contracts domain in the dataset, and permissions come before a more complete answer</a:t>
            </a:r>
            <a:endParaRPr lang="en-US" sz="1250" dirty="0"/>
          </a:p>
        </p:txBody>
      </p:sp>
      <p:sp>
        <p:nvSpPr>
          <p:cNvPr id="16" name="Shape 14"/>
          <p:cNvSpPr/>
          <p:nvPr/>
        </p:nvSpPr>
        <p:spPr>
          <a:xfrm>
            <a:off x="8156448" y="1554480"/>
            <a:ext cx="3566160" cy="3383280"/>
          </a:xfrm>
          <a:prstGeom prst="roundRect">
            <a:avLst>
              <a:gd name="adj" fmla="val 1622"/>
            </a:avLst>
          </a:prstGeom>
          <a:solidFill>
            <a:srgbClr val="EEF2F6"/>
          </a:solidFill>
          <a:ln w="12700">
            <a:solidFill>
              <a:srgbClr val="D6DEE6"/>
            </a:solidFill>
            <a:prstDash val="solid"/>
          </a:ln>
        </p:spPr>
        <p:txBody>
          <a:bodyPr/>
          <a:lstStyle/>
          <a:p>
            <a:endParaRPr lang="en-TR"/>
          </a:p>
        </p:txBody>
      </p:sp>
      <p:sp>
        <p:nvSpPr>
          <p:cNvPr id="17" name="Shape 15"/>
          <p:cNvSpPr/>
          <p:nvPr/>
        </p:nvSpPr>
        <p:spPr>
          <a:xfrm>
            <a:off x="8385048" y="1783080"/>
            <a:ext cx="2377440" cy="274320"/>
          </a:xfrm>
          <a:prstGeom prst="roundRect">
            <a:avLst>
              <a:gd name="adj" fmla="val 46667"/>
            </a:avLst>
          </a:prstGeom>
          <a:solidFill>
            <a:srgbClr val="4A5A69"/>
          </a:solidFill>
          <a:ln w="12700">
            <a:solidFill>
              <a:srgbClr val="4A5A69"/>
            </a:solidFill>
            <a:prstDash val="solid"/>
          </a:ln>
        </p:spPr>
        <p:txBody>
          <a:bodyPr/>
          <a:lstStyle/>
          <a:p>
            <a:endParaRPr lang="en-TR"/>
          </a:p>
        </p:txBody>
      </p:sp>
      <p:sp>
        <p:nvSpPr>
          <p:cNvPr id="18" name="Text 16"/>
          <p:cNvSpPr txBox="1"/>
          <p:nvPr/>
        </p:nvSpPr>
        <p:spPr>
          <a:xfrm>
            <a:off x="8385048" y="1783080"/>
            <a:ext cx="237744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Known limits</a:t>
            </a:r>
            <a:endParaRPr lang="en-US" sz="1050" dirty="0"/>
          </a:p>
        </p:txBody>
      </p:sp>
      <p:sp>
        <p:nvSpPr>
          <p:cNvPr id="19" name="Text 17"/>
          <p:cNvSpPr txBox="1"/>
          <p:nvPr/>
        </p:nvSpPr>
        <p:spPr>
          <a:xfrm>
            <a:off x="8385048" y="2286000"/>
            <a:ext cx="3127248" cy="822960"/>
          </a:xfrm>
          <a:prstGeom prst="rect">
            <a:avLst/>
          </a:prstGeom>
          <a:noFill/>
          <a:ln/>
        </p:spPr>
        <p:txBody>
          <a:bodyPr wrap="square" lIns="0" tIns="0" rIns="0" bIns="0" rtlCol="0" anchor="ctr"/>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  one question is answered by one agent; two domains need two turns</a:t>
            </a:r>
            <a:endParaRPr lang="en-US" sz="1250" dirty="0"/>
          </a:p>
        </p:txBody>
      </p:sp>
      <p:sp>
        <p:nvSpPr>
          <p:cNvPr id="20" name="Text 18"/>
          <p:cNvSpPr txBox="1"/>
          <p:nvPr/>
        </p:nvSpPr>
        <p:spPr>
          <a:xfrm>
            <a:off x="8385048" y="3154680"/>
            <a:ext cx="3127248" cy="822960"/>
          </a:xfrm>
          <a:prstGeom prst="rect">
            <a:avLst/>
          </a:prstGeom>
          <a:noFill/>
          <a:ln/>
        </p:spPr>
        <p:txBody>
          <a:bodyPr wrap="square" lIns="0" tIns="0" rIns="0" bIns="0" rtlCol="0" anchor="ctr"/>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  TF-IDF does not match paraphrases</a:t>
            </a:r>
            <a:endParaRPr lang="en-US" sz="1250" dirty="0"/>
          </a:p>
        </p:txBody>
      </p:sp>
      <p:sp>
        <p:nvSpPr>
          <p:cNvPr id="21" name="Text 19"/>
          <p:cNvSpPr txBox="1"/>
          <p:nvPr/>
        </p:nvSpPr>
        <p:spPr>
          <a:xfrm>
            <a:off x="8385048" y="4023360"/>
            <a:ext cx="3127248" cy="822960"/>
          </a:xfrm>
          <a:prstGeom prst="rect">
            <a:avLst/>
          </a:prstGeom>
          <a:noFill/>
          <a:ln/>
        </p:spPr>
        <p:txBody>
          <a:bodyPr wrap="square" lIns="0" tIns="0" rIns="0" bIns="0" rtlCol="0" anchor="ctr"/>
          <a:lstStyle/>
          <a:p>
            <a:pPr marL="0" indent="0">
              <a:lnSpc>
                <a:spcPts val="1700"/>
              </a:lnSpc>
              <a:buNone/>
            </a:pPr>
            <a:r>
              <a:rPr lang="en-US" sz="1250" dirty="0">
                <a:solidFill>
                  <a:srgbClr val="4A5A69"/>
                </a:solidFill>
                <a:latin typeface="Calibri" pitchFamily="34" charset="0"/>
                <a:ea typeface="Calibri" pitchFamily="34" charset="-122"/>
                <a:cs typeface="Calibri" pitchFamily="34" charset="-120"/>
              </a:rPr>
              <a:t>·  answers depend on a hosted model and its free-tier rate limit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132030"/>
        </a:solidFill>
        <a:effectLst/>
      </p:bgPr>
    </p:bg>
    <p:spTree>
      <p:nvGrpSpPr>
        <p:cNvPr id="1" name=""/>
        <p:cNvGrpSpPr/>
        <p:nvPr/>
      </p:nvGrpSpPr>
      <p:grpSpPr>
        <a:xfrm>
          <a:off x="0" y="0"/>
          <a:ext cx="0" cy="0"/>
          <a:chOff x="0" y="0"/>
          <a:chExt cx="0" cy="0"/>
        </a:xfrm>
      </p:grpSpPr>
      <p:sp>
        <p:nvSpPr>
          <p:cNvPr id="2" name="Text 0"/>
          <p:cNvSpPr txBox="1"/>
          <p:nvPr/>
        </p:nvSpPr>
        <p:spPr>
          <a:xfrm>
            <a:off x="640080" y="1371600"/>
            <a:ext cx="10908792" cy="73152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Three things to take away</a:t>
            </a:r>
            <a:endParaRPr lang="en-US" sz="3400" dirty="0"/>
          </a:p>
        </p:txBody>
      </p:sp>
      <p:sp>
        <p:nvSpPr>
          <p:cNvPr id="3" name="Shape 1"/>
          <p:cNvSpPr/>
          <p:nvPr/>
        </p:nvSpPr>
        <p:spPr>
          <a:xfrm>
            <a:off x="640080" y="2423160"/>
            <a:ext cx="3566160" cy="2011680"/>
          </a:xfrm>
          <a:prstGeom prst="roundRect">
            <a:avLst>
              <a:gd name="adj" fmla="val 2727"/>
            </a:avLst>
          </a:prstGeom>
          <a:solidFill>
            <a:srgbClr val="1D3145"/>
          </a:solidFill>
          <a:ln w="12700">
            <a:solidFill>
              <a:srgbClr val="2C4359"/>
            </a:solidFill>
            <a:prstDash val="solid"/>
          </a:ln>
        </p:spPr>
        <p:txBody>
          <a:bodyPr/>
          <a:lstStyle/>
          <a:p>
            <a:endParaRPr/>
          </a:p>
        </p:txBody>
      </p:sp>
      <p:sp>
        <p:nvSpPr>
          <p:cNvPr id="4" name="Shape 2"/>
          <p:cNvSpPr/>
          <p:nvPr/>
        </p:nvSpPr>
        <p:spPr>
          <a:xfrm>
            <a:off x="914400" y="2651760"/>
            <a:ext cx="347472" cy="347472"/>
          </a:xfrm>
          <a:prstGeom prst="ellipse">
            <a:avLst/>
          </a:prstGeom>
          <a:solidFill>
            <a:srgbClr val="E09A2B"/>
          </a:solidFill>
          <a:ln w="12700">
            <a:solidFill>
              <a:srgbClr val="E09A2B"/>
            </a:solidFill>
            <a:prstDash val="solid"/>
          </a:ln>
        </p:spPr>
        <p:txBody>
          <a:bodyPr/>
          <a:lstStyle/>
          <a:p>
            <a:endParaRPr/>
          </a:p>
        </p:txBody>
      </p:sp>
      <p:sp>
        <p:nvSpPr>
          <p:cNvPr id="5" name="Text 3"/>
          <p:cNvSpPr txBox="1"/>
          <p:nvPr/>
        </p:nvSpPr>
        <p:spPr>
          <a:xfrm>
            <a:off x="914400" y="265176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914400" y="3108960"/>
            <a:ext cx="3017520" cy="5486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Access control shaped the architecture</a:t>
            </a:r>
            <a:endParaRPr lang="en-US" sz="1500" dirty="0"/>
          </a:p>
        </p:txBody>
      </p:sp>
      <p:sp>
        <p:nvSpPr>
          <p:cNvPr id="7" name="Text 5"/>
          <p:cNvSpPr txBox="1"/>
          <p:nvPr/>
        </p:nvSpPr>
        <p:spPr>
          <a:xfrm>
            <a:off x="914400" y="3611880"/>
            <a:ext cx="3063240" cy="731520"/>
          </a:xfrm>
          <a:prstGeom prst="rect">
            <a:avLst/>
          </a:prstGeom>
          <a:noFill/>
          <a:ln/>
        </p:spPr>
        <p:txBody>
          <a:bodyPr wrap="square" lIns="0" tIns="0" rIns="0" bIns="0" rtlCol="0" anchor="ctr"/>
          <a:lstStyle/>
          <a:p>
            <a:pPr marL="0" indent="0">
              <a:lnSpc>
                <a:spcPts val="1600"/>
              </a:lnSpc>
              <a:buNone/>
            </a:pPr>
            <a:r>
              <a:rPr lang="en-US" sz="1200" dirty="0">
                <a:solidFill>
                  <a:srgbClr val="AEBECC"/>
                </a:solidFill>
                <a:latin typeface="Calibri" pitchFamily="34" charset="0"/>
                <a:ea typeface="Calibri" pitchFamily="34" charset="-122"/>
                <a:cs typeface="Calibri" pitchFamily="34" charset="-120"/>
              </a:rPr>
              <a:t>One agent per data domain makes the routing decision and the permission decision the same decision.</a:t>
            </a:r>
            <a:endParaRPr lang="en-US" sz="1200" dirty="0"/>
          </a:p>
        </p:txBody>
      </p:sp>
      <p:sp>
        <p:nvSpPr>
          <p:cNvPr id="8" name="Shape 6"/>
          <p:cNvSpPr/>
          <p:nvPr/>
        </p:nvSpPr>
        <p:spPr>
          <a:xfrm>
            <a:off x="4398264" y="2423160"/>
            <a:ext cx="3566160" cy="2011680"/>
          </a:xfrm>
          <a:prstGeom prst="roundRect">
            <a:avLst>
              <a:gd name="adj" fmla="val 2727"/>
            </a:avLst>
          </a:prstGeom>
          <a:solidFill>
            <a:srgbClr val="1D3145"/>
          </a:solidFill>
          <a:ln w="12700">
            <a:solidFill>
              <a:srgbClr val="2C4359"/>
            </a:solidFill>
            <a:prstDash val="solid"/>
          </a:ln>
        </p:spPr>
        <p:txBody>
          <a:bodyPr/>
          <a:lstStyle/>
          <a:p>
            <a:endParaRPr/>
          </a:p>
        </p:txBody>
      </p:sp>
      <p:sp>
        <p:nvSpPr>
          <p:cNvPr id="9" name="Shape 7"/>
          <p:cNvSpPr/>
          <p:nvPr/>
        </p:nvSpPr>
        <p:spPr>
          <a:xfrm>
            <a:off x="4672584" y="2651760"/>
            <a:ext cx="347472" cy="347472"/>
          </a:xfrm>
          <a:prstGeom prst="ellipse">
            <a:avLst/>
          </a:prstGeom>
          <a:solidFill>
            <a:srgbClr val="E09A2B"/>
          </a:solidFill>
          <a:ln w="12700">
            <a:solidFill>
              <a:srgbClr val="E09A2B"/>
            </a:solidFill>
            <a:prstDash val="solid"/>
          </a:ln>
        </p:spPr>
        <p:txBody>
          <a:bodyPr/>
          <a:lstStyle/>
          <a:p>
            <a:endParaRPr/>
          </a:p>
        </p:txBody>
      </p:sp>
      <p:sp>
        <p:nvSpPr>
          <p:cNvPr id="10" name="Text 8"/>
          <p:cNvSpPr txBox="1"/>
          <p:nvPr/>
        </p:nvSpPr>
        <p:spPr>
          <a:xfrm>
            <a:off x="4672584" y="265176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4672584" y="3108960"/>
            <a:ext cx="3017520" cy="5486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The model never touches SQL</a:t>
            </a:r>
            <a:endParaRPr lang="en-US" sz="1500" dirty="0"/>
          </a:p>
        </p:txBody>
      </p:sp>
      <p:sp>
        <p:nvSpPr>
          <p:cNvPr id="12" name="Text 10"/>
          <p:cNvSpPr txBox="1"/>
          <p:nvPr/>
        </p:nvSpPr>
        <p:spPr>
          <a:xfrm>
            <a:off x="4672584" y="3611880"/>
            <a:ext cx="3063240" cy="731520"/>
          </a:xfrm>
          <a:prstGeom prst="rect">
            <a:avLst/>
          </a:prstGeom>
          <a:noFill/>
          <a:ln/>
        </p:spPr>
        <p:txBody>
          <a:bodyPr wrap="square" lIns="0" tIns="0" rIns="0" bIns="0" rtlCol="0" anchor="ctr"/>
          <a:lstStyle/>
          <a:p>
            <a:pPr marL="0" indent="0">
              <a:lnSpc>
                <a:spcPts val="1600"/>
              </a:lnSpc>
              <a:buNone/>
            </a:pPr>
            <a:r>
              <a:rPr lang="en-US" sz="1200" dirty="0">
                <a:solidFill>
                  <a:srgbClr val="AEBECC"/>
                </a:solidFill>
                <a:latin typeface="Calibri" pitchFamily="34" charset="0"/>
                <a:ea typeface="Calibri" pitchFamily="34" charset="-122"/>
                <a:cs typeface="Calibri" pitchFamily="34" charset="-120"/>
              </a:rPr>
              <a:t>Fixed parameterised tools keep the row-level boundary in code, and every refusal is an explicit sentence.</a:t>
            </a:r>
            <a:endParaRPr lang="en-US" sz="1200" dirty="0"/>
          </a:p>
        </p:txBody>
      </p:sp>
      <p:sp>
        <p:nvSpPr>
          <p:cNvPr id="13" name="Shape 11"/>
          <p:cNvSpPr/>
          <p:nvPr/>
        </p:nvSpPr>
        <p:spPr>
          <a:xfrm>
            <a:off x="8156448" y="2423160"/>
            <a:ext cx="3566160" cy="2011680"/>
          </a:xfrm>
          <a:prstGeom prst="roundRect">
            <a:avLst>
              <a:gd name="adj" fmla="val 2727"/>
            </a:avLst>
          </a:prstGeom>
          <a:solidFill>
            <a:srgbClr val="1D3145"/>
          </a:solidFill>
          <a:ln w="12700">
            <a:solidFill>
              <a:srgbClr val="2C4359"/>
            </a:solidFill>
            <a:prstDash val="solid"/>
          </a:ln>
        </p:spPr>
        <p:txBody>
          <a:bodyPr/>
          <a:lstStyle/>
          <a:p>
            <a:endParaRPr/>
          </a:p>
        </p:txBody>
      </p:sp>
      <p:sp>
        <p:nvSpPr>
          <p:cNvPr id="14" name="Shape 12"/>
          <p:cNvSpPr/>
          <p:nvPr/>
        </p:nvSpPr>
        <p:spPr>
          <a:xfrm>
            <a:off x="8430768" y="2651760"/>
            <a:ext cx="347472" cy="347472"/>
          </a:xfrm>
          <a:prstGeom prst="ellipse">
            <a:avLst/>
          </a:prstGeom>
          <a:solidFill>
            <a:srgbClr val="E09A2B"/>
          </a:solidFill>
          <a:ln w="12700">
            <a:solidFill>
              <a:srgbClr val="E09A2B"/>
            </a:solidFill>
            <a:prstDash val="solid"/>
          </a:ln>
        </p:spPr>
        <p:txBody>
          <a:bodyPr/>
          <a:lstStyle/>
          <a:p>
            <a:endParaRPr/>
          </a:p>
        </p:txBody>
      </p:sp>
      <p:sp>
        <p:nvSpPr>
          <p:cNvPr id="15" name="Text 13"/>
          <p:cNvSpPr txBox="1"/>
          <p:nvPr/>
        </p:nvSpPr>
        <p:spPr>
          <a:xfrm>
            <a:off x="8430768" y="265176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4"/>
          <p:cNvSpPr txBox="1"/>
          <p:nvPr/>
        </p:nvSpPr>
        <p:spPr>
          <a:xfrm>
            <a:off x="8430768" y="3108960"/>
            <a:ext cx="3017520" cy="5486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We measured, then fixed</a:t>
            </a:r>
            <a:endParaRPr lang="en-US" sz="1500" dirty="0"/>
          </a:p>
        </p:txBody>
      </p:sp>
      <p:sp>
        <p:nvSpPr>
          <p:cNvPr id="17" name="Text 15"/>
          <p:cNvSpPr txBox="1"/>
          <p:nvPr/>
        </p:nvSpPr>
        <p:spPr>
          <a:xfrm>
            <a:off x="8430768" y="3611880"/>
            <a:ext cx="3063240" cy="731520"/>
          </a:xfrm>
          <a:prstGeom prst="rect">
            <a:avLst/>
          </a:prstGeom>
          <a:noFill/>
          <a:ln/>
        </p:spPr>
        <p:txBody>
          <a:bodyPr wrap="square" lIns="0" tIns="0" rIns="0" bIns="0" rtlCol="0" anchor="ctr"/>
          <a:lstStyle/>
          <a:p>
            <a:pPr marL="0" indent="0">
              <a:lnSpc>
                <a:spcPts val="1600"/>
              </a:lnSpc>
              <a:buNone/>
            </a:pPr>
            <a:r>
              <a:rPr lang="en-US" sz="1200" dirty="0">
                <a:solidFill>
                  <a:srgbClr val="AEBECC"/>
                </a:solidFill>
                <a:latin typeface="Calibri" pitchFamily="34" charset="0"/>
                <a:ea typeface="Calibri" pitchFamily="34" charset="-122"/>
                <a:cs typeface="Calibri" pitchFamily="34" charset="-120"/>
              </a:rPr>
              <a:t>Repeating each routing six times exposed a failure a single run would have hidden. 36 / 36 after the fix.</a:t>
            </a:r>
            <a:endParaRPr lang="en-US" sz="1200" dirty="0"/>
          </a:p>
        </p:txBody>
      </p:sp>
      <p:sp>
        <p:nvSpPr>
          <p:cNvPr id="18" name="Text 16"/>
          <p:cNvSpPr txBox="1"/>
          <p:nvPr/>
        </p:nvSpPr>
        <p:spPr>
          <a:xfrm>
            <a:off x="640080" y="4892040"/>
            <a:ext cx="10908792" cy="457200"/>
          </a:xfrm>
          <a:prstGeom prst="rect">
            <a:avLst/>
          </a:prstGeom>
          <a:noFill/>
          <a:ln/>
        </p:spPr>
        <p:txBody>
          <a:bodyPr wrap="square" lIns="0" tIns="0" rIns="0" bIns="0" rtlCol="0" anchor="ctr"/>
          <a:lstStyle/>
          <a:p>
            <a:pPr marL="0" indent="0">
              <a:buNone/>
            </a:pPr>
            <a:r>
              <a:rPr lang="en-US" sz="2000" b="1" dirty="0">
                <a:solidFill>
                  <a:srgbClr val="E09A2B"/>
                </a:solidFill>
                <a:latin typeface="Arial" pitchFamily="34" charset="0"/>
                <a:ea typeface="Arial" pitchFamily="34" charset="-122"/>
                <a:cs typeface="Arial" pitchFamily="34" charset="-120"/>
              </a:rPr>
              <a:t>Thank you. Questions?</a:t>
            </a:r>
            <a:endParaRPr lang="en-US" sz="2000" dirty="0"/>
          </a:p>
        </p:txBody>
      </p:sp>
      <p:sp>
        <p:nvSpPr>
          <p:cNvPr id="19" name="Text 17"/>
          <p:cNvSpPr txBox="1"/>
          <p:nvPr/>
        </p:nvSpPr>
        <p:spPr>
          <a:xfrm>
            <a:off x="640080" y="5394960"/>
            <a:ext cx="10908792" cy="320040"/>
          </a:xfrm>
          <a:prstGeom prst="rect">
            <a:avLst/>
          </a:prstGeom>
          <a:noFill/>
          <a:ln/>
        </p:spPr>
        <p:txBody>
          <a:bodyPr wrap="square" lIns="0" tIns="0" rIns="0" bIns="0" rtlCol="0" anchor="ctr"/>
          <a:lstStyle/>
          <a:p>
            <a:pPr marL="0" indent="0">
              <a:buNone/>
            </a:pPr>
            <a:r>
              <a:rPr lang="en-US" sz="1250" dirty="0">
                <a:solidFill>
                  <a:srgbClr val="8FA0AF"/>
                </a:solidFill>
                <a:latin typeface="Calibri" pitchFamily="34" charset="0"/>
                <a:ea typeface="Calibri" pitchFamily="34" charset="-122"/>
                <a:cs typeface="Calibri" pitchFamily="34" charset="-120"/>
              </a:rPr>
              <a:t>Project Q2  ·  System and Device Programming  ·  Politecnico di Torino / AROL S.p.A.</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4418</Words>
  <Application>Microsoft Macintosh PowerPoint</Application>
  <PresentationFormat>Widescreen</PresentationFormat>
  <Paragraphs>378</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AROL Customer Platform - Project Q2</dc:title>
  <dc:subject>PptxGenJS Presentation</dc:subject>
  <dc:creator>Project Q2 team</dc:creator>
  <cp:lastModifiedBy>Turkmen  Emir</cp:lastModifiedBy>
  <cp:revision>3</cp:revision>
  <dcterms:created xsi:type="dcterms:W3CDTF">2026-08-27T13:16:38Z</dcterms:created>
  <dcterms:modified xsi:type="dcterms:W3CDTF">2026-09-06T13:01:18Z</dcterms:modified>
</cp:coreProperties>
</file>